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4262B"/>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4262B"/>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4262B"/>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4262B"/>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4262B"/>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4262B"/>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4262B"/>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4262B"/>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4262B"/>
        </a:solidFill>
        <a:effectLst/>
        <a:uFillTx/>
        <a:latin typeface="+mj-lt"/>
        <a:ea typeface="+mj-ea"/>
        <a:cs typeface="+mj-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14262B"/>
        </a:fontRef>
        <a:srgbClr val="14262B"/>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ED1"/>
          </a:solidFill>
        </a:fill>
      </a:tcStyle>
    </a:wholeTbl>
    <a:band2H>
      <a:tcTxStyle b="def" i="def"/>
      <a:tcStyle>
        <a:tcBdr/>
        <a:fill>
          <a:solidFill>
            <a:srgbClr val="E6E8E9"/>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14262B"/>
        </a:fontRef>
        <a:srgbClr val="14262B"/>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CDED8"/>
          </a:solidFill>
        </a:fill>
      </a:tcStyle>
    </a:wholeTbl>
    <a:band2H>
      <a:tcTxStyle b="def" i="def"/>
      <a:tcStyle>
        <a:tcBdr/>
        <a:fill>
          <a:solidFill>
            <a:srgbClr val="E7EFEC"/>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14262B"/>
        </a:fontRef>
        <a:srgbClr val="14262B"/>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DE6E9"/>
          </a:solidFill>
        </a:fill>
      </a:tcStyle>
    </a:wholeTbl>
    <a:band2H>
      <a:tcTxStyle b="def" i="def"/>
      <a:tcStyle>
        <a:tcBdr/>
        <a:fill>
          <a:solidFill>
            <a:srgbClr val="EFF3F4"/>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14262B"/>
        </a:fontRef>
        <a:srgbClr val="14262B"/>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7E7E7"/>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14262B"/>
        </a:fontRef>
        <a:srgbClr val="14262B"/>
      </a:tcTxStyle>
      <a:tcStyle>
        <a:tcBdr>
          <a:left>
            <a:ln w="12700" cap="flat">
              <a:noFill/>
              <a:miter lim="400000"/>
            </a:ln>
          </a:left>
          <a:right>
            <a:ln w="12700" cap="flat">
              <a:noFill/>
              <a:miter lim="400000"/>
            </a:ln>
          </a:right>
          <a:top>
            <a:ln w="50800" cap="flat">
              <a:solidFill>
                <a:srgbClr val="14262B"/>
              </a:solidFill>
              <a:prstDash val="solid"/>
              <a:round/>
            </a:ln>
          </a:top>
          <a:bottom>
            <a:ln w="25400" cap="flat">
              <a:solidFill>
                <a:srgbClr val="14262B"/>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14262B"/>
              </a:solidFill>
              <a:prstDash val="solid"/>
              <a:round/>
            </a:ln>
          </a:top>
          <a:bottom>
            <a:ln w="25400" cap="flat">
              <a:solidFill>
                <a:srgbClr val="14262B"/>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14262B"/>
        </a:fontRef>
        <a:srgbClr val="14262B"/>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BCB"/>
          </a:solidFill>
        </a:fill>
      </a:tcStyle>
    </a:wholeTbl>
    <a:band2H>
      <a:tcTxStyle b="def" i="def"/>
      <a:tcStyle>
        <a:tcBdr/>
        <a:fill>
          <a:solidFill>
            <a:srgbClr val="E7E7E7"/>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14262B"/>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14262B"/>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14262B"/>
          </a:solidFill>
        </a:fill>
      </a:tcStyle>
    </a:firstRow>
  </a:tblStyle>
  <a:tblStyle styleId="{2708684C-4D16-4618-839F-0558EEFCDFE6}" styleName="">
    <a:tblBg/>
    <a:wholeTbl>
      <a:tcTxStyle b="off" i="off">
        <a:fontRef idx="major">
          <a:srgbClr val="14262B"/>
        </a:fontRef>
        <a:srgbClr val="14262B"/>
      </a:tcTxStyle>
      <a:tcStyle>
        <a:tcBdr>
          <a:left>
            <a:ln w="12700" cap="flat">
              <a:solidFill>
                <a:srgbClr val="14262B"/>
              </a:solidFill>
              <a:prstDash val="solid"/>
              <a:round/>
            </a:ln>
          </a:left>
          <a:right>
            <a:ln w="12700" cap="flat">
              <a:solidFill>
                <a:srgbClr val="14262B"/>
              </a:solidFill>
              <a:prstDash val="solid"/>
              <a:round/>
            </a:ln>
          </a:right>
          <a:top>
            <a:ln w="12700" cap="flat">
              <a:solidFill>
                <a:srgbClr val="14262B"/>
              </a:solidFill>
              <a:prstDash val="solid"/>
              <a:round/>
            </a:ln>
          </a:top>
          <a:bottom>
            <a:ln w="12700" cap="flat">
              <a:solidFill>
                <a:srgbClr val="14262B"/>
              </a:solidFill>
              <a:prstDash val="solid"/>
              <a:round/>
            </a:ln>
          </a:bottom>
          <a:insideH>
            <a:ln w="12700" cap="flat">
              <a:solidFill>
                <a:srgbClr val="14262B"/>
              </a:solidFill>
              <a:prstDash val="solid"/>
              <a:round/>
            </a:ln>
          </a:insideH>
          <a:insideV>
            <a:ln w="12700" cap="flat">
              <a:solidFill>
                <a:srgbClr val="14262B"/>
              </a:solidFill>
              <a:prstDash val="solid"/>
              <a:round/>
            </a:ln>
          </a:insideV>
        </a:tcBdr>
        <a:fill>
          <a:solidFill>
            <a:srgbClr val="14262B">
              <a:alpha val="20000"/>
            </a:srgbClr>
          </a:solidFill>
        </a:fill>
      </a:tcStyle>
    </a:wholeTbl>
    <a:band2H>
      <a:tcTxStyle b="def" i="def"/>
      <a:tcStyle>
        <a:tcBdr/>
        <a:fill>
          <a:solidFill>
            <a:srgbClr val="FFFFFF"/>
          </a:solidFill>
        </a:fill>
      </a:tcStyle>
    </a:band2H>
    <a:firstCol>
      <a:tcTxStyle b="on" i="off">
        <a:fontRef idx="major">
          <a:srgbClr val="14262B"/>
        </a:fontRef>
        <a:srgbClr val="14262B"/>
      </a:tcTxStyle>
      <a:tcStyle>
        <a:tcBdr>
          <a:left>
            <a:ln w="12700" cap="flat">
              <a:solidFill>
                <a:srgbClr val="14262B"/>
              </a:solidFill>
              <a:prstDash val="solid"/>
              <a:round/>
            </a:ln>
          </a:left>
          <a:right>
            <a:ln w="12700" cap="flat">
              <a:solidFill>
                <a:srgbClr val="14262B"/>
              </a:solidFill>
              <a:prstDash val="solid"/>
              <a:round/>
            </a:ln>
          </a:right>
          <a:top>
            <a:ln w="12700" cap="flat">
              <a:solidFill>
                <a:srgbClr val="14262B"/>
              </a:solidFill>
              <a:prstDash val="solid"/>
              <a:round/>
            </a:ln>
          </a:top>
          <a:bottom>
            <a:ln w="12700" cap="flat">
              <a:solidFill>
                <a:srgbClr val="14262B"/>
              </a:solidFill>
              <a:prstDash val="solid"/>
              <a:round/>
            </a:ln>
          </a:bottom>
          <a:insideH>
            <a:ln w="12700" cap="flat">
              <a:solidFill>
                <a:srgbClr val="14262B"/>
              </a:solidFill>
              <a:prstDash val="solid"/>
              <a:round/>
            </a:ln>
          </a:insideH>
          <a:insideV>
            <a:ln w="12700" cap="flat">
              <a:solidFill>
                <a:srgbClr val="14262B"/>
              </a:solidFill>
              <a:prstDash val="solid"/>
              <a:round/>
            </a:ln>
          </a:insideV>
        </a:tcBdr>
        <a:fill>
          <a:solidFill>
            <a:srgbClr val="14262B">
              <a:alpha val="20000"/>
            </a:srgbClr>
          </a:solidFill>
        </a:fill>
      </a:tcStyle>
    </a:firstCol>
    <a:lastRow>
      <a:tcTxStyle b="on" i="off">
        <a:fontRef idx="major">
          <a:srgbClr val="14262B"/>
        </a:fontRef>
        <a:srgbClr val="14262B"/>
      </a:tcTxStyle>
      <a:tcStyle>
        <a:tcBdr>
          <a:left>
            <a:ln w="12700" cap="flat">
              <a:solidFill>
                <a:srgbClr val="14262B"/>
              </a:solidFill>
              <a:prstDash val="solid"/>
              <a:round/>
            </a:ln>
          </a:left>
          <a:right>
            <a:ln w="12700" cap="flat">
              <a:solidFill>
                <a:srgbClr val="14262B"/>
              </a:solidFill>
              <a:prstDash val="solid"/>
              <a:round/>
            </a:ln>
          </a:right>
          <a:top>
            <a:ln w="50800" cap="flat">
              <a:solidFill>
                <a:srgbClr val="14262B"/>
              </a:solidFill>
              <a:prstDash val="solid"/>
              <a:round/>
            </a:ln>
          </a:top>
          <a:bottom>
            <a:ln w="12700" cap="flat">
              <a:solidFill>
                <a:srgbClr val="14262B"/>
              </a:solidFill>
              <a:prstDash val="solid"/>
              <a:round/>
            </a:ln>
          </a:bottom>
          <a:insideH>
            <a:ln w="12700" cap="flat">
              <a:solidFill>
                <a:srgbClr val="14262B"/>
              </a:solidFill>
              <a:prstDash val="solid"/>
              <a:round/>
            </a:ln>
          </a:insideH>
          <a:insideV>
            <a:ln w="12700" cap="flat">
              <a:solidFill>
                <a:srgbClr val="14262B"/>
              </a:solidFill>
              <a:prstDash val="solid"/>
              <a:round/>
            </a:ln>
          </a:insideV>
        </a:tcBdr>
        <a:fill>
          <a:noFill/>
        </a:fill>
      </a:tcStyle>
    </a:lastRow>
    <a:firstRow>
      <a:tcTxStyle b="on" i="off">
        <a:fontRef idx="major">
          <a:srgbClr val="14262B"/>
        </a:fontRef>
        <a:srgbClr val="14262B"/>
      </a:tcTxStyle>
      <a:tcStyle>
        <a:tcBdr>
          <a:left>
            <a:ln w="12700" cap="flat">
              <a:solidFill>
                <a:srgbClr val="14262B"/>
              </a:solidFill>
              <a:prstDash val="solid"/>
              <a:round/>
            </a:ln>
          </a:left>
          <a:right>
            <a:ln w="12700" cap="flat">
              <a:solidFill>
                <a:srgbClr val="14262B"/>
              </a:solidFill>
              <a:prstDash val="solid"/>
              <a:round/>
            </a:ln>
          </a:right>
          <a:top>
            <a:ln w="12700" cap="flat">
              <a:solidFill>
                <a:srgbClr val="14262B"/>
              </a:solidFill>
              <a:prstDash val="solid"/>
              <a:round/>
            </a:ln>
          </a:top>
          <a:bottom>
            <a:ln w="25400" cap="flat">
              <a:solidFill>
                <a:srgbClr val="14262B"/>
              </a:solidFill>
              <a:prstDash val="solid"/>
              <a:round/>
            </a:ln>
          </a:bottom>
          <a:insideH>
            <a:ln w="12700" cap="flat">
              <a:solidFill>
                <a:srgbClr val="14262B"/>
              </a:solidFill>
              <a:prstDash val="solid"/>
              <a:round/>
            </a:ln>
          </a:insideH>
          <a:insideV>
            <a:ln w="12700" cap="flat">
              <a:solidFill>
                <a:srgbClr val="14262B"/>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32" name="Shape 32"/>
          <p:cNvSpPr/>
          <p:nvPr>
            <p:ph type="sldImg"/>
          </p:nvPr>
        </p:nvSpPr>
        <p:spPr>
          <a:xfrm>
            <a:off x="1143000" y="685800"/>
            <a:ext cx="4572000" cy="3429000"/>
          </a:xfrm>
          <a:prstGeom prst="rect">
            <a:avLst/>
          </a:prstGeom>
        </p:spPr>
        <p:txBody>
          <a:bodyPr/>
          <a:lstStyle/>
          <a:p>
            <a:pPr/>
          </a:p>
        </p:txBody>
      </p:sp>
      <p:sp>
        <p:nvSpPr>
          <p:cNvPr id="33" name="Shape 33"/>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solidFill>
          <a:srgbClr val="14262B"/>
        </a:solidFill>
        <a:latin typeface="+mj-lt"/>
        <a:ea typeface="+mj-ea"/>
        <a:cs typeface="+mj-cs"/>
        <a:sym typeface="Calibri"/>
      </a:defRPr>
    </a:lvl1pPr>
    <a:lvl2pPr indent="228600" latinLnBrk="0">
      <a:defRPr sz="1200">
        <a:solidFill>
          <a:srgbClr val="14262B"/>
        </a:solidFill>
        <a:latin typeface="+mj-lt"/>
        <a:ea typeface="+mj-ea"/>
        <a:cs typeface="+mj-cs"/>
        <a:sym typeface="Calibri"/>
      </a:defRPr>
    </a:lvl2pPr>
    <a:lvl3pPr indent="457200" latinLnBrk="0">
      <a:defRPr sz="1200">
        <a:solidFill>
          <a:srgbClr val="14262B"/>
        </a:solidFill>
        <a:latin typeface="+mj-lt"/>
        <a:ea typeface="+mj-ea"/>
        <a:cs typeface="+mj-cs"/>
        <a:sym typeface="Calibri"/>
      </a:defRPr>
    </a:lvl3pPr>
    <a:lvl4pPr indent="685800" latinLnBrk="0">
      <a:defRPr sz="1200">
        <a:solidFill>
          <a:srgbClr val="14262B"/>
        </a:solidFill>
        <a:latin typeface="+mj-lt"/>
        <a:ea typeface="+mj-ea"/>
        <a:cs typeface="+mj-cs"/>
        <a:sym typeface="Calibri"/>
      </a:defRPr>
    </a:lvl4pPr>
    <a:lvl5pPr indent="914400" latinLnBrk="0">
      <a:defRPr sz="1200">
        <a:solidFill>
          <a:srgbClr val="14262B"/>
        </a:solidFill>
        <a:latin typeface="+mj-lt"/>
        <a:ea typeface="+mj-ea"/>
        <a:cs typeface="+mj-cs"/>
        <a:sym typeface="Calibri"/>
      </a:defRPr>
    </a:lvl5pPr>
    <a:lvl6pPr indent="1143000" latinLnBrk="0">
      <a:defRPr sz="1200">
        <a:solidFill>
          <a:srgbClr val="14262B"/>
        </a:solidFill>
        <a:latin typeface="+mj-lt"/>
        <a:ea typeface="+mj-ea"/>
        <a:cs typeface="+mj-cs"/>
        <a:sym typeface="Calibri"/>
      </a:defRPr>
    </a:lvl6pPr>
    <a:lvl7pPr indent="1371600" latinLnBrk="0">
      <a:defRPr sz="1200">
        <a:solidFill>
          <a:srgbClr val="14262B"/>
        </a:solidFill>
        <a:latin typeface="+mj-lt"/>
        <a:ea typeface="+mj-ea"/>
        <a:cs typeface="+mj-cs"/>
        <a:sym typeface="Calibri"/>
      </a:defRPr>
    </a:lvl7pPr>
    <a:lvl8pPr indent="1600200" latinLnBrk="0">
      <a:defRPr sz="1200">
        <a:solidFill>
          <a:srgbClr val="14262B"/>
        </a:solidFill>
        <a:latin typeface="+mj-lt"/>
        <a:ea typeface="+mj-ea"/>
        <a:cs typeface="+mj-cs"/>
        <a:sym typeface="Calibri"/>
      </a:defRPr>
    </a:lvl8pPr>
    <a:lvl9pPr indent="1828800" latinLnBrk="0">
      <a:defRPr sz="1200">
        <a:solidFill>
          <a:srgbClr val="14262B"/>
        </a:solidFill>
        <a:latin typeface="+mj-lt"/>
        <a:ea typeface="+mj-ea"/>
        <a:cs typeface="+mj-cs"/>
        <a:sym typeface="Calibri"/>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8" name="Shape 38"/>
          <p:cNvSpPr/>
          <p:nvPr>
            <p:ph type="sldImg"/>
          </p:nvPr>
        </p:nvSpPr>
        <p:spPr>
          <a:prstGeom prst="rect">
            <a:avLst/>
          </a:prstGeom>
        </p:spPr>
        <p:txBody>
          <a:bodyPr/>
          <a:lstStyle/>
          <a:p>
            <a:pPr/>
          </a:p>
        </p:txBody>
      </p:sp>
      <p:sp>
        <p:nvSpPr>
          <p:cNvPr id="39" name="Shape 39"/>
          <p:cNvSpPr/>
          <p:nvPr>
            <p:ph type="body" sz="quarter" idx="1"/>
          </p:nvPr>
        </p:nvSpPr>
        <p:spPr>
          <a:prstGeom prst="rect">
            <a:avLst/>
          </a:prstGeom>
        </p:spPr>
        <p:txBody>
          <a:bodyPr/>
          <a:lstStyle/>
          <a:p>
            <a:pPr/>
            <a:r>
              <a:t>≈ 0:30. Se présenter, annoncer le plan en une phrase : le problème, la donnée, ce que montre l'exploration, comment j'ai construit et évalué les modèles, ce qui pèse dans les prédictions.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0" name="Shape 80"/>
          <p:cNvSpPr/>
          <p:nvPr>
            <p:ph type="sldImg"/>
          </p:nvPr>
        </p:nvSpPr>
        <p:spPr>
          <a:prstGeom prst="rect">
            <a:avLst/>
          </a:prstGeom>
        </p:spPr>
        <p:txBody>
          <a:bodyPr/>
          <a:lstStyle/>
          <a:p>
            <a:pPr/>
          </a:p>
        </p:txBody>
      </p:sp>
      <p:sp>
        <p:nvSpPr>
          <p:cNvPr id="81" name="Shape 81"/>
          <p:cNvSpPr/>
          <p:nvPr>
            <p:ph type="body" sz="quarter" idx="1"/>
          </p:nvPr>
        </p:nvSpPr>
        <p:spPr>
          <a:prstGeom prst="rect">
            <a:avLst/>
          </a:prstGeom>
        </p:spPr>
        <p:txBody>
          <a:bodyPr/>
          <a:lstStyle/>
          <a:p>
            <a:pPr/>
            <a:r>
              <a:t>≈ 0:15. Annoncer le plan en une phrase : le problème, la donnée, ce que montre l'exploration, comment les modèles ont été construits et évalués, ce qui pèse dans les prédictions. Les trois attendus de l'énoncé (exploration, tests de modèles, facteurs d'influence) correspondent aux parties 3, 4-5 et 5.</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6" name="Shape 106"/>
          <p:cNvSpPr/>
          <p:nvPr>
            <p:ph type="sldImg"/>
          </p:nvPr>
        </p:nvSpPr>
        <p:spPr>
          <a:prstGeom prst="rect">
            <a:avLst/>
          </a:prstGeom>
        </p:spPr>
        <p:txBody>
          <a:bodyPr/>
          <a:lstStyle/>
          <a:p>
            <a:pPr/>
          </a:p>
        </p:txBody>
      </p:sp>
      <p:sp>
        <p:nvSpPr>
          <p:cNvPr id="107" name="Shape 107"/>
          <p:cNvSpPr/>
          <p:nvPr>
            <p:ph type="body" sz="quarter" idx="1"/>
          </p:nvPr>
        </p:nvSpPr>
        <p:spPr>
          <a:prstGeom prst="rect">
            <a:avLst/>
          </a:prstGeom>
        </p:spPr>
        <p:txBody>
          <a:bodyPr/>
          <a:lstStyle/>
          <a:p>
            <a:pPr/>
            <a:r>
              <a:t>≈ 1:00. Audience non spécialiste : partir de la décision métier, pas de la technique. Une phrase sur chaque carte. Les trois attendus du chef de projet (Douglas) : une courte analyse exploratoire, des tests de modèles supervisés, les facteurs qui pèsent le plus dans le modèle retenu. Le plan de la présentation suit cet ordre. L'énoncé cite aussi la situation géographique parmi les données structurelles : la latitude et la longitude ne sont pas dans les variables du modèle : testées en annexe, sans gain mesurable.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6" name="Shape 136"/>
          <p:cNvSpPr/>
          <p:nvPr>
            <p:ph type="sldImg"/>
          </p:nvPr>
        </p:nvSpPr>
        <p:spPr>
          <a:prstGeom prst="rect">
            <a:avLst/>
          </a:prstGeom>
        </p:spPr>
        <p:txBody>
          <a:bodyPr/>
          <a:lstStyle/>
          <a:p>
            <a:pPr/>
          </a:p>
        </p:txBody>
      </p:sp>
      <p:sp>
        <p:nvSpPr>
          <p:cNvPr id="137" name="Shape 137"/>
          <p:cNvSpPr/>
          <p:nvPr>
            <p:ph type="body" sz="quarter" idx="1"/>
          </p:nvPr>
        </p:nvSpPr>
        <p:spPr>
          <a:prstGeom prst="rect">
            <a:avLst/>
          </a:prstGeom>
        </p:spPr>
        <p:txBody>
          <a:bodyPr/>
          <a:lstStyle/>
          <a:p>
            <a:pPr/>
            <a:r>
              <a:t>≈ 1:00. Insister sur le pourquoi de chaque filtre. Chiffres issus du notebook (cellules 43 à 49). Le filtre Outlier / ComplianceStatus est maintenant appliqué (1 581 → 1 564). Le filtre de périmètre suit le champ BuildingType de la ville : deux lignes dont l'usage principal est « Multifamily Housing » (index 644, NonResidential ; index 1300, Campus multi-usages) restent dans le jeu, soit 0,13 %. Les retirer décalerait légèrement tous les résultats (le découpage change avec le nombre de lignes). Phrase pour le jury : « J'ai suivi la classification de la ville ; deux lignes sont ambiguës, je les ai conservées et signalées. »</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0" name="Shape 180"/>
          <p:cNvSpPr/>
          <p:nvPr>
            <p:ph type="sldImg"/>
          </p:nvPr>
        </p:nvSpPr>
        <p:spPr>
          <a:prstGeom prst="rect">
            <a:avLst/>
          </a:prstGeom>
        </p:spPr>
        <p:txBody>
          <a:bodyPr/>
          <a:lstStyle/>
          <a:p>
            <a:pPr/>
          </a:p>
        </p:txBody>
      </p:sp>
      <p:sp>
        <p:nvSpPr>
          <p:cNvPr id="181" name="Shape 181"/>
          <p:cNvSpPr/>
          <p:nvPr>
            <p:ph type="body" sz="quarter" idx="1"/>
          </p:nvPr>
        </p:nvSpPr>
        <p:spPr>
          <a:prstGeom prst="rect">
            <a:avLst/>
          </a:prstGeom>
        </p:spPr>
        <p:txBody>
          <a:bodyPr/>
          <a:lstStyle/>
          <a:p>
            <a:pPr/>
            <a:r>
              <a:t>≈ 1:30. Présenter les familles, pas les 46 variables. Le point clé : les colonnes d'énergie mesurée (SiteEUI, Electricity, NaturalGas…) donneraient la réponse au modèle, c'est de la fuite de données. Source : tableau de décisions du notebook (cellule 34). Le tableau complet peut aller en annexe.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1" name="Shape 191"/>
          <p:cNvSpPr/>
          <p:nvPr>
            <p:ph type="sldImg"/>
          </p:nvPr>
        </p:nvSpPr>
        <p:spPr>
          <a:prstGeom prst="rect">
            <a:avLst/>
          </a:prstGeom>
        </p:spPr>
        <p:txBody>
          <a:bodyPr/>
          <a:lstStyle/>
          <a:p>
            <a:pPr/>
          </a:p>
        </p:txBody>
      </p:sp>
      <p:sp>
        <p:nvSpPr>
          <p:cNvPr id="192" name="Shape 192"/>
          <p:cNvSpPr/>
          <p:nvPr>
            <p:ph type="body" sz="quarter" idx="1"/>
          </p:nvPr>
        </p:nvSpPr>
        <p:spPr>
          <a:prstGeom prst="rect">
            <a:avLst/>
          </a:prstGeom>
        </p:spPr>
        <p:txBody>
          <a:bodyPr/>
          <a:lstStyle/>
          <a:p>
            <a:pPr/>
            <a:r>
              <a:t>≈ 1:30. Gauche : valeurs brutes (kBtu), droite : log10. Justifier le log : distribution très asymétrique, erreurs relatives plus parlantes. Les émissions de CO₂ ont la même forme (annexe). Chiffres du jeu final (1 564 bâtiments) : consommation médiane 2,56 M kBtu, minimum 57 000, maximum 448 M ; émissions médianes 49,6 tonnes d'équivalent CO₂ (unité du dictionnaire de données de la ville), minimum 0,4, maximum 16 871. La moyenne (7,9 M kBtu ; 178 t) est très supérieure à la médiane : signe d'une distribution fortement asymétrique.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1" name="Shape 201"/>
          <p:cNvSpPr/>
          <p:nvPr>
            <p:ph type="sldImg"/>
          </p:nvPr>
        </p:nvSpPr>
        <p:spPr>
          <a:prstGeom prst="rect">
            <a:avLst/>
          </a:prstGeom>
        </p:spPr>
        <p:txBody>
          <a:bodyPr/>
          <a:lstStyle/>
          <a:p>
            <a:pPr/>
          </a:p>
        </p:txBody>
      </p:sp>
      <p:sp>
        <p:nvSpPr>
          <p:cNvPr id="202" name="Shape 202"/>
          <p:cNvSpPr/>
          <p:nvPr>
            <p:ph type="body" sz="quarter" idx="1"/>
          </p:nvPr>
        </p:nvSpPr>
        <p:spPr>
          <a:prstGeom prst="rect">
            <a:avLst/>
          </a:prstGeom>
        </p:spPr>
        <p:txBody>
          <a:bodyPr/>
          <a:lstStyle/>
          <a:p>
            <a:pPr/>
            <a:r>
              <a:t>≈ 1:00. Graphique en échelle logarithmique sur les deux axes, bâtiments hors des six grands usages en gris. Lecture : la relation est croissante et le nuage est large, d'où le besoin d'autres variables. Mentionner PropertyGFABuilding(s) retiré car quasi redondant avec la surface totale.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1" name="Shape 211"/>
          <p:cNvSpPr/>
          <p:nvPr>
            <p:ph type="sldImg"/>
          </p:nvPr>
        </p:nvSpPr>
        <p:spPr>
          <a:prstGeom prst="rect">
            <a:avLst/>
          </a:prstGeom>
        </p:spPr>
        <p:txBody>
          <a:bodyPr/>
          <a:lstStyle/>
          <a:p>
            <a:pPr/>
          </a:p>
        </p:txBody>
      </p:sp>
      <p:sp>
        <p:nvSpPr>
          <p:cNvPr id="212" name="Shape 212"/>
          <p:cNvSpPr/>
          <p:nvPr>
            <p:ph type="body" sz="quarter" idx="1"/>
          </p:nvPr>
        </p:nvSpPr>
        <p:spPr>
          <a:prstGeom prst="rect">
            <a:avLst/>
          </a:prstGeom>
        </p:spPr>
        <p:txBody>
          <a:bodyPr/>
          <a:lstStyle/>
          <a:p>
            <a:pPr/>
            <a:r>
              <a:t>≈ 1:00. Boîtes à moustaches triées par médiane, échelle logarithmique. Attention : certains usages ont très peu de bâtiments (Office, Low-Rise Multifamily avec 2 lignes, Supermarket), leurs boîtes sont peu fiables ; ajouter l'effectif dans les étiquettes serait plus honnête. Âge : voir l'annexe. L'écart de médianes entre usages va de 0,5 M à environ 140 M kBtu (facteur 280), contre un facteur 4 environ entre décennies de construction. Mentionner brièvement la différence mono / multi-usage si la consigne d'exploration le demande.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9" name="Shape 229"/>
          <p:cNvSpPr/>
          <p:nvPr>
            <p:ph type="sldImg"/>
          </p:nvPr>
        </p:nvSpPr>
        <p:spPr>
          <a:prstGeom prst="rect">
            <a:avLst/>
          </a:prstGeom>
        </p:spPr>
        <p:txBody>
          <a:bodyPr/>
          <a:lstStyle/>
          <a:p>
            <a:pPr/>
          </a:p>
        </p:txBody>
      </p:sp>
      <p:sp>
        <p:nvSpPr>
          <p:cNvPr id="230" name="Shape 230"/>
          <p:cNvSpPr/>
          <p:nvPr>
            <p:ph type="body" sz="quarter" idx="1"/>
          </p:nvPr>
        </p:nvSpPr>
        <p:spPr>
          <a:prstGeom prst="rect">
            <a:avLst/>
          </a:prstGeom>
        </p:spPr>
        <p:txBody>
          <a:bodyPr/>
          <a:lstStyle/>
          <a:p>
            <a:pPr/>
            <a:r>
              <a:t>≈ 1:30. La consigne demande de citer les hypothèses de modélisation : c'est cette slide. Ne pas tout lire, insister sur la fuite de données et le log.</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8" name="Shape 258"/>
          <p:cNvSpPr/>
          <p:nvPr>
            <p:ph type="sldImg"/>
          </p:nvPr>
        </p:nvSpPr>
        <p:spPr>
          <a:prstGeom prst="rect">
            <a:avLst/>
          </a:prstGeom>
        </p:spPr>
        <p:txBody>
          <a:bodyPr/>
          <a:lstStyle/>
          <a:p>
            <a:pPr/>
          </a:p>
        </p:txBody>
      </p:sp>
      <p:sp>
        <p:nvSpPr>
          <p:cNvPr id="259" name="Shape 259"/>
          <p:cNvSpPr/>
          <p:nvPr>
            <p:ph type="body" sz="quarter" idx="1"/>
          </p:nvPr>
        </p:nvSpPr>
        <p:spPr>
          <a:prstGeom prst="rect">
            <a:avLst/>
          </a:prstGeom>
        </p:spPr>
        <p:txBody>
          <a:bodyPr/>
          <a:lstStyle/>
          <a:p>
            <a:pPr/>
            <a:r>
              <a:t>≈ 1:00. Présenter un ou deux exemples par famille (consigne). Feature engineering : BuildingAge, NumberofUseTypes, GFAbyFloor. Les parts d'énergie (ProportionSteam/NaturalGas/Electricity) ont été retirées de X : elles étaient calculées à partir de la cible. Décompte : 5 variables numériques + 18 colonnes d'encodage binaire + GFAbyFloor = 24.</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1" name="Shape 291"/>
          <p:cNvSpPr/>
          <p:nvPr>
            <p:ph type="sldImg"/>
          </p:nvPr>
        </p:nvSpPr>
        <p:spPr>
          <a:prstGeom prst="rect">
            <a:avLst/>
          </a:prstGeom>
        </p:spPr>
        <p:txBody>
          <a:bodyPr/>
          <a:lstStyle/>
          <a:p>
            <a:pPr/>
          </a:p>
        </p:txBody>
      </p:sp>
      <p:sp>
        <p:nvSpPr>
          <p:cNvPr id="292" name="Shape 292"/>
          <p:cNvSpPr/>
          <p:nvPr>
            <p:ph type="body" sz="quarter" idx="1"/>
          </p:nvPr>
        </p:nvSpPr>
        <p:spPr>
          <a:prstGeom prst="rect">
            <a:avLst/>
          </a:prstGeom>
        </p:spPr>
        <p:txBody>
          <a:bodyPr/>
          <a:lstStyle/>
          <a:p>
            <a:pPr/>
            <a:r>
              <a:t>≈ 1:00. Le découpage est KFold(shuffle=True, random_state=213) : le modèle naïf obtient un R² proche de 0, comme attendu. StandardScaler appliqué pour le SVR : le R² passe de 0,59 à 0,65 (énergie) et de 0,35 à 0,47 (CO₂). Sans effet sur la régression linéaire classique et sur la forêt.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3" name="Shape 303"/>
          <p:cNvSpPr/>
          <p:nvPr>
            <p:ph type="sldImg"/>
          </p:nvPr>
        </p:nvSpPr>
        <p:spPr>
          <a:prstGeom prst="rect">
            <a:avLst/>
          </a:prstGeom>
        </p:spPr>
        <p:txBody>
          <a:bodyPr/>
          <a:lstStyle/>
          <a:p>
            <a:pPr/>
          </a:p>
        </p:txBody>
      </p:sp>
      <p:sp>
        <p:nvSpPr>
          <p:cNvPr id="304" name="Shape 304"/>
          <p:cNvSpPr/>
          <p:nvPr>
            <p:ph type="body" sz="quarter" idx="1"/>
          </p:nvPr>
        </p:nvSpPr>
        <p:spPr>
          <a:prstGeom prst="rect">
            <a:avLst/>
          </a:prstGeom>
        </p:spPr>
        <p:txBody>
          <a:bodyPr/>
          <a:lstStyle/>
          <a:p>
            <a:pPr/>
            <a:r>
              <a:t>≈ 2:00. Moyennes sur 5 plis mélangés (graine fixée), cibles en log10. Erreur typique = 10 puissance l'erreur absolue moyenne en log10 (ex. 0,234 donne ×1,71) : c'est une approximation, la formuler comme « en ordre de grandeur ». Avec mise à l'échelle, le SVR (0,65 / 0,47) est à égalité avec la forêt (0,67 / 0,46) compte tenu des écarts-types (0,03 à 0,06), et il sur-apprend bien moins (R² train 0,79 / 0,65 contre 0,95 / 0,92). Choix de la forêt pour l'optimisation : meilleur R² en test et importance des variables directement disponible.  Les RMSE existent dans le notebook : à mettre en annexe.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4" name="Shape 314"/>
          <p:cNvSpPr/>
          <p:nvPr>
            <p:ph type="sldImg"/>
          </p:nvPr>
        </p:nvSpPr>
        <p:spPr>
          <a:prstGeom prst="rect">
            <a:avLst/>
          </a:prstGeom>
        </p:spPr>
        <p:txBody>
          <a:bodyPr/>
          <a:lstStyle/>
          <a:p>
            <a:pPr/>
          </a:p>
        </p:txBody>
      </p:sp>
      <p:sp>
        <p:nvSpPr>
          <p:cNvPr id="315" name="Shape 315"/>
          <p:cNvSpPr/>
          <p:nvPr>
            <p:ph type="body" sz="quarter" idx="1"/>
          </p:nvPr>
        </p:nvSpPr>
        <p:spPr>
          <a:prstGeom prst="rect">
            <a:avLst/>
          </a:prstGeom>
        </p:spPr>
        <p:txBody>
          <a:bodyPr/>
          <a:lstStyle/>
          <a:p>
            <a:pPr/>
            <a:r>
              <a:t>≈ 1:30. Chiffres du jeu de test mis de côté avant la recherche (graine 213 partout) : consommation R² 0,683 par défaut, 0,691 réglé (MAE 0,2260 puis 0,2262) ; CO₂ R² 0,485 puis 0,505 (MAE 0,3451 puis 0,3460). Le réglage améliore un peu le R² mais pas l'erreur absolue. Écarts-types de la validation croisée de la forêt : 0,045 (consommation) et 0,062 (CO₂) : le gain est dans le bruit. Réglages retenus : consommation {max_depth 10, max_features 10, min_samples_leaf 2, 200 arbres} ; CO₂ {max_depth 10, max_features 5, min_samples_leaf 1, 200 arbres}. Erreur typique = 10 puissance la MAE en log10.</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2" name="Shape 322"/>
          <p:cNvSpPr/>
          <p:nvPr>
            <p:ph type="sldImg"/>
          </p:nvPr>
        </p:nvSpPr>
        <p:spPr>
          <a:prstGeom prst="rect">
            <a:avLst/>
          </a:prstGeom>
        </p:spPr>
        <p:txBody>
          <a:bodyPr/>
          <a:lstStyle/>
          <a:p>
            <a:pPr/>
          </a:p>
        </p:txBody>
      </p:sp>
      <p:sp>
        <p:nvSpPr>
          <p:cNvPr id="323" name="Shape 323"/>
          <p:cNvSpPr/>
          <p:nvPr>
            <p:ph type="body" sz="quarter" idx="1"/>
          </p:nvPr>
        </p:nvSpPr>
        <p:spPr>
          <a:prstGeom prst="rect">
            <a:avLst/>
          </a:prstGeom>
        </p:spPr>
        <p:txBody>
          <a:bodyPr/>
          <a:lstStyle/>
          <a:p>
            <a:pPr/>
            <a:r>
              <a:t>≈ 1:30. Graphique natif construit à partir de l'importance par permutation sur le jeu de test (graine 213), regroupée par famille. Consommation : surface totale 0,688 ; usage principal (somme des 6 colonnes binaires) 0,158 ; étages 0,057 ; surface par étage 0,017 ; âge 0,009. Émissions : 0,323 ; 0,248 ; 0,058 ; 0,054 ; 0,009. Ce sont des pertes de score quand on mélange la variable, pas des parts du total. Additionner des colonnes binaires corrélées est une approximation, et les colonnes d'encodage ne s'interprètent pas une à une. Selon les exécutions (avant fixation de la graine), le poids relatif de l'usage pour les émissions variait de 60 % à 80 % de celui de la surface : le classement tient, pas la valeur exacte. L'explication par la source d'énergie est une hypothèse, pas un résultat du notebook.</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2" name="Shape 342"/>
          <p:cNvSpPr/>
          <p:nvPr>
            <p:ph type="sldImg"/>
          </p:nvPr>
        </p:nvSpPr>
        <p:spPr>
          <a:prstGeom prst="rect">
            <a:avLst/>
          </a:prstGeom>
        </p:spPr>
        <p:txBody>
          <a:bodyPr/>
          <a:lstStyle/>
          <a:p>
            <a:pPr/>
          </a:p>
        </p:txBody>
      </p:sp>
      <p:sp>
        <p:nvSpPr>
          <p:cNvPr id="343" name="Shape 343"/>
          <p:cNvSpPr/>
          <p:nvPr>
            <p:ph type="body" sz="quarter" idx="1"/>
          </p:nvPr>
        </p:nvSpPr>
        <p:spPr>
          <a:prstGeom prst="rect">
            <a:avLst/>
          </a:prstGeom>
        </p:spPr>
        <p:txBody>
          <a:bodyPr/>
          <a:lstStyle/>
          <a:p>
            <a:pPr/>
            <a:r>
              <a:t>≈ 1:00. Conclure sur le sens métier. Chiffres issus du notebook corrigé (sans fuite de données). Garder 3 à 5 minutes pour les questions.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9" name="Shape 349"/>
          <p:cNvSpPr/>
          <p:nvPr>
            <p:ph type="sldImg"/>
          </p:nvPr>
        </p:nvSpPr>
        <p:spPr>
          <a:prstGeom prst="rect">
            <a:avLst/>
          </a:prstGeom>
        </p:spPr>
        <p:txBody>
          <a:bodyPr/>
          <a:lstStyle/>
          <a:p>
            <a:pPr/>
          </a:p>
        </p:txBody>
      </p:sp>
      <p:sp>
        <p:nvSpPr>
          <p:cNvPr id="350" name="Shape 350"/>
          <p:cNvSpPr/>
          <p:nvPr>
            <p:ph type="body" sz="quarter" idx="1"/>
          </p:nvPr>
        </p:nvSpPr>
        <p:spPr>
          <a:prstGeom prst="rect">
            <a:avLst/>
          </a:prstGeom>
        </p:spPr>
        <p:txBody>
          <a:bodyPr/>
          <a:lstStyle/>
          <a:p>
            <a:pPr/>
            <a:r>
              <a:t>Slide d'annexe, à garder en réserve pour les questions.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7" name="Shape 357"/>
          <p:cNvSpPr/>
          <p:nvPr>
            <p:ph type="sldImg"/>
          </p:nvPr>
        </p:nvSpPr>
        <p:spPr>
          <a:prstGeom prst="rect">
            <a:avLst/>
          </a:prstGeom>
        </p:spPr>
        <p:txBody>
          <a:bodyPr/>
          <a:lstStyle/>
          <a:p>
            <a:pPr/>
          </a:p>
        </p:txBody>
      </p:sp>
      <p:sp>
        <p:nvSpPr>
          <p:cNvPr id="358" name="Shape 358"/>
          <p:cNvSpPr/>
          <p:nvPr>
            <p:ph type="body" sz="quarter" idx="1"/>
          </p:nvPr>
        </p:nvSpPr>
        <p:spPr>
          <a:prstGeom prst="rect">
            <a:avLst/>
          </a:prstGeom>
        </p:spPr>
        <p:txBody>
          <a:bodyPr/>
          <a:lstStyle/>
          <a:p>
            <a:pPr/>
            <a:r>
              <a:t>Annexe, à garder en réserve. Médianes lues sur les graphiques : consommation environ 2 M kBtu pour 1900 à 1970, 2,8 M pour 1980, environ 6 M pour 1990 à 2010 ; surface environ 40 000 à 45 000 ft² avant 1970, 58 000 en 1980, 80 000 en 1990, environ 105 000 pour 2000 et 2010. La surface médiane est multipliée par 2 à 2,5, la consommation par 3 : la taille explique l'essentiel mais peut-être pas tout (intensité énergétique, types d'usage). Importances par permutation sur le jeu de test : BuildingAge 0,009, PropertyGFATotal 0,688 pour la consommation.</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4" name="Shape 364"/>
          <p:cNvSpPr/>
          <p:nvPr>
            <p:ph type="sldImg"/>
          </p:nvPr>
        </p:nvSpPr>
        <p:spPr>
          <a:prstGeom prst="rect">
            <a:avLst/>
          </a:prstGeom>
        </p:spPr>
        <p:txBody>
          <a:bodyPr/>
          <a:lstStyle/>
          <a:p>
            <a:pPr/>
          </a:p>
        </p:txBody>
      </p:sp>
      <p:sp>
        <p:nvSpPr>
          <p:cNvPr id="365" name="Shape 365"/>
          <p:cNvSpPr/>
          <p:nvPr>
            <p:ph type="body" sz="quarter" idx="1"/>
          </p:nvPr>
        </p:nvSpPr>
        <p:spPr>
          <a:prstGeom prst="rect">
            <a:avLst/>
          </a:prstGeom>
        </p:spPr>
        <p:txBody>
          <a:bodyPr/>
          <a:lstStyle/>
          <a:p>
            <a:pPr/>
            <a:r>
              <a:t>Annexe, à garder en réserve. Matrice de Pearson sur le DataFrame encodé. Elle justifie le retrait de YearBuilt (−1 avec BuildingAge), PropertyGFABuilding(s) (0,98) et LargestPropertyUseTypeGFA (0,95) par rapport à PropertyGFATotal. GFAbyFloor n'est pas redondante (0,44 avec la surface totale, −0,09 avec les étages). Corrélations avec SiteEnergyUse en log10 : surface totale 0,62, étages 0,43, nombre d'usages 0,23, âge −0,25. Pearson ne mesure que le lien linéaire : des liens modérés n'excluent pas un effet non linéaire, que les arbres captent mieux.</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74" name="Shape 374"/>
          <p:cNvSpPr/>
          <p:nvPr>
            <p:ph type="sldImg"/>
          </p:nvPr>
        </p:nvSpPr>
        <p:spPr>
          <a:prstGeom prst="rect">
            <a:avLst/>
          </a:prstGeom>
        </p:spPr>
        <p:txBody>
          <a:bodyPr/>
          <a:lstStyle/>
          <a:p>
            <a:pPr/>
          </a:p>
        </p:txBody>
      </p:sp>
      <p:sp>
        <p:nvSpPr>
          <p:cNvPr id="375" name="Shape 375"/>
          <p:cNvSpPr/>
          <p:nvPr>
            <p:ph type="body" sz="quarter" idx="1"/>
          </p:nvPr>
        </p:nvSpPr>
        <p:spPr>
          <a:prstGeom prst="rect">
            <a:avLst/>
          </a:prstGeom>
        </p:spPr>
        <p:txBody>
          <a:bodyPr/>
          <a:lstStyle/>
          <a:p>
            <a:pPr/>
            <a:r>
              <a:t>Annexe, à garder en réserve : l'énoncé cite la situation géographique parmi les données structurelles. Test : même forêt par défaut (graine 213), avec et sans Latitude et Longitude, sur le même découpage et sur les mêmes plis. Consommation : écart moyen −0,002 ± 0,007 (pli par pli). CO₂ : +0,011 ± 0,012, soit environ +0,01 de R² mais MAE inchangée. Avec 5 plis non indépendants, l'incertitude sur la moyenne est de l'ordre de l'écart-type divisé par √5, donc un effet très faible sur le CO₂ n'est pas exclu. Risque si le gain avait été net : bâtiments voisins (même site) à la fois dans l'entraînement et le test, ce qui gonfle le score.</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RE_SOMBRE">
    <p:bg>
      <p:bgPr>
        <a:solidFill>
          <a:schemeClr val="accent1"/>
        </a:solidFill>
      </p:bgPr>
    </p:bg>
    <p:spTree>
      <p:nvGrpSpPr>
        <p:cNvPr id="1" name=""/>
        <p:cNvGrpSpPr/>
        <p:nvPr/>
      </p:nvGrpSpPr>
      <p:grpSpPr>
        <a:xfrm>
          <a:off x="0" y="0"/>
          <a:ext cx="0" cy="0"/>
          <a:chOff x="0" y="0"/>
          <a:chExt cx="0" cy="0"/>
        </a:xfrm>
      </p:grpSpPr>
      <p:sp>
        <p:nvSpPr>
          <p:cNvPr id="18"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U">
    <p:spTree>
      <p:nvGrpSpPr>
        <p:cNvPr id="1" name=""/>
        <p:cNvGrpSpPr/>
        <p:nvPr/>
      </p:nvGrpSpPr>
      <p:grpSpPr>
        <a:xfrm>
          <a:off x="0" y="0"/>
          <a:ext cx="0" cy="0"/>
          <a:chOff x="0" y="0"/>
          <a:chExt cx="0" cy="0"/>
        </a:xfrm>
      </p:grpSpPr>
      <p:sp>
        <p:nvSpPr>
          <p:cNvPr id="25" name="Text 0"/>
          <p:cNvSpPr txBox="1"/>
          <p:nvPr/>
        </p:nvSpPr>
        <p:spPr>
          <a:xfrm>
            <a:off x="548640" y="6515144"/>
            <a:ext cx="731520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chemeClr val="accent4"/>
                </a:solidFill>
              </a:defRPr>
            </a:lvl1pPr>
          </a:lstStyle>
          <a:p>
            <a:pPr/>
            <a:r>
              <a:t>Projet 3 · Énergie et émissions des bâtiments de Seattle</a:t>
            </a:r>
          </a:p>
        </p:txBody>
      </p:sp>
      <p:sp>
        <p:nvSpPr>
          <p:cNvPr id="26" name="Numéro de diapositive"/>
          <p:cNvSpPr txBox="1"/>
          <p:nvPr>
            <p:ph type="sldNum" sz="quarter" idx="2"/>
          </p:nvPr>
        </p:nvSpPr>
        <p:spPr>
          <a:xfrm>
            <a:off x="11380003" y="6446520"/>
            <a:ext cx="232878" cy="22851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exte du titre"/>
          <p:cNvSpPr txBox="1"/>
          <p:nvPr>
            <p:ph type="title"/>
          </p:nvPr>
        </p:nvSpPr>
        <p:spPr>
          <a:xfrm>
            <a:off x="609600" y="92074"/>
            <a:ext cx="10972800" cy="1508127"/>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Texte du titre</a:t>
            </a:r>
          </a:p>
        </p:txBody>
      </p:sp>
      <p:sp>
        <p:nvSpPr>
          <p:cNvPr id="3" name="Texte niveau 1…"/>
          <p:cNvSpPr txBox="1"/>
          <p:nvPr>
            <p:ph type="body" idx="1"/>
          </p:nvPr>
        </p:nvSpPr>
        <p:spPr>
          <a:xfrm>
            <a:off x="609600" y="1600200"/>
            <a:ext cx="10972800" cy="525780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Texte niveau 1</a:t>
            </a:r>
          </a:p>
          <a:p>
            <a:pPr lvl="1"/>
            <a:r>
              <a:t>Texte niveau 2</a:t>
            </a:r>
          </a:p>
          <a:p>
            <a:pPr lvl="2"/>
            <a:r>
              <a:t>Texte niveau 3</a:t>
            </a:r>
          </a:p>
          <a:p>
            <a:pPr lvl="3"/>
            <a:r>
              <a:t>Texte niveau 4</a:t>
            </a:r>
          </a:p>
          <a:p>
            <a:pPr lvl="4"/>
            <a:r>
              <a:t>Texte niveau 5</a:t>
            </a:r>
          </a:p>
        </p:txBody>
      </p:sp>
      <p:sp>
        <p:nvSpPr>
          <p:cNvPr id="4" name="Numéro de diapositive"/>
          <p:cNvSpPr txBox="1"/>
          <p:nvPr>
            <p:ph type="sldNum" sz="quarter" idx="2"/>
          </p:nvPr>
        </p:nvSpPr>
        <p:spPr>
          <a:xfrm>
            <a:off x="5892800" y="6356350"/>
            <a:ext cx="2844800" cy="368300"/>
          </a:xfrm>
          <a:prstGeom prst="rect">
            <a:avLst/>
          </a:prstGeom>
          <a:ln w="12700">
            <a:miter lim="400000"/>
          </a:ln>
        </p:spPr>
        <p:txBody>
          <a:bodyPr wrap="none" lIns="45719" rIns="45719">
            <a:spAutoFit/>
          </a:bodyPr>
          <a:lstStyle>
            <a:lvl1pPr algn="r">
              <a:defRPr sz="1000">
                <a:solidFill>
                  <a:schemeClr val="accent4"/>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14262B"/>
          </a:solidFill>
          <a:uFillTx/>
          <a:latin typeface="Cambria"/>
          <a:ea typeface="Cambria"/>
          <a:cs typeface="Cambria"/>
          <a:sym typeface="Cambria"/>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14262B"/>
          </a:solidFill>
          <a:uFillTx/>
          <a:latin typeface="Cambria"/>
          <a:ea typeface="Cambria"/>
          <a:cs typeface="Cambria"/>
          <a:sym typeface="Cambria"/>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14262B"/>
          </a:solidFill>
          <a:uFillTx/>
          <a:latin typeface="Cambria"/>
          <a:ea typeface="Cambria"/>
          <a:cs typeface="Cambria"/>
          <a:sym typeface="Cambria"/>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14262B"/>
          </a:solidFill>
          <a:uFillTx/>
          <a:latin typeface="Cambria"/>
          <a:ea typeface="Cambria"/>
          <a:cs typeface="Cambria"/>
          <a:sym typeface="Cambria"/>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14262B"/>
          </a:solidFill>
          <a:uFillTx/>
          <a:latin typeface="Cambria"/>
          <a:ea typeface="Cambria"/>
          <a:cs typeface="Cambria"/>
          <a:sym typeface="Cambria"/>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14262B"/>
          </a:solidFill>
          <a:uFillTx/>
          <a:latin typeface="Cambria"/>
          <a:ea typeface="Cambria"/>
          <a:cs typeface="Cambria"/>
          <a:sym typeface="Cambria"/>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14262B"/>
          </a:solidFill>
          <a:uFillTx/>
          <a:latin typeface="Cambria"/>
          <a:ea typeface="Cambria"/>
          <a:cs typeface="Cambria"/>
          <a:sym typeface="Cambria"/>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14262B"/>
          </a:solidFill>
          <a:uFillTx/>
          <a:latin typeface="Cambria"/>
          <a:ea typeface="Cambria"/>
          <a:cs typeface="Cambria"/>
          <a:sym typeface="Cambria"/>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14262B"/>
          </a:solidFill>
          <a:uFillTx/>
          <a:latin typeface="Cambria"/>
          <a:ea typeface="Cambria"/>
          <a:cs typeface="Cambria"/>
          <a:sym typeface="Cambria"/>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14262B"/>
          </a:solidFill>
          <a:uFillTx/>
          <a:latin typeface="+mj-lt"/>
          <a:ea typeface="+mj-ea"/>
          <a:cs typeface="+mj-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14262B"/>
          </a:solidFill>
          <a:uFillTx/>
          <a:latin typeface="+mj-lt"/>
          <a:ea typeface="+mj-ea"/>
          <a:cs typeface="+mj-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14262B"/>
          </a:solidFill>
          <a:uFillTx/>
          <a:latin typeface="+mj-lt"/>
          <a:ea typeface="+mj-ea"/>
          <a:cs typeface="+mj-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14262B"/>
          </a:solidFill>
          <a:uFillTx/>
          <a:latin typeface="+mj-lt"/>
          <a:ea typeface="+mj-ea"/>
          <a:cs typeface="+mj-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14262B"/>
          </a:solidFill>
          <a:uFillTx/>
          <a:latin typeface="+mj-lt"/>
          <a:ea typeface="+mj-ea"/>
          <a:cs typeface="+mj-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14262B"/>
          </a:solidFill>
          <a:uFillTx/>
          <a:latin typeface="+mj-lt"/>
          <a:ea typeface="+mj-ea"/>
          <a:cs typeface="+mj-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14262B"/>
          </a:solidFill>
          <a:uFillTx/>
          <a:latin typeface="+mj-lt"/>
          <a:ea typeface="+mj-ea"/>
          <a:cs typeface="+mj-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14262B"/>
          </a:solidFill>
          <a:uFillTx/>
          <a:latin typeface="+mj-lt"/>
          <a:ea typeface="+mj-ea"/>
          <a:cs typeface="+mj-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14262B"/>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7.png"/><Relationship Id="rId4" Type="http://schemas.openxmlformats.org/officeDocument/2006/relationships/image" Target="../media/image8.png"/></Relationships>

</file>

<file path=ppt/slides/_rels/slide18.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9.png"/></Relationships>

</file>

<file path=ppt/slides/_rels/slide19.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 name="Text 0"/>
          <p:cNvSpPr txBox="1"/>
          <p:nvPr/>
        </p:nvSpPr>
        <p:spPr>
          <a:xfrm>
            <a:off x="731519" y="1463039"/>
            <a:ext cx="9601201" cy="1790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4000">
                <a:solidFill>
                  <a:srgbClr val="FFFFFF"/>
                </a:solidFill>
                <a:latin typeface="Cambria"/>
                <a:ea typeface="Cambria"/>
                <a:cs typeface="Cambria"/>
                <a:sym typeface="Cambria"/>
              </a:defRPr>
            </a:lvl1pPr>
          </a:lstStyle>
          <a:p>
            <a:pPr/>
            <a:r>
              <a:t>Prédire la consommation d'énergie et les émissions de CO₂ des bâtiments non résidentiels de Seattle</a:t>
            </a:r>
          </a:p>
        </p:txBody>
      </p:sp>
      <p:sp>
        <p:nvSpPr>
          <p:cNvPr id="36" name="Text 1"/>
          <p:cNvSpPr txBox="1"/>
          <p:nvPr/>
        </p:nvSpPr>
        <p:spPr>
          <a:xfrm>
            <a:off x="731519" y="3944709"/>
            <a:ext cx="9601201" cy="24874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000">
                <a:solidFill>
                  <a:schemeClr val="accent6"/>
                </a:solidFill>
              </a:defRPr>
            </a:lvl1pPr>
          </a:lstStyle>
          <a:p>
            <a:pPr/>
            <a:r>
              <a:t>Soutenance du projet 3 · Modélisation supervisée</a:t>
            </a:r>
          </a:p>
        </p:txBody>
      </p:sp>
      <p:sp>
        <p:nvSpPr>
          <p:cNvPr id="37" name="Text 2"/>
          <p:cNvSpPr txBox="1"/>
          <p:nvPr/>
        </p:nvSpPr>
        <p:spPr>
          <a:xfrm>
            <a:off x="731519" y="5848920"/>
            <a:ext cx="960120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chemeClr val="accent2"/>
                </a:solidFill>
              </a:defRPr>
            </a:lvl1pPr>
          </a:lstStyle>
          <a:p>
            <a:pPr/>
            <a:r>
              <a:t>Kevin Dezaphi · 21 octobre 2026</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1" name="Text 0"/>
          <p:cNvSpPr txBox="1"/>
          <p:nvPr/>
        </p:nvSpPr>
        <p:spPr>
          <a:xfrm>
            <a:off x="548640" y="365759"/>
            <a:ext cx="11091672" cy="9144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defRPr sz="2800">
                <a:solidFill>
                  <a:schemeClr val="accent1"/>
                </a:solidFill>
                <a:latin typeface="Cambria"/>
                <a:ea typeface="Cambria"/>
                <a:cs typeface="Cambria"/>
                <a:sym typeface="Cambria"/>
              </a:defRPr>
            </a:lvl1pPr>
          </a:lstStyle>
          <a:p>
            <a:pPr/>
            <a:r>
              <a:t>Sommaire</a:t>
            </a:r>
          </a:p>
        </p:txBody>
      </p:sp>
      <p:sp>
        <p:nvSpPr>
          <p:cNvPr id="42" name="Shape 1"/>
          <p:cNvSpPr/>
          <p:nvPr/>
        </p:nvSpPr>
        <p:spPr>
          <a:xfrm>
            <a:off x="548640" y="1417319"/>
            <a:ext cx="11091672" cy="603505"/>
          </a:xfrm>
          <a:prstGeom prst="roundRect">
            <a:avLst>
              <a:gd name="adj" fmla="val 12121"/>
            </a:avLst>
          </a:prstGeom>
          <a:solidFill>
            <a:srgbClr val="EEF3F4"/>
          </a:solidFill>
          <a:ln w="6350">
            <a:solidFill>
              <a:srgbClr val="EEF3F4"/>
            </a:solidFill>
          </a:ln>
        </p:spPr>
        <p:txBody>
          <a:bodyPr lIns="45719" rIns="45719"/>
          <a:lstStyle/>
          <a:p>
            <a:pPr/>
          </a:p>
        </p:txBody>
      </p:sp>
      <p:grpSp>
        <p:nvGrpSpPr>
          <p:cNvPr id="45" name="Text 2"/>
          <p:cNvGrpSpPr/>
          <p:nvPr/>
        </p:nvGrpSpPr>
        <p:grpSpPr>
          <a:xfrm>
            <a:off x="731519" y="1481327"/>
            <a:ext cx="475489" cy="475490"/>
            <a:chOff x="0" y="0"/>
            <a:chExt cx="475488" cy="475488"/>
          </a:xfrm>
        </p:grpSpPr>
        <p:sp>
          <p:nvSpPr>
            <p:cNvPr id="43" name="Cercle"/>
            <p:cNvSpPr/>
            <p:nvPr/>
          </p:nvSpPr>
          <p:spPr>
            <a:xfrm>
              <a:off x="-1" y="-1"/>
              <a:ext cx="475490" cy="475490"/>
            </a:xfrm>
            <a:prstGeom prst="ellipse">
              <a:avLst/>
            </a:prstGeom>
            <a:solidFill>
              <a:schemeClr val="accent1"/>
            </a:solidFill>
            <a:ln w="12700" cap="flat">
              <a:noFill/>
              <a:miter lim="400000"/>
            </a:ln>
            <a:effectLst/>
          </p:spPr>
          <p:txBody>
            <a:bodyPr wrap="square" lIns="45719" tIns="45719" rIns="45719" bIns="45719" numCol="1" anchor="ctr">
              <a:noAutofit/>
            </a:bodyPr>
            <a:lstStyle/>
            <a:p>
              <a:pPr algn="ctr"/>
            </a:p>
          </p:txBody>
        </p:sp>
        <p:sp>
          <p:nvSpPr>
            <p:cNvPr id="44" name="1"/>
            <p:cNvSpPr txBox="1"/>
            <p:nvPr/>
          </p:nvSpPr>
          <p:spPr>
            <a:xfrm>
              <a:off x="69633" y="116919"/>
              <a:ext cx="336221" cy="24164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a:solidFill>
                    <a:srgbClr val="FFFFFF"/>
                  </a:solidFill>
                </a:defRPr>
              </a:lvl1pPr>
            </a:lstStyle>
            <a:p>
              <a:pPr/>
              <a:r>
                <a:t>1</a:t>
              </a:r>
            </a:p>
          </p:txBody>
        </p:sp>
      </p:grpSp>
      <p:sp>
        <p:nvSpPr>
          <p:cNvPr id="46" name="Text 3"/>
          <p:cNvSpPr txBox="1"/>
          <p:nvPr/>
        </p:nvSpPr>
        <p:spPr>
          <a:xfrm>
            <a:off x="1463040" y="1594701"/>
            <a:ext cx="8503920" cy="24874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000"/>
            </a:lvl1pPr>
          </a:lstStyle>
          <a:p>
            <a:pPr/>
            <a:r>
              <a:t>Contexte et objectif</a:t>
            </a:r>
          </a:p>
        </p:txBody>
      </p:sp>
      <p:sp>
        <p:nvSpPr>
          <p:cNvPr id="47" name="Text 4"/>
          <p:cNvSpPr txBox="1"/>
          <p:nvPr/>
        </p:nvSpPr>
        <p:spPr>
          <a:xfrm>
            <a:off x="9966959" y="1624392"/>
            <a:ext cx="150876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400">
                <a:solidFill>
                  <a:schemeClr val="accent4"/>
                </a:solidFill>
              </a:defRPr>
            </a:lvl1pPr>
          </a:lstStyle>
          <a:p>
            <a:pPr/>
            <a:r>
              <a:t>diapo 3</a:t>
            </a:r>
          </a:p>
        </p:txBody>
      </p:sp>
      <p:sp>
        <p:nvSpPr>
          <p:cNvPr id="48" name="Shape 5"/>
          <p:cNvSpPr/>
          <p:nvPr/>
        </p:nvSpPr>
        <p:spPr>
          <a:xfrm>
            <a:off x="548640" y="2148839"/>
            <a:ext cx="11091672" cy="603505"/>
          </a:xfrm>
          <a:prstGeom prst="roundRect">
            <a:avLst>
              <a:gd name="adj" fmla="val 12121"/>
            </a:avLst>
          </a:prstGeom>
          <a:solidFill>
            <a:srgbClr val="EEF3F4"/>
          </a:solidFill>
          <a:ln w="6350">
            <a:solidFill>
              <a:srgbClr val="EEF3F4"/>
            </a:solidFill>
          </a:ln>
        </p:spPr>
        <p:txBody>
          <a:bodyPr lIns="45719" rIns="45719"/>
          <a:lstStyle/>
          <a:p>
            <a:pPr/>
          </a:p>
        </p:txBody>
      </p:sp>
      <p:grpSp>
        <p:nvGrpSpPr>
          <p:cNvPr id="51" name="Text 6"/>
          <p:cNvGrpSpPr/>
          <p:nvPr/>
        </p:nvGrpSpPr>
        <p:grpSpPr>
          <a:xfrm>
            <a:off x="731519" y="2212848"/>
            <a:ext cx="475489" cy="475489"/>
            <a:chOff x="0" y="0"/>
            <a:chExt cx="475488" cy="475488"/>
          </a:xfrm>
        </p:grpSpPr>
        <p:sp>
          <p:nvSpPr>
            <p:cNvPr id="49" name="Cercle"/>
            <p:cNvSpPr/>
            <p:nvPr/>
          </p:nvSpPr>
          <p:spPr>
            <a:xfrm>
              <a:off x="-1" y="-1"/>
              <a:ext cx="475490" cy="475490"/>
            </a:xfrm>
            <a:prstGeom prst="ellipse">
              <a:avLst/>
            </a:prstGeom>
            <a:solidFill>
              <a:schemeClr val="accent1"/>
            </a:solidFill>
            <a:ln w="12700" cap="flat">
              <a:noFill/>
              <a:miter lim="400000"/>
            </a:ln>
            <a:effectLst/>
          </p:spPr>
          <p:txBody>
            <a:bodyPr wrap="square" lIns="45719" tIns="45719" rIns="45719" bIns="45719" numCol="1" anchor="ctr">
              <a:noAutofit/>
            </a:bodyPr>
            <a:lstStyle/>
            <a:p>
              <a:pPr algn="ctr"/>
            </a:p>
          </p:txBody>
        </p:sp>
        <p:sp>
          <p:nvSpPr>
            <p:cNvPr id="50" name="2"/>
            <p:cNvSpPr txBox="1"/>
            <p:nvPr/>
          </p:nvSpPr>
          <p:spPr>
            <a:xfrm>
              <a:off x="69633" y="116919"/>
              <a:ext cx="336221" cy="24164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a:solidFill>
                    <a:srgbClr val="FFFFFF"/>
                  </a:solidFill>
                </a:defRPr>
              </a:lvl1pPr>
            </a:lstStyle>
            <a:p>
              <a:pPr/>
              <a:r>
                <a:t>2</a:t>
              </a:r>
            </a:p>
          </p:txBody>
        </p:sp>
      </p:grpSp>
      <p:sp>
        <p:nvSpPr>
          <p:cNvPr id="52" name="Text 7"/>
          <p:cNvSpPr txBox="1"/>
          <p:nvPr/>
        </p:nvSpPr>
        <p:spPr>
          <a:xfrm>
            <a:off x="1463040" y="2326221"/>
            <a:ext cx="8503920" cy="24874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000"/>
            </a:lvl1pPr>
          </a:lstStyle>
          <a:p>
            <a:pPr/>
            <a:r>
              <a:t>La donnée : de 3 376 relevés à 1 564 bâtiments</a:t>
            </a:r>
          </a:p>
        </p:txBody>
      </p:sp>
      <p:sp>
        <p:nvSpPr>
          <p:cNvPr id="53" name="Text 8"/>
          <p:cNvSpPr txBox="1"/>
          <p:nvPr/>
        </p:nvSpPr>
        <p:spPr>
          <a:xfrm>
            <a:off x="9966959" y="2355912"/>
            <a:ext cx="150876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400">
                <a:solidFill>
                  <a:schemeClr val="accent4"/>
                </a:solidFill>
              </a:defRPr>
            </a:lvl1pPr>
          </a:lstStyle>
          <a:p>
            <a:pPr/>
            <a:r>
              <a:t>diapo 4</a:t>
            </a:r>
          </a:p>
        </p:txBody>
      </p:sp>
      <p:sp>
        <p:nvSpPr>
          <p:cNvPr id="54" name="Shape 9"/>
          <p:cNvSpPr/>
          <p:nvPr/>
        </p:nvSpPr>
        <p:spPr>
          <a:xfrm>
            <a:off x="548640" y="2880360"/>
            <a:ext cx="11091672" cy="603505"/>
          </a:xfrm>
          <a:prstGeom prst="roundRect">
            <a:avLst>
              <a:gd name="adj" fmla="val 12121"/>
            </a:avLst>
          </a:prstGeom>
          <a:solidFill>
            <a:srgbClr val="EEF3F4"/>
          </a:solidFill>
          <a:ln w="6350">
            <a:solidFill>
              <a:srgbClr val="EEF3F4"/>
            </a:solidFill>
          </a:ln>
        </p:spPr>
        <p:txBody>
          <a:bodyPr lIns="45719" rIns="45719"/>
          <a:lstStyle/>
          <a:p>
            <a:pPr/>
          </a:p>
        </p:txBody>
      </p:sp>
      <p:grpSp>
        <p:nvGrpSpPr>
          <p:cNvPr id="57" name="Text 10"/>
          <p:cNvGrpSpPr/>
          <p:nvPr/>
        </p:nvGrpSpPr>
        <p:grpSpPr>
          <a:xfrm>
            <a:off x="731519" y="2944367"/>
            <a:ext cx="475489" cy="475489"/>
            <a:chOff x="0" y="0"/>
            <a:chExt cx="475488" cy="475488"/>
          </a:xfrm>
        </p:grpSpPr>
        <p:sp>
          <p:nvSpPr>
            <p:cNvPr id="55" name="Cercle"/>
            <p:cNvSpPr/>
            <p:nvPr/>
          </p:nvSpPr>
          <p:spPr>
            <a:xfrm>
              <a:off x="-1" y="-1"/>
              <a:ext cx="475490" cy="475490"/>
            </a:xfrm>
            <a:prstGeom prst="ellipse">
              <a:avLst/>
            </a:prstGeom>
            <a:solidFill>
              <a:schemeClr val="accent1"/>
            </a:solidFill>
            <a:ln w="12700" cap="flat">
              <a:noFill/>
              <a:miter lim="400000"/>
            </a:ln>
            <a:effectLst/>
          </p:spPr>
          <p:txBody>
            <a:bodyPr wrap="square" lIns="45719" tIns="45719" rIns="45719" bIns="45719" numCol="1" anchor="ctr">
              <a:noAutofit/>
            </a:bodyPr>
            <a:lstStyle/>
            <a:p>
              <a:pPr algn="ctr"/>
            </a:p>
          </p:txBody>
        </p:sp>
        <p:sp>
          <p:nvSpPr>
            <p:cNvPr id="56" name="3"/>
            <p:cNvSpPr txBox="1"/>
            <p:nvPr/>
          </p:nvSpPr>
          <p:spPr>
            <a:xfrm>
              <a:off x="69633" y="116919"/>
              <a:ext cx="336221" cy="24164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a:solidFill>
                    <a:srgbClr val="FFFFFF"/>
                  </a:solidFill>
                </a:defRPr>
              </a:lvl1pPr>
            </a:lstStyle>
            <a:p>
              <a:pPr/>
              <a:r>
                <a:t>3</a:t>
              </a:r>
            </a:p>
          </p:txBody>
        </p:sp>
      </p:grpSp>
      <p:sp>
        <p:nvSpPr>
          <p:cNvPr id="58" name="Text 11"/>
          <p:cNvSpPr txBox="1"/>
          <p:nvPr/>
        </p:nvSpPr>
        <p:spPr>
          <a:xfrm>
            <a:off x="1463040" y="3057741"/>
            <a:ext cx="8503920" cy="24874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000"/>
            </a:lvl1pPr>
          </a:lstStyle>
          <a:p>
            <a:pPr/>
            <a:r>
              <a:t>Ce que montre l'exploration</a:t>
            </a:r>
          </a:p>
        </p:txBody>
      </p:sp>
      <p:sp>
        <p:nvSpPr>
          <p:cNvPr id="59" name="Text 12"/>
          <p:cNvSpPr txBox="1"/>
          <p:nvPr/>
        </p:nvSpPr>
        <p:spPr>
          <a:xfrm>
            <a:off x="9966959" y="3087432"/>
            <a:ext cx="150876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400">
                <a:solidFill>
                  <a:schemeClr val="accent4"/>
                </a:solidFill>
              </a:defRPr>
            </a:lvl1pPr>
          </a:lstStyle>
          <a:p>
            <a:pPr/>
            <a:r>
              <a:t>diapo 5 – 8</a:t>
            </a:r>
          </a:p>
        </p:txBody>
      </p:sp>
      <p:sp>
        <p:nvSpPr>
          <p:cNvPr id="60" name="Shape 13"/>
          <p:cNvSpPr/>
          <p:nvPr/>
        </p:nvSpPr>
        <p:spPr>
          <a:xfrm>
            <a:off x="548640" y="3611879"/>
            <a:ext cx="11091672" cy="603505"/>
          </a:xfrm>
          <a:prstGeom prst="roundRect">
            <a:avLst>
              <a:gd name="adj" fmla="val 12121"/>
            </a:avLst>
          </a:prstGeom>
          <a:solidFill>
            <a:srgbClr val="EEF3F4"/>
          </a:solidFill>
          <a:ln w="6350">
            <a:solidFill>
              <a:srgbClr val="EEF3F4"/>
            </a:solidFill>
          </a:ln>
        </p:spPr>
        <p:txBody>
          <a:bodyPr lIns="45719" rIns="45719"/>
          <a:lstStyle/>
          <a:p>
            <a:pPr/>
          </a:p>
        </p:txBody>
      </p:sp>
      <p:grpSp>
        <p:nvGrpSpPr>
          <p:cNvPr id="63" name="Text 14"/>
          <p:cNvGrpSpPr/>
          <p:nvPr/>
        </p:nvGrpSpPr>
        <p:grpSpPr>
          <a:xfrm>
            <a:off x="731519" y="3675888"/>
            <a:ext cx="475489" cy="475489"/>
            <a:chOff x="0" y="0"/>
            <a:chExt cx="475488" cy="475488"/>
          </a:xfrm>
        </p:grpSpPr>
        <p:sp>
          <p:nvSpPr>
            <p:cNvPr id="61" name="Cercle"/>
            <p:cNvSpPr/>
            <p:nvPr/>
          </p:nvSpPr>
          <p:spPr>
            <a:xfrm>
              <a:off x="-1" y="-1"/>
              <a:ext cx="475490" cy="475490"/>
            </a:xfrm>
            <a:prstGeom prst="ellipse">
              <a:avLst/>
            </a:prstGeom>
            <a:solidFill>
              <a:schemeClr val="accent1"/>
            </a:solidFill>
            <a:ln w="12700" cap="flat">
              <a:noFill/>
              <a:miter lim="400000"/>
            </a:ln>
            <a:effectLst/>
          </p:spPr>
          <p:txBody>
            <a:bodyPr wrap="square" lIns="45719" tIns="45719" rIns="45719" bIns="45719" numCol="1" anchor="ctr">
              <a:noAutofit/>
            </a:bodyPr>
            <a:lstStyle/>
            <a:p>
              <a:pPr algn="ctr"/>
            </a:p>
          </p:txBody>
        </p:sp>
        <p:sp>
          <p:nvSpPr>
            <p:cNvPr id="62" name="4"/>
            <p:cNvSpPr txBox="1"/>
            <p:nvPr/>
          </p:nvSpPr>
          <p:spPr>
            <a:xfrm>
              <a:off x="69633" y="116919"/>
              <a:ext cx="336221" cy="24164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a:solidFill>
                    <a:srgbClr val="FFFFFF"/>
                  </a:solidFill>
                </a:defRPr>
              </a:lvl1pPr>
            </a:lstStyle>
            <a:p>
              <a:pPr/>
              <a:r>
                <a:t>4</a:t>
              </a:r>
            </a:p>
          </p:txBody>
        </p:sp>
      </p:grpSp>
      <p:sp>
        <p:nvSpPr>
          <p:cNvPr id="64" name="Text 15"/>
          <p:cNvSpPr txBox="1"/>
          <p:nvPr/>
        </p:nvSpPr>
        <p:spPr>
          <a:xfrm>
            <a:off x="1463040" y="3789261"/>
            <a:ext cx="8503920" cy="24874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000"/>
            </a:lvl1pPr>
          </a:lstStyle>
          <a:p>
            <a:pPr/>
            <a:r>
              <a:t>Préparer les données et évaluer les modèles</a:t>
            </a:r>
          </a:p>
        </p:txBody>
      </p:sp>
      <p:sp>
        <p:nvSpPr>
          <p:cNvPr id="65" name="Text 16"/>
          <p:cNvSpPr txBox="1"/>
          <p:nvPr/>
        </p:nvSpPr>
        <p:spPr>
          <a:xfrm>
            <a:off x="9966959" y="3818952"/>
            <a:ext cx="150876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400">
                <a:solidFill>
                  <a:schemeClr val="accent4"/>
                </a:solidFill>
              </a:defRPr>
            </a:lvl1pPr>
          </a:lstStyle>
          <a:p>
            <a:pPr/>
            <a:r>
              <a:t>diapo 9 – 11</a:t>
            </a:r>
          </a:p>
        </p:txBody>
      </p:sp>
      <p:sp>
        <p:nvSpPr>
          <p:cNvPr id="66" name="Shape 17"/>
          <p:cNvSpPr/>
          <p:nvPr/>
        </p:nvSpPr>
        <p:spPr>
          <a:xfrm>
            <a:off x="548640" y="4343400"/>
            <a:ext cx="11091672" cy="603505"/>
          </a:xfrm>
          <a:prstGeom prst="roundRect">
            <a:avLst>
              <a:gd name="adj" fmla="val 12121"/>
            </a:avLst>
          </a:prstGeom>
          <a:solidFill>
            <a:srgbClr val="EEF3F4"/>
          </a:solidFill>
          <a:ln w="6350">
            <a:solidFill>
              <a:srgbClr val="EEF3F4"/>
            </a:solidFill>
          </a:ln>
        </p:spPr>
        <p:txBody>
          <a:bodyPr lIns="45719" rIns="45719"/>
          <a:lstStyle/>
          <a:p>
            <a:pPr/>
          </a:p>
        </p:txBody>
      </p:sp>
      <p:grpSp>
        <p:nvGrpSpPr>
          <p:cNvPr id="69" name="Text 18"/>
          <p:cNvGrpSpPr/>
          <p:nvPr/>
        </p:nvGrpSpPr>
        <p:grpSpPr>
          <a:xfrm>
            <a:off x="731519" y="4407408"/>
            <a:ext cx="475489" cy="475489"/>
            <a:chOff x="0" y="0"/>
            <a:chExt cx="475488" cy="475488"/>
          </a:xfrm>
        </p:grpSpPr>
        <p:sp>
          <p:nvSpPr>
            <p:cNvPr id="67" name="Cercle"/>
            <p:cNvSpPr/>
            <p:nvPr/>
          </p:nvSpPr>
          <p:spPr>
            <a:xfrm>
              <a:off x="-1" y="-1"/>
              <a:ext cx="475490" cy="475490"/>
            </a:xfrm>
            <a:prstGeom prst="ellipse">
              <a:avLst/>
            </a:prstGeom>
            <a:solidFill>
              <a:schemeClr val="accent1"/>
            </a:solidFill>
            <a:ln w="12700" cap="flat">
              <a:noFill/>
              <a:miter lim="400000"/>
            </a:ln>
            <a:effectLst/>
          </p:spPr>
          <p:txBody>
            <a:bodyPr wrap="square" lIns="45719" tIns="45719" rIns="45719" bIns="45719" numCol="1" anchor="ctr">
              <a:noAutofit/>
            </a:bodyPr>
            <a:lstStyle/>
            <a:p>
              <a:pPr algn="ctr"/>
            </a:p>
          </p:txBody>
        </p:sp>
        <p:sp>
          <p:nvSpPr>
            <p:cNvPr id="68" name="5"/>
            <p:cNvSpPr txBox="1"/>
            <p:nvPr/>
          </p:nvSpPr>
          <p:spPr>
            <a:xfrm>
              <a:off x="69633" y="116919"/>
              <a:ext cx="336221" cy="24164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a:solidFill>
                    <a:srgbClr val="FFFFFF"/>
                  </a:solidFill>
                </a:defRPr>
              </a:lvl1pPr>
            </a:lstStyle>
            <a:p>
              <a:pPr/>
              <a:r>
                <a:t>5</a:t>
              </a:r>
            </a:p>
          </p:txBody>
        </p:sp>
      </p:grpSp>
      <p:sp>
        <p:nvSpPr>
          <p:cNvPr id="70" name="Text 19"/>
          <p:cNvSpPr txBox="1"/>
          <p:nvPr/>
        </p:nvSpPr>
        <p:spPr>
          <a:xfrm>
            <a:off x="1463040" y="4520781"/>
            <a:ext cx="8503920" cy="24874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000"/>
            </a:lvl1pPr>
          </a:lstStyle>
          <a:p>
            <a:pPr/>
            <a:r>
              <a:t>Résultats : comparaison, réglage, facteurs d'influence</a:t>
            </a:r>
          </a:p>
        </p:txBody>
      </p:sp>
      <p:sp>
        <p:nvSpPr>
          <p:cNvPr id="71" name="Text 20"/>
          <p:cNvSpPr txBox="1"/>
          <p:nvPr/>
        </p:nvSpPr>
        <p:spPr>
          <a:xfrm>
            <a:off x="9966959" y="4550472"/>
            <a:ext cx="150876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400">
                <a:solidFill>
                  <a:schemeClr val="accent4"/>
                </a:solidFill>
              </a:defRPr>
            </a:lvl1pPr>
          </a:lstStyle>
          <a:p>
            <a:pPr/>
            <a:r>
              <a:t>diapo 12 – 14</a:t>
            </a:r>
          </a:p>
        </p:txBody>
      </p:sp>
      <p:sp>
        <p:nvSpPr>
          <p:cNvPr id="72" name="Shape 21"/>
          <p:cNvSpPr/>
          <p:nvPr/>
        </p:nvSpPr>
        <p:spPr>
          <a:xfrm>
            <a:off x="548640" y="5074920"/>
            <a:ext cx="11091672" cy="603505"/>
          </a:xfrm>
          <a:prstGeom prst="roundRect">
            <a:avLst>
              <a:gd name="adj" fmla="val 12121"/>
            </a:avLst>
          </a:prstGeom>
          <a:solidFill>
            <a:srgbClr val="EEF3F4"/>
          </a:solidFill>
          <a:ln w="6350">
            <a:solidFill>
              <a:srgbClr val="EEF3F4"/>
            </a:solidFill>
          </a:ln>
        </p:spPr>
        <p:txBody>
          <a:bodyPr lIns="45719" rIns="45719"/>
          <a:lstStyle/>
          <a:p>
            <a:pPr/>
          </a:p>
        </p:txBody>
      </p:sp>
      <p:grpSp>
        <p:nvGrpSpPr>
          <p:cNvPr id="75" name="Text 22"/>
          <p:cNvGrpSpPr/>
          <p:nvPr/>
        </p:nvGrpSpPr>
        <p:grpSpPr>
          <a:xfrm>
            <a:off x="731519" y="5138928"/>
            <a:ext cx="475489" cy="475489"/>
            <a:chOff x="0" y="0"/>
            <a:chExt cx="475488" cy="475488"/>
          </a:xfrm>
        </p:grpSpPr>
        <p:sp>
          <p:nvSpPr>
            <p:cNvPr id="73" name="Cercle"/>
            <p:cNvSpPr/>
            <p:nvPr/>
          </p:nvSpPr>
          <p:spPr>
            <a:xfrm>
              <a:off x="-1" y="-1"/>
              <a:ext cx="475490" cy="475490"/>
            </a:xfrm>
            <a:prstGeom prst="ellipse">
              <a:avLst/>
            </a:prstGeom>
            <a:solidFill>
              <a:schemeClr val="accent1"/>
            </a:solidFill>
            <a:ln w="12700" cap="flat">
              <a:noFill/>
              <a:miter lim="400000"/>
            </a:ln>
            <a:effectLst/>
          </p:spPr>
          <p:txBody>
            <a:bodyPr wrap="square" lIns="45719" tIns="45719" rIns="45719" bIns="45719" numCol="1" anchor="ctr">
              <a:noAutofit/>
            </a:bodyPr>
            <a:lstStyle/>
            <a:p>
              <a:pPr algn="ctr"/>
            </a:p>
          </p:txBody>
        </p:sp>
        <p:sp>
          <p:nvSpPr>
            <p:cNvPr id="74" name="6"/>
            <p:cNvSpPr txBox="1"/>
            <p:nvPr/>
          </p:nvSpPr>
          <p:spPr>
            <a:xfrm>
              <a:off x="69633" y="116919"/>
              <a:ext cx="336221" cy="24164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a:solidFill>
                    <a:srgbClr val="FFFFFF"/>
                  </a:solidFill>
                </a:defRPr>
              </a:lvl1pPr>
            </a:lstStyle>
            <a:p>
              <a:pPr/>
              <a:r>
                <a:t>6</a:t>
              </a:r>
            </a:p>
          </p:txBody>
        </p:sp>
      </p:grpSp>
      <p:sp>
        <p:nvSpPr>
          <p:cNvPr id="76" name="Text 23"/>
          <p:cNvSpPr txBox="1"/>
          <p:nvPr/>
        </p:nvSpPr>
        <p:spPr>
          <a:xfrm>
            <a:off x="1463040" y="5252301"/>
            <a:ext cx="8503920" cy="24874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000"/>
            </a:lvl1pPr>
          </a:lstStyle>
          <a:p>
            <a:pPr/>
            <a:r>
              <a:t>Conclusion</a:t>
            </a:r>
          </a:p>
        </p:txBody>
      </p:sp>
      <p:sp>
        <p:nvSpPr>
          <p:cNvPr id="77" name="Text 24"/>
          <p:cNvSpPr txBox="1"/>
          <p:nvPr/>
        </p:nvSpPr>
        <p:spPr>
          <a:xfrm>
            <a:off x="9966959" y="5281992"/>
            <a:ext cx="150876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400">
                <a:solidFill>
                  <a:schemeClr val="accent4"/>
                </a:solidFill>
              </a:defRPr>
            </a:lvl1pPr>
          </a:lstStyle>
          <a:p>
            <a:pPr/>
            <a:r>
              <a:t>diapo 15</a:t>
            </a:r>
          </a:p>
        </p:txBody>
      </p:sp>
      <p:sp>
        <p:nvSpPr>
          <p:cNvPr id="78" name="Text 25"/>
          <p:cNvSpPr txBox="1"/>
          <p:nvPr/>
        </p:nvSpPr>
        <p:spPr>
          <a:xfrm>
            <a:off x="548640" y="5997378"/>
            <a:ext cx="11091672"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300">
                <a:solidFill>
                  <a:schemeClr val="accent4"/>
                </a:solidFill>
              </a:defRPr>
            </a:lvl1pPr>
          </a:lstStyle>
          <a:p>
            <a:pPr/>
            <a:r>
              <a:t>En annexe : émissions, âge des bâtiments, corrélations, localisation (diapos 16 à 19).</a:t>
            </a:r>
          </a:p>
        </p:txBody>
      </p:sp>
      <p:sp>
        <p:nvSpPr>
          <p:cNvPr id="79" name="Slide Number Placeholder 0"/>
          <p:cNvSpPr txBox="1"/>
          <p:nvPr>
            <p:ph type="sldNum" sz="quarter" idx="4294967295"/>
          </p:nvPr>
        </p:nvSpPr>
        <p:spPr>
          <a:xfrm>
            <a:off x="11444371" y="6446520"/>
            <a:ext cx="168510"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3" name="Text 0"/>
          <p:cNvSpPr txBox="1"/>
          <p:nvPr/>
        </p:nvSpPr>
        <p:spPr>
          <a:xfrm>
            <a:off x="548640" y="365759"/>
            <a:ext cx="11091672" cy="9144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defRPr sz="2800">
                <a:solidFill>
                  <a:schemeClr val="accent1"/>
                </a:solidFill>
                <a:latin typeface="Cambria"/>
                <a:ea typeface="Cambria"/>
                <a:cs typeface="Cambria"/>
                <a:sym typeface="Cambria"/>
              </a:defRPr>
            </a:lvl1pPr>
          </a:lstStyle>
          <a:p>
            <a:pPr/>
            <a:r>
              <a:t>Seattle vise la neutralité carbone en 2050 : il faut estimer la consommation des bâtiments sans tous les mesurer</a:t>
            </a:r>
          </a:p>
        </p:txBody>
      </p:sp>
      <p:sp>
        <p:nvSpPr>
          <p:cNvPr id="84" name="Shape 1"/>
          <p:cNvSpPr/>
          <p:nvPr/>
        </p:nvSpPr>
        <p:spPr>
          <a:xfrm>
            <a:off x="548640" y="1737360"/>
            <a:ext cx="3593592" cy="3017521"/>
          </a:xfrm>
          <a:prstGeom prst="roundRect">
            <a:avLst>
              <a:gd name="adj" fmla="val 2424"/>
            </a:avLst>
          </a:prstGeom>
          <a:solidFill>
            <a:srgbClr val="EEF3F4"/>
          </a:solidFill>
          <a:ln w="6350">
            <a:solidFill>
              <a:srgbClr val="EEF3F4"/>
            </a:solidFill>
          </a:ln>
        </p:spPr>
        <p:txBody>
          <a:bodyPr lIns="45719" rIns="45719"/>
          <a:lstStyle/>
          <a:p>
            <a:pPr/>
          </a:p>
        </p:txBody>
      </p:sp>
      <p:grpSp>
        <p:nvGrpSpPr>
          <p:cNvPr id="87" name="Text 2"/>
          <p:cNvGrpSpPr/>
          <p:nvPr/>
        </p:nvGrpSpPr>
        <p:grpSpPr>
          <a:xfrm>
            <a:off x="777240" y="1920239"/>
            <a:ext cx="548641" cy="548641"/>
            <a:chOff x="0" y="0"/>
            <a:chExt cx="548640" cy="548640"/>
          </a:xfrm>
        </p:grpSpPr>
        <p:sp>
          <p:nvSpPr>
            <p:cNvPr id="85" name="Cercle"/>
            <p:cNvSpPr/>
            <p:nvPr/>
          </p:nvSpPr>
          <p:spPr>
            <a:xfrm>
              <a:off x="-1" y="-1"/>
              <a:ext cx="548642" cy="548642"/>
            </a:xfrm>
            <a:prstGeom prst="ellipse">
              <a:avLst/>
            </a:prstGeom>
            <a:solidFill>
              <a:schemeClr val="accent1"/>
            </a:solidFill>
            <a:ln w="12700" cap="flat">
              <a:noFill/>
              <a:miter lim="400000"/>
            </a:ln>
            <a:effectLst/>
          </p:spPr>
          <p:txBody>
            <a:bodyPr wrap="square" lIns="45719" tIns="45719" rIns="45719" bIns="45719" numCol="1" anchor="ctr">
              <a:noAutofit/>
            </a:bodyPr>
            <a:lstStyle/>
            <a:p>
              <a:pPr algn="ctr">
                <a:defRPr sz="2000"/>
              </a:pPr>
            </a:p>
          </p:txBody>
        </p:sp>
        <p:sp>
          <p:nvSpPr>
            <p:cNvPr id="86" name="1"/>
            <p:cNvSpPr txBox="1"/>
            <p:nvPr/>
          </p:nvSpPr>
          <p:spPr>
            <a:xfrm>
              <a:off x="80345" y="149949"/>
              <a:ext cx="387950" cy="24874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000">
                  <a:solidFill>
                    <a:srgbClr val="FFFFFF"/>
                  </a:solidFill>
                </a:defRPr>
              </a:lvl1pPr>
            </a:lstStyle>
            <a:p>
              <a:pPr/>
              <a:r>
                <a:t>1</a:t>
              </a:r>
            </a:p>
          </p:txBody>
        </p:sp>
      </p:grpSp>
      <p:sp>
        <p:nvSpPr>
          <p:cNvPr id="88" name="Text 3"/>
          <p:cNvSpPr txBox="1"/>
          <p:nvPr/>
        </p:nvSpPr>
        <p:spPr>
          <a:xfrm>
            <a:off x="1463039" y="2070189"/>
            <a:ext cx="2468882" cy="24874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000">
                <a:solidFill>
                  <a:schemeClr val="accent1"/>
                </a:solidFill>
              </a:defRPr>
            </a:lvl1pPr>
          </a:lstStyle>
          <a:p>
            <a:pPr/>
            <a:r>
              <a:t>L'enjeu</a:t>
            </a:r>
          </a:p>
        </p:txBody>
      </p:sp>
      <p:sp>
        <p:nvSpPr>
          <p:cNvPr id="89" name="Text 4"/>
          <p:cNvSpPr txBox="1"/>
          <p:nvPr/>
        </p:nvSpPr>
        <p:spPr>
          <a:xfrm>
            <a:off x="777239" y="2697479"/>
            <a:ext cx="3154682" cy="97115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600"/>
            </a:lvl1pPr>
          </a:lstStyle>
          <a:p>
            <a:pPr/>
            <a:r>
              <a:t>La ville vise la neutralité carbone en 2050. Son équipe suit de près la consommation et les émissions des bâtiments non destinés à l'habitation.</a:t>
            </a:r>
          </a:p>
        </p:txBody>
      </p:sp>
      <p:sp>
        <p:nvSpPr>
          <p:cNvPr id="90" name="Shape 5"/>
          <p:cNvSpPr/>
          <p:nvPr/>
        </p:nvSpPr>
        <p:spPr>
          <a:xfrm>
            <a:off x="4297679" y="1737360"/>
            <a:ext cx="3593593" cy="3017521"/>
          </a:xfrm>
          <a:prstGeom prst="roundRect">
            <a:avLst>
              <a:gd name="adj" fmla="val 2424"/>
            </a:avLst>
          </a:prstGeom>
          <a:solidFill>
            <a:srgbClr val="EEF3F4"/>
          </a:solidFill>
          <a:ln w="6350">
            <a:solidFill>
              <a:srgbClr val="EEF3F4"/>
            </a:solidFill>
          </a:ln>
        </p:spPr>
        <p:txBody>
          <a:bodyPr lIns="45719" rIns="45719"/>
          <a:lstStyle/>
          <a:p>
            <a:pPr/>
          </a:p>
        </p:txBody>
      </p:sp>
      <p:grpSp>
        <p:nvGrpSpPr>
          <p:cNvPr id="93" name="Text 6"/>
          <p:cNvGrpSpPr/>
          <p:nvPr/>
        </p:nvGrpSpPr>
        <p:grpSpPr>
          <a:xfrm>
            <a:off x="4526279" y="1920239"/>
            <a:ext cx="548641" cy="548641"/>
            <a:chOff x="0" y="0"/>
            <a:chExt cx="548640" cy="548640"/>
          </a:xfrm>
        </p:grpSpPr>
        <p:sp>
          <p:nvSpPr>
            <p:cNvPr id="91" name="Cercle"/>
            <p:cNvSpPr/>
            <p:nvPr/>
          </p:nvSpPr>
          <p:spPr>
            <a:xfrm>
              <a:off x="-1" y="-1"/>
              <a:ext cx="548642" cy="548642"/>
            </a:xfrm>
            <a:prstGeom prst="ellipse">
              <a:avLst/>
            </a:prstGeom>
            <a:solidFill>
              <a:schemeClr val="accent1"/>
            </a:solidFill>
            <a:ln w="12700" cap="flat">
              <a:noFill/>
              <a:miter lim="400000"/>
            </a:ln>
            <a:effectLst/>
          </p:spPr>
          <p:txBody>
            <a:bodyPr wrap="square" lIns="45719" tIns="45719" rIns="45719" bIns="45719" numCol="1" anchor="ctr">
              <a:noAutofit/>
            </a:bodyPr>
            <a:lstStyle/>
            <a:p>
              <a:pPr algn="ctr">
                <a:defRPr sz="2000"/>
              </a:pPr>
            </a:p>
          </p:txBody>
        </p:sp>
        <p:sp>
          <p:nvSpPr>
            <p:cNvPr id="92" name="2"/>
            <p:cNvSpPr txBox="1"/>
            <p:nvPr/>
          </p:nvSpPr>
          <p:spPr>
            <a:xfrm>
              <a:off x="80345" y="149949"/>
              <a:ext cx="387950" cy="24874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000">
                  <a:solidFill>
                    <a:srgbClr val="FFFFFF"/>
                  </a:solidFill>
                </a:defRPr>
              </a:lvl1pPr>
            </a:lstStyle>
            <a:p>
              <a:pPr/>
              <a:r>
                <a:t>2</a:t>
              </a:r>
            </a:p>
          </p:txBody>
        </p:sp>
      </p:grpSp>
      <p:sp>
        <p:nvSpPr>
          <p:cNvPr id="94" name="Text 7"/>
          <p:cNvSpPr txBox="1"/>
          <p:nvPr/>
        </p:nvSpPr>
        <p:spPr>
          <a:xfrm>
            <a:off x="5212079" y="2070189"/>
            <a:ext cx="2468881" cy="24874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000">
                <a:solidFill>
                  <a:schemeClr val="accent1"/>
                </a:solidFill>
              </a:defRPr>
            </a:lvl1pPr>
          </a:lstStyle>
          <a:p>
            <a:pPr/>
            <a:r>
              <a:t>Le problème</a:t>
            </a:r>
          </a:p>
        </p:txBody>
      </p:sp>
      <p:sp>
        <p:nvSpPr>
          <p:cNvPr id="95" name="Text 8"/>
          <p:cNvSpPr txBox="1"/>
          <p:nvPr/>
        </p:nvSpPr>
        <p:spPr>
          <a:xfrm>
            <a:off x="4526279" y="2697479"/>
            <a:ext cx="3154681" cy="97115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600"/>
            </a:lvl1pPr>
          </a:lstStyle>
          <a:p>
            <a:pPr/>
            <a:r>
              <a:t>Les agents de la ville ont fait des relevés minutieux en 2016, mais ils sont coûteux : tous les bâtiments ne peuvent pas être mesurés.</a:t>
            </a:r>
          </a:p>
        </p:txBody>
      </p:sp>
      <p:sp>
        <p:nvSpPr>
          <p:cNvPr id="96" name="Shape 9"/>
          <p:cNvSpPr/>
          <p:nvPr/>
        </p:nvSpPr>
        <p:spPr>
          <a:xfrm>
            <a:off x="8046719" y="1737360"/>
            <a:ext cx="3593593" cy="3017521"/>
          </a:xfrm>
          <a:prstGeom prst="roundRect">
            <a:avLst>
              <a:gd name="adj" fmla="val 2424"/>
            </a:avLst>
          </a:prstGeom>
          <a:solidFill>
            <a:srgbClr val="EEF3F4"/>
          </a:solidFill>
          <a:ln w="6350">
            <a:solidFill>
              <a:srgbClr val="EEF3F4"/>
            </a:solidFill>
          </a:ln>
        </p:spPr>
        <p:txBody>
          <a:bodyPr lIns="45719" rIns="45719"/>
          <a:lstStyle/>
          <a:p>
            <a:pPr/>
          </a:p>
        </p:txBody>
      </p:sp>
      <p:grpSp>
        <p:nvGrpSpPr>
          <p:cNvPr id="99" name="Text 10"/>
          <p:cNvGrpSpPr/>
          <p:nvPr/>
        </p:nvGrpSpPr>
        <p:grpSpPr>
          <a:xfrm>
            <a:off x="8275319" y="1920239"/>
            <a:ext cx="548641" cy="548641"/>
            <a:chOff x="0" y="0"/>
            <a:chExt cx="548640" cy="548640"/>
          </a:xfrm>
        </p:grpSpPr>
        <p:sp>
          <p:nvSpPr>
            <p:cNvPr id="97" name="Cercle"/>
            <p:cNvSpPr/>
            <p:nvPr/>
          </p:nvSpPr>
          <p:spPr>
            <a:xfrm>
              <a:off x="-1" y="-1"/>
              <a:ext cx="548642" cy="548642"/>
            </a:xfrm>
            <a:prstGeom prst="ellipse">
              <a:avLst/>
            </a:prstGeom>
            <a:solidFill>
              <a:schemeClr val="accent1"/>
            </a:solidFill>
            <a:ln w="12700" cap="flat">
              <a:noFill/>
              <a:miter lim="400000"/>
            </a:ln>
            <a:effectLst/>
          </p:spPr>
          <p:txBody>
            <a:bodyPr wrap="square" lIns="45719" tIns="45719" rIns="45719" bIns="45719" numCol="1" anchor="ctr">
              <a:noAutofit/>
            </a:bodyPr>
            <a:lstStyle/>
            <a:p>
              <a:pPr algn="ctr">
                <a:defRPr sz="2000"/>
              </a:pPr>
            </a:p>
          </p:txBody>
        </p:sp>
        <p:sp>
          <p:nvSpPr>
            <p:cNvPr id="98" name="3"/>
            <p:cNvSpPr txBox="1"/>
            <p:nvPr/>
          </p:nvSpPr>
          <p:spPr>
            <a:xfrm>
              <a:off x="80345" y="149949"/>
              <a:ext cx="387950" cy="24874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000">
                  <a:solidFill>
                    <a:srgbClr val="FFFFFF"/>
                  </a:solidFill>
                </a:defRPr>
              </a:lvl1pPr>
            </a:lstStyle>
            <a:p>
              <a:pPr/>
              <a:r>
                <a:t>3</a:t>
              </a:r>
            </a:p>
          </p:txBody>
        </p:sp>
      </p:grpSp>
      <p:sp>
        <p:nvSpPr>
          <p:cNvPr id="100" name="Text 11"/>
          <p:cNvSpPr txBox="1"/>
          <p:nvPr/>
        </p:nvSpPr>
        <p:spPr>
          <a:xfrm>
            <a:off x="8961119" y="2070189"/>
            <a:ext cx="2468881" cy="24874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000">
                <a:solidFill>
                  <a:schemeClr val="accent1"/>
                </a:solidFill>
              </a:defRPr>
            </a:lvl1pPr>
          </a:lstStyle>
          <a:p>
            <a:pPr/>
            <a:r>
              <a:t>Notre mission</a:t>
            </a:r>
          </a:p>
        </p:txBody>
      </p:sp>
      <p:sp>
        <p:nvSpPr>
          <p:cNvPr id="101" name="Text 12"/>
          <p:cNvSpPr txBox="1"/>
          <p:nvPr/>
        </p:nvSpPr>
        <p:spPr>
          <a:xfrm>
            <a:off x="8275319" y="2697479"/>
            <a:ext cx="3154681" cy="122515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600"/>
            </a:lvl1pPr>
          </a:lstStyle>
          <a:p>
            <a:pPr/>
            <a:r>
              <a:t>Prédire la consommation d'énergie et les émissions de CO₂ d'un bâtiment non mesuré, à partir de ses caractéristiques structurelles : surface, usage, âge.</a:t>
            </a:r>
          </a:p>
        </p:txBody>
      </p:sp>
      <p:grpSp>
        <p:nvGrpSpPr>
          <p:cNvPr id="104" name="Message clé"/>
          <p:cNvGrpSpPr/>
          <p:nvPr/>
        </p:nvGrpSpPr>
        <p:grpSpPr>
          <a:xfrm>
            <a:off x="548640" y="5120640"/>
            <a:ext cx="11091672" cy="594361"/>
            <a:chOff x="0" y="0"/>
            <a:chExt cx="11091671" cy="594359"/>
          </a:xfrm>
        </p:grpSpPr>
        <p:sp>
          <p:nvSpPr>
            <p:cNvPr id="102" name="Rectangle"/>
            <p:cNvSpPr/>
            <p:nvPr/>
          </p:nvSpPr>
          <p:spPr>
            <a:xfrm>
              <a:off x="0" y="0"/>
              <a:ext cx="11091672" cy="594360"/>
            </a:xfrm>
            <a:prstGeom prst="rect">
              <a:avLst/>
            </a:prstGeom>
            <a:solidFill>
              <a:schemeClr val="accent1"/>
            </a:solidFill>
            <a:ln w="12700" cap="flat">
              <a:noFill/>
              <a:miter lim="400000"/>
            </a:ln>
            <a:effectLst/>
          </p:spPr>
          <p:txBody>
            <a:bodyPr wrap="square" lIns="45719" tIns="45719" rIns="45719" bIns="45719" numCol="1" anchor="ctr">
              <a:noAutofit/>
            </a:bodyPr>
            <a:lstStyle/>
            <a:p>
              <a:pPr>
                <a:defRPr sz="1600"/>
              </a:pPr>
            </a:p>
          </p:txBody>
        </p:sp>
        <p:sp>
          <p:nvSpPr>
            <p:cNvPr id="103" name="Livrable : un modèle qui estime, pour un bâtiment sans relevé, sa consommation et ses émissions"/>
            <p:cNvSpPr txBox="1"/>
            <p:nvPr/>
          </p:nvSpPr>
          <p:spPr>
            <a:xfrm>
              <a:off x="0" y="40203"/>
              <a:ext cx="11091672" cy="5139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52400" tIns="152400" rIns="152400" bIns="152400" numCol="1" anchor="ctr">
              <a:spAutoFit/>
            </a:bodyPr>
            <a:lstStyle>
              <a:lvl1pPr>
                <a:defRPr b="1" sz="1600">
                  <a:solidFill>
                    <a:srgbClr val="FFFFFF"/>
                  </a:solidFill>
                </a:defRPr>
              </a:lvl1pPr>
            </a:lstStyle>
            <a:p>
              <a:pPr/>
              <a:r>
                <a:t>Livrable : un modèle qui estime, pour un bâtiment sans relevé, sa consommation et ses émissions</a:t>
              </a:r>
            </a:p>
          </p:txBody>
        </p:sp>
      </p:grpSp>
      <p:sp>
        <p:nvSpPr>
          <p:cNvPr id="105" name="Slide Number Placeholder 0"/>
          <p:cNvSpPr txBox="1"/>
          <p:nvPr>
            <p:ph type="sldNum" sz="quarter" idx="4294967295"/>
          </p:nvPr>
        </p:nvSpPr>
        <p:spPr>
          <a:xfrm>
            <a:off x="11444371" y="6446520"/>
            <a:ext cx="168510"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9" name="Text 0"/>
          <p:cNvSpPr txBox="1"/>
          <p:nvPr/>
        </p:nvSpPr>
        <p:spPr>
          <a:xfrm>
            <a:off x="548640" y="365759"/>
            <a:ext cx="11091672" cy="9144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defRPr sz="2800">
                <a:solidFill>
                  <a:schemeClr val="accent1"/>
                </a:solidFill>
                <a:latin typeface="Cambria"/>
                <a:ea typeface="Cambria"/>
                <a:cs typeface="Cambria"/>
                <a:sym typeface="Cambria"/>
              </a:defRPr>
            </a:lvl1pPr>
          </a:lstStyle>
          <a:p>
            <a:pPr/>
            <a:r>
              <a:t>De 3 376 relevés à 1 564 bâtiments non résidentiels exploitables</a:t>
            </a:r>
          </a:p>
        </p:txBody>
      </p:sp>
      <p:grpSp>
        <p:nvGrpSpPr>
          <p:cNvPr id="112" name="Etape 1"/>
          <p:cNvGrpSpPr/>
          <p:nvPr/>
        </p:nvGrpSpPr>
        <p:grpSpPr>
          <a:xfrm>
            <a:off x="548640" y="1447136"/>
            <a:ext cx="6400801" cy="598736"/>
            <a:chOff x="0" y="0"/>
            <a:chExt cx="6400800" cy="598735"/>
          </a:xfrm>
        </p:grpSpPr>
        <p:sp>
          <p:nvSpPr>
            <p:cNvPr id="110" name="Rectangle"/>
            <p:cNvSpPr/>
            <p:nvPr/>
          </p:nvSpPr>
          <p:spPr>
            <a:xfrm>
              <a:off x="0" y="15903"/>
              <a:ext cx="6400800" cy="566929"/>
            </a:xfrm>
            <a:prstGeom prst="rect">
              <a:avLst/>
            </a:prstGeom>
            <a:solidFill>
              <a:schemeClr val="accent1"/>
            </a:solidFill>
            <a:ln w="12700" cap="flat">
              <a:noFill/>
              <a:miter lim="400000"/>
            </a:ln>
            <a:effectLst/>
          </p:spPr>
          <p:txBody>
            <a:bodyPr wrap="square" lIns="45719" tIns="45719" rIns="45719" bIns="45719" numCol="1" anchor="ctr">
              <a:noAutofit/>
            </a:bodyPr>
            <a:lstStyle/>
            <a:p>
              <a:pPr>
                <a:defRPr sz="2200"/>
              </a:pPr>
            </a:p>
          </p:txBody>
        </p:sp>
        <p:sp>
          <p:nvSpPr>
            <p:cNvPr id="111" name="3 376  relevés 2016, 46 colonnes"/>
            <p:cNvSpPr txBox="1"/>
            <p:nvPr/>
          </p:nvSpPr>
          <p:spPr>
            <a:xfrm>
              <a:off x="0" y="0"/>
              <a:ext cx="6400800" cy="59873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52400" tIns="152400" rIns="152400" bIns="152400" numCol="1" anchor="ctr">
              <a:spAutoFit/>
            </a:bodyPr>
            <a:lstStyle/>
            <a:p>
              <a:pPr>
                <a:defRPr b="1" sz="2200">
                  <a:solidFill>
                    <a:srgbClr val="FFFFFF"/>
                  </a:solidFill>
                </a:defRPr>
              </a:pPr>
              <a:r>
                <a:t>3 376  </a:t>
              </a:r>
              <a:r>
                <a:rPr b="0" sz="1400"/>
                <a:t>relevés 2016, 46 colonnes</a:t>
              </a:r>
            </a:p>
          </p:txBody>
        </p:sp>
      </p:grpSp>
      <p:sp>
        <p:nvSpPr>
          <p:cNvPr id="113" name="Text 2"/>
          <p:cNvSpPr txBox="1"/>
          <p:nvPr/>
        </p:nvSpPr>
        <p:spPr>
          <a:xfrm>
            <a:off x="7223759" y="1651824"/>
            <a:ext cx="438912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lvl1pPr>
          </a:lstStyle>
          <a:p>
            <a:pPr/>
            <a:r>
              <a:t>Base brute de la ville de Seattle</a:t>
            </a:r>
          </a:p>
        </p:txBody>
      </p:sp>
      <p:grpSp>
        <p:nvGrpSpPr>
          <p:cNvPr id="116" name="Etape 2"/>
          <p:cNvGrpSpPr/>
          <p:nvPr/>
        </p:nvGrpSpPr>
        <p:grpSpPr>
          <a:xfrm>
            <a:off x="548639" y="2160368"/>
            <a:ext cx="5504690" cy="598736"/>
            <a:chOff x="0" y="0"/>
            <a:chExt cx="5504688" cy="598735"/>
          </a:xfrm>
        </p:grpSpPr>
        <p:sp>
          <p:nvSpPr>
            <p:cNvPr id="114" name="Rectangle"/>
            <p:cNvSpPr/>
            <p:nvPr/>
          </p:nvSpPr>
          <p:spPr>
            <a:xfrm>
              <a:off x="0" y="15903"/>
              <a:ext cx="5504689" cy="566929"/>
            </a:xfrm>
            <a:prstGeom prst="rect">
              <a:avLst/>
            </a:prstGeom>
            <a:solidFill>
              <a:schemeClr val="accent1"/>
            </a:solidFill>
            <a:ln w="12700" cap="flat">
              <a:noFill/>
              <a:miter lim="400000"/>
            </a:ln>
            <a:effectLst/>
          </p:spPr>
          <p:txBody>
            <a:bodyPr wrap="square" lIns="45719" tIns="45719" rIns="45719" bIns="45719" numCol="1" anchor="ctr">
              <a:noAutofit/>
            </a:bodyPr>
            <a:lstStyle/>
            <a:p>
              <a:pPr>
                <a:defRPr sz="2200"/>
              </a:pPr>
            </a:p>
          </p:txBody>
        </p:sp>
        <p:sp>
          <p:nvSpPr>
            <p:cNvPr id="115" name="1 668  bâtiments non résidentiels"/>
            <p:cNvSpPr txBox="1"/>
            <p:nvPr/>
          </p:nvSpPr>
          <p:spPr>
            <a:xfrm>
              <a:off x="0" y="0"/>
              <a:ext cx="5504689" cy="59873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52400" tIns="152400" rIns="152400" bIns="152400" numCol="1" anchor="ctr">
              <a:spAutoFit/>
            </a:bodyPr>
            <a:lstStyle/>
            <a:p>
              <a:pPr>
                <a:defRPr b="1" sz="2200">
                  <a:solidFill>
                    <a:srgbClr val="FFFFFF"/>
                  </a:solidFill>
                </a:defRPr>
              </a:pPr>
              <a:r>
                <a:t>1 668  </a:t>
              </a:r>
              <a:r>
                <a:rPr b="0" sz="1400"/>
                <a:t>bâtiments non résidentiels</a:t>
              </a:r>
            </a:p>
          </p:txBody>
        </p:sp>
      </p:grpSp>
      <p:sp>
        <p:nvSpPr>
          <p:cNvPr id="117" name="Text 4"/>
          <p:cNvSpPr txBox="1"/>
          <p:nvPr/>
        </p:nvSpPr>
        <p:spPr>
          <a:xfrm>
            <a:off x="7223759" y="2365056"/>
            <a:ext cx="438912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lvl1pPr>
          </a:lstStyle>
          <a:p>
            <a:pPr/>
            <a:r>
              <a:t>On écarte les logements (−1 708) : hors périmètre</a:t>
            </a:r>
          </a:p>
        </p:txBody>
      </p:sp>
      <p:grpSp>
        <p:nvGrpSpPr>
          <p:cNvPr id="120" name="Etape 3"/>
          <p:cNvGrpSpPr/>
          <p:nvPr/>
        </p:nvGrpSpPr>
        <p:grpSpPr>
          <a:xfrm>
            <a:off x="548640" y="2873600"/>
            <a:ext cx="4992624" cy="598736"/>
            <a:chOff x="0" y="0"/>
            <a:chExt cx="4992623" cy="598735"/>
          </a:xfrm>
        </p:grpSpPr>
        <p:sp>
          <p:nvSpPr>
            <p:cNvPr id="118" name="Rectangle"/>
            <p:cNvSpPr/>
            <p:nvPr/>
          </p:nvSpPr>
          <p:spPr>
            <a:xfrm>
              <a:off x="0" y="15903"/>
              <a:ext cx="4992624" cy="566929"/>
            </a:xfrm>
            <a:prstGeom prst="rect">
              <a:avLst/>
            </a:prstGeom>
            <a:solidFill>
              <a:schemeClr val="accent1"/>
            </a:solidFill>
            <a:ln w="12700" cap="flat">
              <a:noFill/>
              <a:miter lim="400000"/>
            </a:ln>
            <a:effectLst/>
          </p:spPr>
          <p:txBody>
            <a:bodyPr wrap="square" lIns="45719" tIns="45719" rIns="45719" bIns="45719" numCol="1" anchor="ctr">
              <a:noAutofit/>
            </a:bodyPr>
            <a:lstStyle/>
            <a:p>
              <a:pPr>
                <a:defRPr sz="2200"/>
              </a:pPr>
            </a:p>
          </p:txBody>
        </p:sp>
        <p:sp>
          <p:nvSpPr>
            <p:cNvPr id="119" name="1 648  consommation et émissions &gt; 0"/>
            <p:cNvSpPr txBox="1"/>
            <p:nvPr/>
          </p:nvSpPr>
          <p:spPr>
            <a:xfrm>
              <a:off x="0" y="0"/>
              <a:ext cx="4992624" cy="59873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52400" tIns="152400" rIns="152400" bIns="152400" numCol="1" anchor="ctr">
              <a:spAutoFit/>
            </a:bodyPr>
            <a:lstStyle/>
            <a:p>
              <a:pPr>
                <a:defRPr b="1" sz="2200">
                  <a:solidFill>
                    <a:srgbClr val="FFFFFF"/>
                  </a:solidFill>
                </a:defRPr>
              </a:pPr>
              <a:r>
                <a:t>1 648  </a:t>
              </a:r>
              <a:r>
                <a:rPr b="0" sz="1400"/>
                <a:t>consommation et émissions &gt; 0</a:t>
              </a:r>
            </a:p>
          </p:txBody>
        </p:sp>
      </p:grpSp>
      <p:sp>
        <p:nvSpPr>
          <p:cNvPr id="121" name="Text 6"/>
          <p:cNvSpPr txBox="1"/>
          <p:nvPr/>
        </p:nvSpPr>
        <p:spPr>
          <a:xfrm>
            <a:off x="7223759" y="3078288"/>
            <a:ext cx="438912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lvl1pPr>
          </a:lstStyle>
          <a:p>
            <a:pPr/>
            <a:r>
              <a:t>Cibles nulles = relevés manquants (−20)</a:t>
            </a:r>
          </a:p>
        </p:txBody>
      </p:sp>
      <p:grpSp>
        <p:nvGrpSpPr>
          <p:cNvPr id="124" name="Etape 4"/>
          <p:cNvGrpSpPr/>
          <p:nvPr/>
        </p:nvGrpSpPr>
        <p:grpSpPr>
          <a:xfrm>
            <a:off x="548640" y="3586832"/>
            <a:ext cx="4544568" cy="598736"/>
            <a:chOff x="0" y="0"/>
            <a:chExt cx="4544567" cy="598735"/>
          </a:xfrm>
        </p:grpSpPr>
        <p:sp>
          <p:nvSpPr>
            <p:cNvPr id="122" name="Rectangle"/>
            <p:cNvSpPr/>
            <p:nvPr/>
          </p:nvSpPr>
          <p:spPr>
            <a:xfrm>
              <a:off x="0" y="15903"/>
              <a:ext cx="4544568" cy="566929"/>
            </a:xfrm>
            <a:prstGeom prst="rect">
              <a:avLst/>
            </a:prstGeom>
            <a:solidFill>
              <a:schemeClr val="accent1"/>
            </a:solidFill>
            <a:ln w="12700" cap="flat">
              <a:noFill/>
              <a:miter lim="400000"/>
            </a:ln>
            <a:effectLst/>
          </p:spPr>
          <p:txBody>
            <a:bodyPr wrap="square" lIns="45719" tIns="45719" rIns="45719" bIns="45719" numCol="1" anchor="ctr">
              <a:noAutofit/>
            </a:bodyPr>
            <a:lstStyle/>
            <a:p>
              <a:pPr>
                <a:defRPr sz="2200"/>
              </a:pPr>
            </a:p>
          </p:txBody>
        </p:sp>
        <p:sp>
          <p:nvSpPr>
            <p:cNvPr id="123" name="1 596  nombre de bâtiments renseigné"/>
            <p:cNvSpPr txBox="1"/>
            <p:nvPr/>
          </p:nvSpPr>
          <p:spPr>
            <a:xfrm>
              <a:off x="0" y="0"/>
              <a:ext cx="4544568" cy="59873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52400" tIns="152400" rIns="152400" bIns="152400" numCol="1" anchor="ctr">
              <a:spAutoFit/>
            </a:bodyPr>
            <a:lstStyle/>
            <a:p>
              <a:pPr>
                <a:defRPr b="1" sz="2200">
                  <a:solidFill>
                    <a:srgbClr val="FFFFFF"/>
                  </a:solidFill>
                </a:defRPr>
              </a:pPr>
              <a:r>
                <a:t>1 596  </a:t>
              </a:r>
              <a:r>
                <a:rPr b="0" sz="1400"/>
                <a:t>nombre de bâtiments renseigné</a:t>
              </a:r>
            </a:p>
          </p:txBody>
        </p:sp>
      </p:grpSp>
      <p:sp>
        <p:nvSpPr>
          <p:cNvPr id="125" name="Text 8"/>
          <p:cNvSpPr txBox="1"/>
          <p:nvPr/>
        </p:nvSpPr>
        <p:spPr>
          <a:xfrm>
            <a:off x="7223759" y="3791520"/>
            <a:ext cx="438912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lvl1pPr>
          </a:lstStyle>
          <a:p>
            <a:pPr/>
            <a:r>
              <a:t>Valeurs à 0 incohérentes (−52)</a:t>
            </a:r>
          </a:p>
        </p:txBody>
      </p:sp>
      <p:grpSp>
        <p:nvGrpSpPr>
          <p:cNvPr id="128" name="Etape 5"/>
          <p:cNvGrpSpPr/>
          <p:nvPr/>
        </p:nvGrpSpPr>
        <p:grpSpPr>
          <a:xfrm>
            <a:off x="548640" y="4300064"/>
            <a:ext cx="4096512" cy="598736"/>
            <a:chOff x="0" y="0"/>
            <a:chExt cx="4096511" cy="598735"/>
          </a:xfrm>
        </p:grpSpPr>
        <p:sp>
          <p:nvSpPr>
            <p:cNvPr id="126" name="Rectangle"/>
            <p:cNvSpPr/>
            <p:nvPr/>
          </p:nvSpPr>
          <p:spPr>
            <a:xfrm>
              <a:off x="0" y="15903"/>
              <a:ext cx="4096512" cy="566929"/>
            </a:xfrm>
            <a:prstGeom prst="rect">
              <a:avLst/>
            </a:prstGeom>
            <a:solidFill>
              <a:schemeClr val="accent1"/>
            </a:solidFill>
            <a:ln w="12700" cap="flat">
              <a:noFill/>
              <a:miter lim="400000"/>
            </a:ln>
            <a:effectLst/>
          </p:spPr>
          <p:txBody>
            <a:bodyPr wrap="square" lIns="45719" tIns="45719" rIns="45719" bIns="45719" numCol="1" anchor="ctr">
              <a:noAutofit/>
            </a:bodyPr>
            <a:lstStyle/>
            <a:p>
              <a:pPr>
                <a:defRPr sz="2200"/>
              </a:pPr>
            </a:p>
          </p:txBody>
        </p:sp>
        <p:sp>
          <p:nvSpPr>
            <p:cNvPr id="127" name="1 581  nombre d'étages renseigné"/>
            <p:cNvSpPr txBox="1"/>
            <p:nvPr/>
          </p:nvSpPr>
          <p:spPr>
            <a:xfrm>
              <a:off x="0" y="0"/>
              <a:ext cx="4096512" cy="59873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52400" tIns="152400" rIns="152400" bIns="152400" numCol="1" anchor="ctr">
              <a:spAutoFit/>
            </a:bodyPr>
            <a:lstStyle/>
            <a:p>
              <a:pPr>
                <a:defRPr b="1" sz="2200">
                  <a:solidFill>
                    <a:srgbClr val="FFFFFF"/>
                  </a:solidFill>
                </a:defRPr>
              </a:pPr>
              <a:r>
                <a:t>1 581  </a:t>
              </a:r>
              <a:r>
                <a:rPr b="0" sz="1400"/>
                <a:t>nombre d'étages renseigné</a:t>
              </a:r>
            </a:p>
          </p:txBody>
        </p:sp>
      </p:grpSp>
      <p:sp>
        <p:nvSpPr>
          <p:cNvPr id="129" name="Text 10"/>
          <p:cNvSpPr txBox="1"/>
          <p:nvPr/>
        </p:nvSpPr>
        <p:spPr>
          <a:xfrm>
            <a:off x="7223759" y="4504752"/>
            <a:ext cx="438912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lvl1pPr>
          </a:lstStyle>
          <a:p>
            <a:pPr/>
            <a:r>
              <a:t>Valeurs à 0 incohérentes (−15)</a:t>
            </a:r>
          </a:p>
        </p:txBody>
      </p:sp>
      <p:grpSp>
        <p:nvGrpSpPr>
          <p:cNvPr id="132" name="Etape 6"/>
          <p:cNvGrpSpPr/>
          <p:nvPr/>
        </p:nvGrpSpPr>
        <p:grpSpPr>
          <a:xfrm>
            <a:off x="548639" y="5013296"/>
            <a:ext cx="3712466" cy="598736"/>
            <a:chOff x="0" y="0"/>
            <a:chExt cx="3712464" cy="598735"/>
          </a:xfrm>
        </p:grpSpPr>
        <p:sp>
          <p:nvSpPr>
            <p:cNvPr id="130" name="Rectangle"/>
            <p:cNvSpPr/>
            <p:nvPr/>
          </p:nvSpPr>
          <p:spPr>
            <a:xfrm>
              <a:off x="0" y="15903"/>
              <a:ext cx="3712465" cy="566929"/>
            </a:xfrm>
            <a:prstGeom prst="rect">
              <a:avLst/>
            </a:prstGeom>
            <a:solidFill>
              <a:schemeClr val="accent2"/>
            </a:solidFill>
            <a:ln w="12700" cap="flat">
              <a:noFill/>
              <a:miter lim="400000"/>
            </a:ln>
            <a:effectLst/>
          </p:spPr>
          <p:txBody>
            <a:bodyPr wrap="square" lIns="45719" tIns="45719" rIns="45719" bIns="45719" numCol="1" anchor="ctr">
              <a:noAutofit/>
            </a:bodyPr>
            <a:lstStyle/>
            <a:p>
              <a:pPr>
                <a:defRPr sz="2200"/>
              </a:pPr>
            </a:p>
          </p:txBody>
        </p:sp>
        <p:sp>
          <p:nvSpPr>
            <p:cNvPr id="131" name="1 564  hors outliers, données conformes"/>
            <p:cNvSpPr txBox="1"/>
            <p:nvPr/>
          </p:nvSpPr>
          <p:spPr>
            <a:xfrm>
              <a:off x="0" y="0"/>
              <a:ext cx="3712465" cy="59873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52400" tIns="152400" rIns="152400" bIns="152400" numCol="1" anchor="ctr">
              <a:spAutoFit/>
            </a:bodyPr>
            <a:lstStyle/>
            <a:p>
              <a:pPr>
                <a:defRPr b="1" sz="2200"/>
              </a:pPr>
              <a:r>
                <a:t>1 564  </a:t>
              </a:r>
              <a:r>
                <a:rPr b="0" sz="1400"/>
                <a:t>hors outliers, données conformes</a:t>
              </a:r>
            </a:p>
          </p:txBody>
        </p:sp>
      </p:grpSp>
      <p:sp>
        <p:nvSpPr>
          <p:cNvPr id="133" name="Text 12"/>
          <p:cNvSpPr txBox="1"/>
          <p:nvPr/>
        </p:nvSpPr>
        <p:spPr>
          <a:xfrm>
            <a:off x="7223759" y="5103684"/>
            <a:ext cx="4389121" cy="4179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lvl1pPr>
          </a:lstStyle>
          <a:p>
            <a:pPr/>
            <a:r>
              <a:t>Aberrations signalées par la ville et données non conformes (−17)</a:t>
            </a:r>
          </a:p>
        </p:txBody>
      </p:sp>
      <p:sp>
        <p:nvSpPr>
          <p:cNvPr id="134" name="Text 13"/>
          <p:cNvSpPr txBox="1"/>
          <p:nvPr/>
        </p:nvSpPr>
        <p:spPr>
          <a:xfrm>
            <a:off x="548640" y="5850059"/>
            <a:ext cx="11091672" cy="3699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300">
                <a:solidFill>
                  <a:schemeClr val="accent4"/>
                </a:solidFill>
              </a:defRPr>
            </a:lvl1pPr>
          </a:lstStyle>
          <a:p>
            <a:pPr/>
            <a:r>
              <a:t>Hypothèse : les lignes écartées sont des défauts de saisie, pas un profil de bâtiment particulier (limite). Deux lignes d'usage principal résidentiel, classées NonResidential ou Campus par la ville, sont conservées.</a:t>
            </a:r>
          </a:p>
        </p:txBody>
      </p:sp>
      <p:sp>
        <p:nvSpPr>
          <p:cNvPr id="135" name="Slide Number Placeholder 0"/>
          <p:cNvSpPr txBox="1"/>
          <p:nvPr>
            <p:ph type="sldNum" sz="quarter" idx="4294967295"/>
          </p:nvPr>
        </p:nvSpPr>
        <p:spPr>
          <a:xfrm>
            <a:off x="11444371" y="6446520"/>
            <a:ext cx="168510"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9" name="Text 0"/>
          <p:cNvSpPr txBox="1"/>
          <p:nvPr/>
        </p:nvSpPr>
        <p:spPr>
          <a:xfrm>
            <a:off x="548640" y="365759"/>
            <a:ext cx="11091672" cy="9144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defRPr sz="2800">
                <a:solidFill>
                  <a:schemeClr val="accent1"/>
                </a:solidFill>
                <a:latin typeface="Cambria"/>
                <a:ea typeface="Cambria"/>
                <a:cs typeface="Cambria"/>
                <a:sym typeface="Cambria"/>
              </a:defRPr>
            </a:lvl1pPr>
          </a:lstStyle>
          <a:p>
            <a:pPr/>
            <a:r>
              <a:t>Une ligne par bâtiment : six familles de variables, dont deux cibles à prédire</a:t>
            </a:r>
          </a:p>
        </p:txBody>
      </p:sp>
      <p:sp>
        <p:nvSpPr>
          <p:cNvPr id="140" name="Carte Identification"/>
          <p:cNvSpPr/>
          <p:nvPr/>
        </p:nvSpPr>
        <p:spPr>
          <a:xfrm>
            <a:off x="548640" y="1554480"/>
            <a:ext cx="3593592" cy="1828801"/>
          </a:xfrm>
          <a:prstGeom prst="roundRect">
            <a:avLst>
              <a:gd name="adj" fmla="val 4000"/>
            </a:avLst>
          </a:prstGeom>
          <a:solidFill>
            <a:srgbClr val="EEF3F4"/>
          </a:solidFill>
          <a:ln w="6350">
            <a:solidFill>
              <a:srgbClr val="EEF3F4"/>
            </a:solidFill>
          </a:ln>
        </p:spPr>
        <p:txBody>
          <a:bodyPr lIns="45719" rIns="45719"/>
          <a:lstStyle/>
          <a:p>
            <a:pPr/>
          </a:p>
        </p:txBody>
      </p:sp>
      <p:sp>
        <p:nvSpPr>
          <p:cNvPr id="141" name="Text 2"/>
          <p:cNvSpPr txBox="1"/>
          <p:nvPr/>
        </p:nvSpPr>
        <p:spPr>
          <a:xfrm>
            <a:off x="731519" y="1753696"/>
            <a:ext cx="2221994"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solidFill>
                  <a:schemeClr val="accent1"/>
                </a:solidFill>
              </a:defRPr>
            </a:lvl1pPr>
          </a:lstStyle>
          <a:p>
            <a:pPr/>
            <a:r>
              <a:t>Identification</a:t>
            </a:r>
          </a:p>
        </p:txBody>
      </p:sp>
      <p:grpSp>
        <p:nvGrpSpPr>
          <p:cNvPr id="144" name="Text 3"/>
          <p:cNvGrpSpPr/>
          <p:nvPr/>
        </p:nvGrpSpPr>
        <p:grpSpPr>
          <a:xfrm>
            <a:off x="2999232" y="1719072"/>
            <a:ext cx="960121" cy="274321"/>
            <a:chOff x="0" y="0"/>
            <a:chExt cx="960119" cy="274320"/>
          </a:xfrm>
        </p:grpSpPr>
        <p:sp>
          <p:nvSpPr>
            <p:cNvPr id="142" name="Rectangle"/>
            <p:cNvSpPr/>
            <p:nvPr/>
          </p:nvSpPr>
          <p:spPr>
            <a:xfrm>
              <a:off x="0" y="-1"/>
              <a:ext cx="960120" cy="274322"/>
            </a:xfrm>
            <a:prstGeom prst="rect">
              <a:avLst/>
            </a:prstGeom>
            <a:solidFill>
              <a:schemeClr val="accent4"/>
            </a:solidFill>
            <a:ln w="12700" cap="flat">
              <a:noFill/>
              <a:miter lim="400000"/>
            </a:ln>
            <a:effectLst/>
          </p:spPr>
          <p:txBody>
            <a:bodyPr wrap="square" lIns="45719" tIns="45719" rIns="45719" bIns="45719" numCol="1" anchor="ctr">
              <a:noAutofit/>
            </a:bodyPr>
            <a:lstStyle/>
            <a:p>
              <a:pPr algn="ctr">
                <a:defRPr sz="1100"/>
              </a:pPr>
            </a:p>
          </p:txBody>
        </p:sp>
        <p:sp>
          <p:nvSpPr>
            <p:cNvPr id="143" name="Exclu"/>
            <p:cNvSpPr txBox="1"/>
            <p:nvPr/>
          </p:nvSpPr>
          <p:spPr>
            <a:xfrm>
              <a:off x="0" y="70026"/>
              <a:ext cx="960120" cy="1342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100">
                  <a:solidFill>
                    <a:srgbClr val="FFFFFF"/>
                  </a:solidFill>
                </a:defRPr>
              </a:lvl1pPr>
            </a:lstStyle>
            <a:p>
              <a:pPr/>
              <a:r>
                <a:t>Exclu</a:t>
              </a:r>
            </a:p>
          </p:txBody>
        </p:sp>
      </p:grpSp>
      <p:sp>
        <p:nvSpPr>
          <p:cNvPr id="145" name="Text 4"/>
          <p:cNvSpPr txBox="1"/>
          <p:nvPr/>
        </p:nvSpPr>
        <p:spPr>
          <a:xfrm>
            <a:off x="731519" y="2148839"/>
            <a:ext cx="3227834" cy="4179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400"/>
              </a:spcBef>
              <a:defRPr sz="1400"/>
            </a:lvl1pPr>
          </a:lstStyle>
          <a:p>
            <a:pPr/>
            <a:r>
              <a:t>ID du bâtiment, nom, adresse, parcelle cadastrale</a:t>
            </a:r>
          </a:p>
        </p:txBody>
      </p:sp>
      <p:sp>
        <p:nvSpPr>
          <p:cNvPr id="146" name="Carte Localisation"/>
          <p:cNvSpPr/>
          <p:nvPr/>
        </p:nvSpPr>
        <p:spPr>
          <a:xfrm>
            <a:off x="4297679" y="1554480"/>
            <a:ext cx="3593593" cy="1828801"/>
          </a:xfrm>
          <a:prstGeom prst="roundRect">
            <a:avLst>
              <a:gd name="adj" fmla="val 4000"/>
            </a:avLst>
          </a:prstGeom>
          <a:solidFill>
            <a:srgbClr val="EEF3F4"/>
          </a:solidFill>
          <a:ln w="6350">
            <a:solidFill>
              <a:srgbClr val="EEF3F4"/>
            </a:solidFill>
          </a:ln>
        </p:spPr>
        <p:txBody>
          <a:bodyPr lIns="45719" rIns="45719"/>
          <a:lstStyle/>
          <a:p>
            <a:pPr/>
          </a:p>
        </p:txBody>
      </p:sp>
      <p:sp>
        <p:nvSpPr>
          <p:cNvPr id="147" name="Text 6"/>
          <p:cNvSpPr txBox="1"/>
          <p:nvPr/>
        </p:nvSpPr>
        <p:spPr>
          <a:xfrm>
            <a:off x="4480559" y="1753696"/>
            <a:ext cx="2221993"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solidFill>
                  <a:schemeClr val="accent1"/>
                </a:solidFill>
              </a:defRPr>
            </a:lvl1pPr>
          </a:lstStyle>
          <a:p>
            <a:pPr/>
            <a:r>
              <a:t>Localisation</a:t>
            </a:r>
          </a:p>
        </p:txBody>
      </p:sp>
      <p:grpSp>
        <p:nvGrpSpPr>
          <p:cNvPr id="150" name="Text 7"/>
          <p:cNvGrpSpPr/>
          <p:nvPr/>
        </p:nvGrpSpPr>
        <p:grpSpPr>
          <a:xfrm>
            <a:off x="6748271" y="1719072"/>
            <a:ext cx="960121" cy="274321"/>
            <a:chOff x="0" y="0"/>
            <a:chExt cx="960119" cy="274320"/>
          </a:xfrm>
        </p:grpSpPr>
        <p:sp>
          <p:nvSpPr>
            <p:cNvPr id="148" name="Rectangle"/>
            <p:cNvSpPr/>
            <p:nvPr/>
          </p:nvSpPr>
          <p:spPr>
            <a:xfrm>
              <a:off x="0" y="-1"/>
              <a:ext cx="960120" cy="274322"/>
            </a:xfrm>
            <a:prstGeom prst="rect">
              <a:avLst/>
            </a:prstGeom>
            <a:solidFill>
              <a:schemeClr val="accent4"/>
            </a:solidFill>
            <a:ln w="12700" cap="flat">
              <a:noFill/>
              <a:miter lim="400000"/>
            </a:ln>
            <a:effectLst/>
          </p:spPr>
          <p:txBody>
            <a:bodyPr wrap="square" lIns="45719" tIns="45719" rIns="45719" bIns="45719" numCol="1" anchor="ctr">
              <a:noAutofit/>
            </a:bodyPr>
            <a:lstStyle/>
            <a:p>
              <a:pPr algn="ctr">
                <a:defRPr sz="1100"/>
              </a:pPr>
            </a:p>
          </p:txBody>
        </p:sp>
        <p:sp>
          <p:nvSpPr>
            <p:cNvPr id="149" name="Peu utile"/>
            <p:cNvSpPr txBox="1"/>
            <p:nvPr/>
          </p:nvSpPr>
          <p:spPr>
            <a:xfrm>
              <a:off x="0" y="70026"/>
              <a:ext cx="960120" cy="1342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100">
                  <a:solidFill>
                    <a:srgbClr val="FFFFFF"/>
                  </a:solidFill>
                </a:defRPr>
              </a:lvl1pPr>
            </a:lstStyle>
            <a:p>
              <a:pPr/>
              <a:r>
                <a:t>Peu utile</a:t>
              </a:r>
            </a:p>
          </p:txBody>
        </p:sp>
      </p:grpSp>
      <p:sp>
        <p:nvSpPr>
          <p:cNvPr id="151" name="Text 8"/>
          <p:cNvSpPr txBox="1"/>
          <p:nvPr/>
        </p:nvSpPr>
        <p:spPr>
          <a:xfrm>
            <a:off x="4480559" y="2148839"/>
            <a:ext cx="3227833"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400"/>
              </a:spcBef>
              <a:defRPr sz="1400"/>
            </a:lvl1pPr>
          </a:lstStyle>
          <a:p>
            <a:pPr/>
            <a:r>
              <a:t>Quartier, latitude / longitude, code postal</a:t>
            </a:r>
          </a:p>
        </p:txBody>
      </p:sp>
      <p:sp>
        <p:nvSpPr>
          <p:cNvPr id="152" name="Carte Caractéristiques du bâtiment"/>
          <p:cNvSpPr/>
          <p:nvPr/>
        </p:nvSpPr>
        <p:spPr>
          <a:xfrm>
            <a:off x="8046719" y="1554480"/>
            <a:ext cx="3593593" cy="1828801"/>
          </a:xfrm>
          <a:prstGeom prst="roundRect">
            <a:avLst>
              <a:gd name="adj" fmla="val 4000"/>
            </a:avLst>
          </a:prstGeom>
          <a:solidFill>
            <a:srgbClr val="EEF3F4"/>
          </a:solidFill>
          <a:ln w="6350">
            <a:solidFill>
              <a:srgbClr val="EEF3F4"/>
            </a:solidFill>
          </a:ln>
        </p:spPr>
        <p:txBody>
          <a:bodyPr lIns="45719" rIns="45719"/>
          <a:lstStyle/>
          <a:p>
            <a:pPr/>
          </a:p>
        </p:txBody>
      </p:sp>
      <p:sp>
        <p:nvSpPr>
          <p:cNvPr id="153" name="Text 10"/>
          <p:cNvSpPr txBox="1"/>
          <p:nvPr/>
        </p:nvSpPr>
        <p:spPr>
          <a:xfrm>
            <a:off x="8229599" y="1607646"/>
            <a:ext cx="2221994" cy="5337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solidFill>
                  <a:schemeClr val="accent1"/>
                </a:solidFill>
              </a:defRPr>
            </a:lvl1pPr>
          </a:lstStyle>
          <a:p>
            <a:pPr/>
            <a:r>
              <a:t>Caractéristiques du bâtiment</a:t>
            </a:r>
          </a:p>
        </p:txBody>
      </p:sp>
      <p:grpSp>
        <p:nvGrpSpPr>
          <p:cNvPr id="156" name="Text 11"/>
          <p:cNvGrpSpPr/>
          <p:nvPr/>
        </p:nvGrpSpPr>
        <p:grpSpPr>
          <a:xfrm>
            <a:off x="10497311" y="1719072"/>
            <a:ext cx="960121" cy="274321"/>
            <a:chOff x="0" y="0"/>
            <a:chExt cx="960119" cy="274320"/>
          </a:xfrm>
        </p:grpSpPr>
        <p:sp>
          <p:nvSpPr>
            <p:cNvPr id="154" name="Rectangle"/>
            <p:cNvSpPr/>
            <p:nvPr/>
          </p:nvSpPr>
          <p:spPr>
            <a:xfrm>
              <a:off x="0" y="-1"/>
              <a:ext cx="960120" cy="274322"/>
            </a:xfrm>
            <a:prstGeom prst="rect">
              <a:avLst/>
            </a:prstGeom>
            <a:solidFill>
              <a:schemeClr val="accent3"/>
            </a:solidFill>
            <a:ln w="12700" cap="flat">
              <a:noFill/>
              <a:miter lim="400000"/>
            </a:ln>
            <a:effectLst/>
          </p:spPr>
          <p:txBody>
            <a:bodyPr wrap="square" lIns="45719" tIns="45719" rIns="45719" bIns="45719" numCol="1" anchor="ctr">
              <a:noAutofit/>
            </a:bodyPr>
            <a:lstStyle/>
            <a:p>
              <a:pPr algn="ctr">
                <a:defRPr sz="1100"/>
              </a:pPr>
            </a:p>
          </p:txBody>
        </p:sp>
        <p:sp>
          <p:nvSpPr>
            <p:cNvPr id="155" name="Retenu"/>
            <p:cNvSpPr txBox="1"/>
            <p:nvPr/>
          </p:nvSpPr>
          <p:spPr>
            <a:xfrm>
              <a:off x="0" y="70026"/>
              <a:ext cx="960120" cy="1342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100">
                  <a:solidFill>
                    <a:srgbClr val="FFFFFF"/>
                  </a:solidFill>
                </a:defRPr>
              </a:lvl1pPr>
            </a:lstStyle>
            <a:p>
              <a:pPr/>
              <a:r>
                <a:t>Retenu</a:t>
              </a:r>
            </a:p>
          </p:txBody>
        </p:sp>
      </p:grpSp>
      <p:sp>
        <p:nvSpPr>
          <p:cNvPr id="157" name="Text 12"/>
          <p:cNvSpPr txBox="1"/>
          <p:nvPr/>
        </p:nvSpPr>
        <p:spPr>
          <a:xfrm>
            <a:off x="8229599" y="2148839"/>
            <a:ext cx="3227834" cy="4179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400"/>
              </a:spcBef>
              <a:defRPr sz="1400"/>
            </a:lvl1pPr>
          </a:lstStyle>
          <a:p>
            <a:pPr/>
            <a:r>
              <a:t>Année de construction, nombre d'étages, surface totale</a:t>
            </a:r>
          </a:p>
        </p:txBody>
      </p:sp>
      <p:sp>
        <p:nvSpPr>
          <p:cNvPr id="158" name="Carte Usage"/>
          <p:cNvSpPr/>
          <p:nvPr/>
        </p:nvSpPr>
        <p:spPr>
          <a:xfrm>
            <a:off x="548640" y="3566159"/>
            <a:ext cx="3593592" cy="1828801"/>
          </a:xfrm>
          <a:prstGeom prst="roundRect">
            <a:avLst>
              <a:gd name="adj" fmla="val 4000"/>
            </a:avLst>
          </a:prstGeom>
          <a:solidFill>
            <a:srgbClr val="EEF3F4"/>
          </a:solidFill>
          <a:ln w="6350">
            <a:solidFill>
              <a:srgbClr val="EEF3F4"/>
            </a:solidFill>
          </a:ln>
        </p:spPr>
        <p:txBody>
          <a:bodyPr lIns="45719" rIns="45719"/>
          <a:lstStyle/>
          <a:p>
            <a:pPr/>
          </a:p>
        </p:txBody>
      </p:sp>
      <p:sp>
        <p:nvSpPr>
          <p:cNvPr id="159" name="Text 14"/>
          <p:cNvSpPr txBox="1"/>
          <p:nvPr/>
        </p:nvSpPr>
        <p:spPr>
          <a:xfrm>
            <a:off x="731519" y="3765376"/>
            <a:ext cx="2221994"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solidFill>
                  <a:schemeClr val="accent1"/>
                </a:solidFill>
              </a:defRPr>
            </a:lvl1pPr>
          </a:lstStyle>
          <a:p>
            <a:pPr/>
            <a:r>
              <a:t>Usage</a:t>
            </a:r>
          </a:p>
        </p:txBody>
      </p:sp>
      <p:grpSp>
        <p:nvGrpSpPr>
          <p:cNvPr id="162" name="Text 15"/>
          <p:cNvGrpSpPr/>
          <p:nvPr/>
        </p:nvGrpSpPr>
        <p:grpSpPr>
          <a:xfrm>
            <a:off x="2999232" y="3730752"/>
            <a:ext cx="960121" cy="274321"/>
            <a:chOff x="0" y="0"/>
            <a:chExt cx="960119" cy="274320"/>
          </a:xfrm>
        </p:grpSpPr>
        <p:sp>
          <p:nvSpPr>
            <p:cNvPr id="160" name="Rectangle"/>
            <p:cNvSpPr/>
            <p:nvPr/>
          </p:nvSpPr>
          <p:spPr>
            <a:xfrm>
              <a:off x="0" y="-1"/>
              <a:ext cx="960120" cy="274322"/>
            </a:xfrm>
            <a:prstGeom prst="rect">
              <a:avLst/>
            </a:prstGeom>
            <a:solidFill>
              <a:schemeClr val="accent3"/>
            </a:solidFill>
            <a:ln w="12700" cap="flat">
              <a:noFill/>
              <a:miter lim="400000"/>
            </a:ln>
            <a:effectLst/>
          </p:spPr>
          <p:txBody>
            <a:bodyPr wrap="square" lIns="45719" tIns="45719" rIns="45719" bIns="45719" numCol="1" anchor="ctr">
              <a:noAutofit/>
            </a:bodyPr>
            <a:lstStyle/>
            <a:p>
              <a:pPr algn="ctr">
                <a:defRPr sz="1100"/>
              </a:pPr>
            </a:p>
          </p:txBody>
        </p:sp>
        <p:sp>
          <p:nvSpPr>
            <p:cNvPr id="161" name="Retenu"/>
            <p:cNvSpPr txBox="1"/>
            <p:nvPr/>
          </p:nvSpPr>
          <p:spPr>
            <a:xfrm>
              <a:off x="0" y="70026"/>
              <a:ext cx="960120" cy="1342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100">
                  <a:solidFill>
                    <a:srgbClr val="FFFFFF"/>
                  </a:solidFill>
                </a:defRPr>
              </a:lvl1pPr>
            </a:lstStyle>
            <a:p>
              <a:pPr/>
              <a:r>
                <a:t>Retenu</a:t>
              </a:r>
            </a:p>
          </p:txBody>
        </p:sp>
      </p:grpSp>
      <p:sp>
        <p:nvSpPr>
          <p:cNvPr id="163" name="Text 16"/>
          <p:cNvSpPr txBox="1"/>
          <p:nvPr/>
        </p:nvSpPr>
        <p:spPr>
          <a:xfrm>
            <a:off x="731519" y="4160520"/>
            <a:ext cx="3227834" cy="4179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400"/>
              </a:spcBef>
              <a:defRPr sz="1400"/>
            </a:lvl1pPr>
          </a:lstStyle>
          <a:p>
            <a:pPr/>
            <a:r>
              <a:t>Usage principal (bureau, hôpital, entrepôt…), 2e et 3e usage</a:t>
            </a:r>
          </a:p>
        </p:txBody>
      </p:sp>
      <p:sp>
        <p:nvSpPr>
          <p:cNvPr id="164" name="Carte Énergie mesurée"/>
          <p:cNvSpPr/>
          <p:nvPr/>
        </p:nvSpPr>
        <p:spPr>
          <a:xfrm>
            <a:off x="4297679" y="3566159"/>
            <a:ext cx="3593593" cy="1828801"/>
          </a:xfrm>
          <a:prstGeom prst="roundRect">
            <a:avLst>
              <a:gd name="adj" fmla="val 4000"/>
            </a:avLst>
          </a:prstGeom>
          <a:solidFill>
            <a:srgbClr val="EEF3F4"/>
          </a:solidFill>
          <a:ln w="6350">
            <a:solidFill>
              <a:srgbClr val="EEF3F4"/>
            </a:solidFill>
          </a:ln>
        </p:spPr>
        <p:txBody>
          <a:bodyPr lIns="45719" rIns="45719"/>
          <a:lstStyle/>
          <a:p>
            <a:pPr/>
          </a:p>
        </p:txBody>
      </p:sp>
      <p:sp>
        <p:nvSpPr>
          <p:cNvPr id="165" name="Text 18"/>
          <p:cNvSpPr txBox="1"/>
          <p:nvPr/>
        </p:nvSpPr>
        <p:spPr>
          <a:xfrm>
            <a:off x="4480559" y="3765376"/>
            <a:ext cx="2221993"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solidFill>
                  <a:schemeClr val="accent1"/>
                </a:solidFill>
              </a:defRPr>
            </a:lvl1pPr>
          </a:lstStyle>
          <a:p>
            <a:pPr/>
            <a:r>
              <a:t>Énergie mesurée</a:t>
            </a:r>
          </a:p>
        </p:txBody>
      </p:sp>
      <p:grpSp>
        <p:nvGrpSpPr>
          <p:cNvPr id="168" name="Text 19"/>
          <p:cNvGrpSpPr/>
          <p:nvPr/>
        </p:nvGrpSpPr>
        <p:grpSpPr>
          <a:xfrm>
            <a:off x="6748271" y="3730752"/>
            <a:ext cx="960121" cy="274321"/>
            <a:chOff x="0" y="0"/>
            <a:chExt cx="960119" cy="274320"/>
          </a:xfrm>
        </p:grpSpPr>
        <p:sp>
          <p:nvSpPr>
            <p:cNvPr id="166" name="Rectangle"/>
            <p:cNvSpPr/>
            <p:nvPr/>
          </p:nvSpPr>
          <p:spPr>
            <a:xfrm>
              <a:off x="0" y="-1"/>
              <a:ext cx="960120" cy="274322"/>
            </a:xfrm>
            <a:prstGeom prst="rect">
              <a:avLst/>
            </a:prstGeom>
            <a:solidFill>
              <a:schemeClr val="accent5"/>
            </a:solidFill>
            <a:ln w="12700" cap="flat">
              <a:noFill/>
              <a:miter lim="400000"/>
            </a:ln>
            <a:effectLst/>
          </p:spPr>
          <p:txBody>
            <a:bodyPr wrap="square" lIns="45719" tIns="45719" rIns="45719" bIns="45719" numCol="1" anchor="ctr">
              <a:noAutofit/>
            </a:bodyPr>
            <a:lstStyle/>
            <a:p>
              <a:pPr algn="ctr">
                <a:defRPr sz="1100"/>
              </a:pPr>
            </a:p>
          </p:txBody>
        </p:sp>
        <p:sp>
          <p:nvSpPr>
            <p:cNvPr id="167" name="Exclu : fuite"/>
            <p:cNvSpPr txBox="1"/>
            <p:nvPr/>
          </p:nvSpPr>
          <p:spPr>
            <a:xfrm>
              <a:off x="0" y="70026"/>
              <a:ext cx="960120" cy="1342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100">
                  <a:solidFill>
                    <a:srgbClr val="FFFFFF"/>
                  </a:solidFill>
                </a:defRPr>
              </a:lvl1pPr>
            </a:lstStyle>
            <a:p>
              <a:pPr/>
              <a:r>
                <a:t>Exclu : fuite</a:t>
              </a:r>
            </a:p>
          </p:txBody>
        </p:sp>
      </p:grpSp>
      <p:sp>
        <p:nvSpPr>
          <p:cNvPr id="169" name="Text 20"/>
          <p:cNvSpPr txBox="1"/>
          <p:nvPr/>
        </p:nvSpPr>
        <p:spPr>
          <a:xfrm>
            <a:off x="4480559" y="4160520"/>
            <a:ext cx="3227833" cy="4179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400"/>
              </a:spcBef>
              <a:defRPr sz="1400"/>
            </a:lvl1pPr>
          </a:lstStyle>
          <a:p>
            <a:pPr/>
            <a:r>
              <a:t>Électricité, gaz, vapeur, intensité énergétique (kBtu/ft²)</a:t>
            </a:r>
          </a:p>
        </p:txBody>
      </p:sp>
      <p:sp>
        <p:nvSpPr>
          <p:cNvPr id="170" name="Carte Cibles"/>
          <p:cNvSpPr/>
          <p:nvPr/>
        </p:nvSpPr>
        <p:spPr>
          <a:xfrm>
            <a:off x="8046719" y="3566159"/>
            <a:ext cx="3593593" cy="1828801"/>
          </a:xfrm>
          <a:prstGeom prst="roundRect">
            <a:avLst>
              <a:gd name="adj" fmla="val 4000"/>
            </a:avLst>
          </a:prstGeom>
          <a:solidFill>
            <a:srgbClr val="EEF3F4"/>
          </a:solidFill>
          <a:ln w="6350">
            <a:solidFill>
              <a:srgbClr val="EEF3F4"/>
            </a:solidFill>
          </a:ln>
        </p:spPr>
        <p:txBody>
          <a:bodyPr lIns="45719" rIns="45719"/>
          <a:lstStyle/>
          <a:p>
            <a:pPr/>
          </a:p>
        </p:txBody>
      </p:sp>
      <p:sp>
        <p:nvSpPr>
          <p:cNvPr id="171" name="Text 22"/>
          <p:cNvSpPr txBox="1"/>
          <p:nvPr/>
        </p:nvSpPr>
        <p:spPr>
          <a:xfrm>
            <a:off x="8229599" y="3765376"/>
            <a:ext cx="2221994"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solidFill>
                  <a:schemeClr val="accent1"/>
                </a:solidFill>
              </a:defRPr>
            </a:lvl1pPr>
          </a:lstStyle>
          <a:p>
            <a:pPr/>
            <a:r>
              <a:t>Cibles</a:t>
            </a:r>
          </a:p>
        </p:txBody>
      </p:sp>
      <p:grpSp>
        <p:nvGrpSpPr>
          <p:cNvPr id="174" name="Text 23"/>
          <p:cNvGrpSpPr/>
          <p:nvPr/>
        </p:nvGrpSpPr>
        <p:grpSpPr>
          <a:xfrm>
            <a:off x="10497311" y="3730752"/>
            <a:ext cx="960121" cy="274321"/>
            <a:chOff x="0" y="0"/>
            <a:chExt cx="960119" cy="274320"/>
          </a:xfrm>
        </p:grpSpPr>
        <p:sp>
          <p:nvSpPr>
            <p:cNvPr id="172" name="Rectangle"/>
            <p:cNvSpPr/>
            <p:nvPr/>
          </p:nvSpPr>
          <p:spPr>
            <a:xfrm>
              <a:off x="0" y="-1"/>
              <a:ext cx="960120" cy="274322"/>
            </a:xfrm>
            <a:prstGeom prst="rect">
              <a:avLst/>
            </a:prstGeom>
            <a:solidFill>
              <a:schemeClr val="accent2"/>
            </a:solidFill>
            <a:ln w="12700" cap="flat">
              <a:noFill/>
              <a:miter lim="400000"/>
            </a:ln>
            <a:effectLst/>
          </p:spPr>
          <p:txBody>
            <a:bodyPr wrap="square" lIns="45719" tIns="45719" rIns="45719" bIns="45719" numCol="1" anchor="ctr">
              <a:noAutofit/>
            </a:bodyPr>
            <a:lstStyle/>
            <a:p>
              <a:pPr algn="ctr">
                <a:defRPr sz="1100"/>
              </a:pPr>
            </a:p>
          </p:txBody>
        </p:sp>
        <p:sp>
          <p:nvSpPr>
            <p:cNvPr id="173" name="À prédire"/>
            <p:cNvSpPr txBox="1"/>
            <p:nvPr/>
          </p:nvSpPr>
          <p:spPr>
            <a:xfrm>
              <a:off x="0" y="70026"/>
              <a:ext cx="960120" cy="1342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100">
                  <a:solidFill>
                    <a:srgbClr val="FFFFFF"/>
                  </a:solidFill>
                </a:defRPr>
              </a:lvl1pPr>
            </a:lstStyle>
            <a:p>
              <a:pPr/>
              <a:r>
                <a:t>À prédire</a:t>
              </a:r>
            </a:p>
          </p:txBody>
        </p:sp>
      </p:grpSp>
      <p:sp>
        <p:nvSpPr>
          <p:cNvPr id="175" name="Text 24"/>
          <p:cNvSpPr txBox="1"/>
          <p:nvPr/>
        </p:nvSpPr>
        <p:spPr>
          <a:xfrm>
            <a:off x="8229599" y="4160520"/>
            <a:ext cx="3227834" cy="4179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400"/>
              </a:spcBef>
              <a:defRPr sz="1400"/>
            </a:lvl1pPr>
          </a:lstStyle>
          <a:p>
            <a:pPr/>
            <a:r>
              <a:t>Consommation totale (kBtu) · Émissions de CO₂ (tonnes)</a:t>
            </a:r>
          </a:p>
        </p:txBody>
      </p:sp>
      <p:grpSp>
        <p:nvGrpSpPr>
          <p:cNvPr id="178" name="Message clé"/>
          <p:cNvGrpSpPr/>
          <p:nvPr/>
        </p:nvGrpSpPr>
        <p:grpSpPr>
          <a:xfrm>
            <a:off x="548640" y="5669279"/>
            <a:ext cx="11091672" cy="594361"/>
            <a:chOff x="0" y="0"/>
            <a:chExt cx="11091671" cy="594359"/>
          </a:xfrm>
        </p:grpSpPr>
        <p:sp>
          <p:nvSpPr>
            <p:cNvPr id="176" name="Rectangle"/>
            <p:cNvSpPr/>
            <p:nvPr/>
          </p:nvSpPr>
          <p:spPr>
            <a:xfrm>
              <a:off x="0" y="0"/>
              <a:ext cx="11091672" cy="594360"/>
            </a:xfrm>
            <a:prstGeom prst="rect">
              <a:avLst/>
            </a:prstGeom>
            <a:solidFill>
              <a:schemeClr val="accent1"/>
            </a:solidFill>
            <a:ln w="12700" cap="flat">
              <a:noFill/>
              <a:miter lim="400000"/>
            </a:ln>
            <a:effectLst/>
          </p:spPr>
          <p:txBody>
            <a:bodyPr wrap="square" lIns="45719" tIns="45719" rIns="45719" bIns="45719" numCol="1" anchor="ctr">
              <a:noAutofit/>
            </a:bodyPr>
            <a:lstStyle/>
            <a:p>
              <a:pPr>
                <a:defRPr sz="1600"/>
              </a:pPr>
            </a:p>
          </p:txBody>
        </p:sp>
        <p:sp>
          <p:nvSpPr>
            <p:cNvPr id="177" name="Les variables d'énergie mesurée sont le résultat qu'on cherche à prédire : on ne peut pas s'en servir comme indice"/>
            <p:cNvSpPr txBox="1"/>
            <p:nvPr/>
          </p:nvSpPr>
          <p:spPr>
            <a:xfrm>
              <a:off x="0" y="40203"/>
              <a:ext cx="11091672" cy="5139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52400" tIns="152400" rIns="152400" bIns="152400" numCol="1" anchor="ctr">
              <a:spAutoFit/>
            </a:bodyPr>
            <a:lstStyle>
              <a:lvl1pPr>
                <a:defRPr b="1" sz="1600">
                  <a:solidFill>
                    <a:srgbClr val="FFFFFF"/>
                  </a:solidFill>
                </a:defRPr>
              </a:lvl1pPr>
            </a:lstStyle>
            <a:p>
              <a:pPr/>
              <a:r>
                <a:t>Les variables d'énergie mesurée sont le résultat qu'on cherche à prédire : on ne peut pas s'en servir comme indice</a:t>
              </a:r>
            </a:p>
          </p:txBody>
        </p:sp>
      </p:grpSp>
      <p:sp>
        <p:nvSpPr>
          <p:cNvPr id="179" name="Slide Number Placeholder 0"/>
          <p:cNvSpPr txBox="1"/>
          <p:nvPr>
            <p:ph type="sldNum" sz="quarter" idx="4294967295"/>
          </p:nvPr>
        </p:nvSpPr>
        <p:spPr>
          <a:xfrm>
            <a:off x="11444371" y="6446520"/>
            <a:ext cx="168510"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3" name="Text 0"/>
          <p:cNvSpPr txBox="1"/>
          <p:nvPr/>
        </p:nvSpPr>
        <p:spPr>
          <a:xfrm>
            <a:off x="548640" y="365759"/>
            <a:ext cx="11091672" cy="9144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defRPr sz="2800">
                <a:solidFill>
                  <a:schemeClr val="accent1"/>
                </a:solidFill>
                <a:latin typeface="Cambria"/>
                <a:ea typeface="Cambria"/>
                <a:cs typeface="Cambria"/>
                <a:sym typeface="Cambria"/>
              </a:defRPr>
            </a:lvl1pPr>
          </a:lstStyle>
          <a:p>
            <a:pPr/>
            <a:r>
              <a:t>Les consommations s'étalent sur plusieurs ordres de grandeur : on modélise leur logarithme</a:t>
            </a:r>
          </a:p>
        </p:txBody>
      </p:sp>
      <p:pic>
        <p:nvPicPr>
          <p:cNvPr id="184" name="Image 0" descr="Image 0"/>
          <p:cNvPicPr>
            <a:picLocks noChangeAspect="1"/>
          </p:cNvPicPr>
          <p:nvPr/>
        </p:nvPicPr>
        <p:blipFill>
          <a:blip r:embed="rId3">
            <a:extLst/>
          </a:blip>
          <a:stretch>
            <a:fillRect/>
          </a:stretch>
        </p:blipFill>
        <p:spPr>
          <a:xfrm>
            <a:off x="548640" y="1417319"/>
            <a:ext cx="7498081" cy="3183028"/>
          </a:xfrm>
          <a:prstGeom prst="rect">
            <a:avLst/>
          </a:prstGeom>
          <a:ln w="12700">
            <a:miter lim="400000"/>
          </a:ln>
        </p:spPr>
      </p:pic>
      <p:sp>
        <p:nvSpPr>
          <p:cNvPr id="185" name="Text 1"/>
          <p:cNvSpPr txBox="1"/>
          <p:nvPr/>
        </p:nvSpPr>
        <p:spPr>
          <a:xfrm>
            <a:off x="8321040" y="1463039"/>
            <a:ext cx="3319272" cy="26150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800"/>
              </a:spcBef>
              <a:defRPr b="1">
                <a:solidFill>
                  <a:schemeClr val="accent1"/>
                </a:solidFill>
              </a:defRPr>
            </a:pPr>
            <a:r>
              <a:t>Ce qu'on voit</a:t>
            </a:r>
            <a:endParaRPr sz="1400"/>
          </a:p>
          <a:p>
            <a:pPr marL="342900" indent="-342900">
              <a:spcBef>
                <a:spcPts val="800"/>
              </a:spcBef>
              <a:buSzPct val="100000"/>
              <a:buChar char="•"/>
              <a:defRPr sz="1400"/>
            </a:pPr>
            <a:r>
              <a:t>En valeurs brutes, presque tous les bâtiments tiennent dans la première barre.</a:t>
            </a:r>
          </a:p>
          <a:p>
            <a:pPr marL="342900" indent="-342900">
              <a:spcBef>
                <a:spcPts val="800"/>
              </a:spcBef>
              <a:buSzPct val="100000"/>
              <a:buChar char="•"/>
              <a:defRPr sz="1400"/>
            </a:pPr>
            <a:r>
              <a:t>Médiane de 2,6 M kBtu, mais un maximum de 448 M : près de 4 ordres de grandeur d'écart.</a:t>
            </a:r>
          </a:p>
          <a:p>
            <a:pPr marL="342900" indent="-342900">
              <a:spcBef>
                <a:spcPts val="800"/>
              </a:spcBef>
              <a:buSzPct val="100000"/>
              <a:buChar char="•"/>
              <a:defRPr sz="1400"/>
            </a:pPr>
            <a:r>
              <a:t>Après passage au log10, la distribution devient une cloche, bien plus facile à modéliser.</a:t>
            </a:r>
          </a:p>
        </p:txBody>
      </p:sp>
      <p:sp>
        <p:nvSpPr>
          <p:cNvPr id="186" name="Text 2"/>
          <p:cNvSpPr txBox="1"/>
          <p:nvPr/>
        </p:nvSpPr>
        <p:spPr>
          <a:xfrm>
            <a:off x="548639" y="4837005"/>
            <a:ext cx="7498082"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300">
                <a:solidFill>
                  <a:schemeClr val="accent4"/>
                </a:solidFill>
              </a:defRPr>
            </a:lvl1pPr>
          </a:lstStyle>
          <a:p>
            <a:pPr/>
            <a:r>
              <a:t>Même constat pour les émissions de CO₂ : voir l'annexe.</a:t>
            </a:r>
          </a:p>
        </p:txBody>
      </p:sp>
      <p:grpSp>
        <p:nvGrpSpPr>
          <p:cNvPr id="189" name="Message clé"/>
          <p:cNvGrpSpPr/>
          <p:nvPr/>
        </p:nvGrpSpPr>
        <p:grpSpPr>
          <a:xfrm>
            <a:off x="548640" y="5669279"/>
            <a:ext cx="11091672" cy="594361"/>
            <a:chOff x="0" y="0"/>
            <a:chExt cx="11091671" cy="594359"/>
          </a:xfrm>
        </p:grpSpPr>
        <p:sp>
          <p:nvSpPr>
            <p:cNvPr id="187" name="Rectangle"/>
            <p:cNvSpPr/>
            <p:nvPr/>
          </p:nvSpPr>
          <p:spPr>
            <a:xfrm>
              <a:off x="0" y="0"/>
              <a:ext cx="11091672" cy="594360"/>
            </a:xfrm>
            <a:prstGeom prst="rect">
              <a:avLst/>
            </a:prstGeom>
            <a:solidFill>
              <a:schemeClr val="accent1"/>
            </a:solidFill>
            <a:ln w="12700" cap="flat">
              <a:noFill/>
              <a:miter lim="400000"/>
            </a:ln>
            <a:effectLst/>
          </p:spPr>
          <p:txBody>
            <a:bodyPr wrap="square" lIns="45719" tIns="45719" rIns="45719" bIns="45719" numCol="1" anchor="ctr">
              <a:noAutofit/>
            </a:bodyPr>
            <a:lstStyle/>
            <a:p>
              <a:pPr>
                <a:defRPr sz="1600"/>
              </a:pPr>
            </a:p>
          </p:txBody>
        </p:sp>
        <p:sp>
          <p:nvSpPr>
            <p:cNvPr id="188" name="Quelques très gros bâtiments écrasent la moyenne : sans le log, le modèle ne ferait attention qu'à eux"/>
            <p:cNvSpPr txBox="1"/>
            <p:nvPr/>
          </p:nvSpPr>
          <p:spPr>
            <a:xfrm>
              <a:off x="0" y="40203"/>
              <a:ext cx="11091672" cy="5139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52400" tIns="152400" rIns="152400" bIns="152400" numCol="1" anchor="ctr">
              <a:spAutoFit/>
            </a:bodyPr>
            <a:lstStyle>
              <a:lvl1pPr>
                <a:defRPr b="1" sz="1600">
                  <a:solidFill>
                    <a:srgbClr val="FFFFFF"/>
                  </a:solidFill>
                </a:defRPr>
              </a:lvl1pPr>
            </a:lstStyle>
            <a:p>
              <a:pPr/>
              <a:r>
                <a:t>Quelques très gros bâtiments écrasent la moyenne : sans le log, le modèle ne ferait attention qu'à eux</a:t>
              </a:r>
            </a:p>
          </p:txBody>
        </p:sp>
      </p:grpSp>
      <p:sp>
        <p:nvSpPr>
          <p:cNvPr id="190" name="Slide Number Placeholder 0"/>
          <p:cNvSpPr txBox="1"/>
          <p:nvPr>
            <p:ph type="sldNum" sz="quarter" idx="4294967295"/>
          </p:nvPr>
        </p:nvSpPr>
        <p:spPr>
          <a:xfrm>
            <a:off x="11444371" y="6446520"/>
            <a:ext cx="168510"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4" name="Text 0"/>
          <p:cNvSpPr txBox="1"/>
          <p:nvPr/>
        </p:nvSpPr>
        <p:spPr>
          <a:xfrm>
            <a:off x="548640" y="365759"/>
            <a:ext cx="11091672" cy="9144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defRPr sz="2800">
                <a:solidFill>
                  <a:schemeClr val="accent1"/>
                </a:solidFill>
                <a:latin typeface="Cambria"/>
                <a:ea typeface="Cambria"/>
                <a:cs typeface="Cambria"/>
                <a:sym typeface="Cambria"/>
              </a:defRPr>
            </a:lvl1pPr>
          </a:lstStyle>
          <a:p>
            <a:pPr/>
            <a:r>
              <a:t>Plus un bâtiment est grand, plus il consomme : la surface donne l'ordre de grandeur</a:t>
            </a:r>
          </a:p>
        </p:txBody>
      </p:sp>
      <p:pic>
        <p:nvPicPr>
          <p:cNvPr id="195" name="Image 0" descr="Image 0"/>
          <p:cNvPicPr>
            <a:picLocks noChangeAspect="1"/>
          </p:cNvPicPr>
          <p:nvPr/>
        </p:nvPicPr>
        <p:blipFill>
          <a:blip r:embed="rId3">
            <a:extLst/>
          </a:blip>
          <a:stretch>
            <a:fillRect/>
          </a:stretch>
        </p:blipFill>
        <p:spPr>
          <a:xfrm>
            <a:off x="548640" y="1417319"/>
            <a:ext cx="6793079" cy="4069081"/>
          </a:xfrm>
          <a:prstGeom prst="rect">
            <a:avLst/>
          </a:prstGeom>
          <a:ln w="12700">
            <a:miter lim="400000"/>
          </a:ln>
        </p:spPr>
      </p:pic>
      <p:sp>
        <p:nvSpPr>
          <p:cNvPr id="196" name="Text 1"/>
          <p:cNvSpPr txBox="1"/>
          <p:nvPr/>
        </p:nvSpPr>
        <p:spPr>
          <a:xfrm>
            <a:off x="7680959" y="1463039"/>
            <a:ext cx="3959353" cy="19264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800"/>
              </a:spcBef>
              <a:defRPr b="1">
                <a:solidFill>
                  <a:schemeClr val="accent1"/>
                </a:solidFill>
              </a:defRPr>
            </a:pPr>
            <a:r>
              <a:t>Ce qu'on voit</a:t>
            </a:r>
            <a:endParaRPr sz="1500"/>
          </a:p>
          <a:p>
            <a:pPr marL="342900" indent="-342900">
              <a:spcBef>
                <a:spcPts val="800"/>
              </a:spcBef>
              <a:buSzPct val="100000"/>
              <a:buChar char="•"/>
              <a:defRPr sz="1500"/>
            </a:pPr>
            <a:r>
              <a:t>Relation croissante nette entre surface et consommation.</a:t>
            </a:r>
          </a:p>
          <a:p>
            <a:pPr marL="342900" indent="-342900">
              <a:spcBef>
                <a:spcPts val="800"/>
              </a:spcBef>
              <a:buSzPct val="100000"/>
              <a:buChar char="•"/>
              <a:defRPr sz="1500"/>
            </a:pPr>
            <a:r>
              <a:t>Les grands bureaux (rouge) sont en haut à droite, les entrepôts (vert) plutôt en bas.</a:t>
            </a:r>
          </a:p>
          <a:p>
            <a:pPr marL="342900" indent="-342900">
              <a:spcBef>
                <a:spcPts val="800"/>
              </a:spcBef>
              <a:buSzPct val="100000"/>
              <a:buChar char="•"/>
              <a:defRPr sz="1500"/>
            </a:pPr>
            <a:r>
              <a:t>À surface égale, l'écart peut dépasser un facteur 10 : l'usage et d'autres facteurs jouent.</a:t>
            </a:r>
          </a:p>
        </p:txBody>
      </p:sp>
      <p:grpSp>
        <p:nvGrpSpPr>
          <p:cNvPr id="199" name="Message clé"/>
          <p:cNvGrpSpPr/>
          <p:nvPr/>
        </p:nvGrpSpPr>
        <p:grpSpPr>
          <a:xfrm>
            <a:off x="548640" y="5669279"/>
            <a:ext cx="11091672" cy="594361"/>
            <a:chOff x="0" y="0"/>
            <a:chExt cx="11091671" cy="594359"/>
          </a:xfrm>
        </p:grpSpPr>
        <p:sp>
          <p:nvSpPr>
            <p:cNvPr id="197" name="Rectangle"/>
            <p:cNvSpPr/>
            <p:nvPr/>
          </p:nvSpPr>
          <p:spPr>
            <a:xfrm>
              <a:off x="0" y="0"/>
              <a:ext cx="11091672" cy="594360"/>
            </a:xfrm>
            <a:prstGeom prst="rect">
              <a:avLst/>
            </a:prstGeom>
            <a:solidFill>
              <a:schemeClr val="accent1"/>
            </a:solidFill>
            <a:ln w="12700" cap="flat">
              <a:noFill/>
              <a:miter lim="400000"/>
            </a:ln>
            <a:effectLst/>
          </p:spPr>
          <p:txBody>
            <a:bodyPr wrap="square" lIns="45719" tIns="45719" rIns="45719" bIns="45719" numCol="1" anchor="ctr">
              <a:noAutofit/>
            </a:bodyPr>
            <a:lstStyle/>
            <a:p>
              <a:pPr>
                <a:defRPr sz="1600"/>
              </a:pPr>
            </a:p>
          </p:txBody>
        </p:sp>
        <p:sp>
          <p:nvSpPr>
            <p:cNvPr id="198" name="La surface est la variable la plus structurante : elle sera au cœur du modèle"/>
            <p:cNvSpPr txBox="1"/>
            <p:nvPr/>
          </p:nvSpPr>
          <p:spPr>
            <a:xfrm>
              <a:off x="0" y="40203"/>
              <a:ext cx="11091672" cy="5139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52400" tIns="152400" rIns="152400" bIns="152400" numCol="1" anchor="ctr">
              <a:spAutoFit/>
            </a:bodyPr>
            <a:lstStyle>
              <a:lvl1pPr>
                <a:defRPr b="1" sz="1600">
                  <a:solidFill>
                    <a:srgbClr val="FFFFFF"/>
                  </a:solidFill>
                </a:defRPr>
              </a:lvl1pPr>
            </a:lstStyle>
            <a:p>
              <a:pPr/>
              <a:r>
                <a:t>La surface est la variable la plus structurante : elle sera au cœur du modèle</a:t>
              </a:r>
            </a:p>
          </p:txBody>
        </p:sp>
      </p:grpSp>
      <p:sp>
        <p:nvSpPr>
          <p:cNvPr id="200" name="Slide Number Placeholder 0"/>
          <p:cNvSpPr txBox="1"/>
          <p:nvPr>
            <p:ph type="sldNum" sz="quarter" idx="4294967295"/>
          </p:nvPr>
        </p:nvSpPr>
        <p:spPr>
          <a:xfrm>
            <a:off x="11444371" y="6446520"/>
            <a:ext cx="168510"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4" name="Text 0"/>
          <p:cNvSpPr txBox="1"/>
          <p:nvPr/>
        </p:nvSpPr>
        <p:spPr>
          <a:xfrm>
            <a:off x="548640" y="365759"/>
            <a:ext cx="11091672" cy="9144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defRPr sz="2800">
                <a:solidFill>
                  <a:schemeClr val="accent1"/>
                </a:solidFill>
                <a:latin typeface="Cambria"/>
                <a:ea typeface="Cambria"/>
                <a:cs typeface="Cambria"/>
                <a:sym typeface="Cambria"/>
              </a:defRPr>
            </a:lvl1pPr>
          </a:lstStyle>
          <a:p>
            <a:pPr/>
            <a:r>
              <a:t>L'usage du bâtiment change fortement la consommation ; son année de construction, bien moins</a:t>
            </a:r>
          </a:p>
        </p:txBody>
      </p:sp>
      <p:pic>
        <p:nvPicPr>
          <p:cNvPr id="205" name="Image 0" descr="Image 0"/>
          <p:cNvPicPr>
            <a:picLocks noChangeAspect="1"/>
          </p:cNvPicPr>
          <p:nvPr/>
        </p:nvPicPr>
        <p:blipFill>
          <a:blip r:embed="rId3">
            <a:extLst/>
          </a:blip>
          <a:stretch>
            <a:fillRect/>
          </a:stretch>
        </p:blipFill>
        <p:spPr>
          <a:xfrm>
            <a:off x="548640" y="1417319"/>
            <a:ext cx="6858001" cy="4087369"/>
          </a:xfrm>
          <a:prstGeom prst="rect">
            <a:avLst/>
          </a:prstGeom>
          <a:ln w="12700">
            <a:miter lim="400000"/>
          </a:ln>
        </p:spPr>
      </p:pic>
      <p:sp>
        <p:nvSpPr>
          <p:cNvPr id="206" name="Text 1"/>
          <p:cNvSpPr txBox="1"/>
          <p:nvPr/>
        </p:nvSpPr>
        <p:spPr>
          <a:xfrm>
            <a:off x="7680959" y="1463039"/>
            <a:ext cx="3959353" cy="27166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800"/>
              </a:spcBef>
              <a:defRPr b="1">
                <a:solidFill>
                  <a:schemeClr val="accent1"/>
                </a:solidFill>
              </a:defRPr>
            </a:pPr>
            <a:r>
              <a:t>Ce qu'on voit</a:t>
            </a:r>
            <a:endParaRPr sz="1400"/>
          </a:p>
          <a:p>
            <a:pPr marL="342900" indent="-342900">
              <a:spcBef>
                <a:spcPts val="800"/>
              </a:spcBef>
              <a:buSzPct val="100000"/>
              <a:buChar char="•"/>
              <a:defRPr sz="1400"/>
            </a:pPr>
            <a:r>
              <a:t>Les hôpitaux sont en tête, loin devant les laboratoires et les grands bureaux.</a:t>
            </a:r>
          </a:p>
          <a:p>
            <a:pPr marL="342900" indent="-342900">
              <a:spcBef>
                <a:spcPts val="800"/>
              </a:spcBef>
              <a:buSzPct val="100000"/>
              <a:buChar char="•"/>
              <a:defRPr sz="1400"/>
            </a:pPr>
            <a:r>
              <a:t>Entrepôts, lieux de culte et espaces de stockage sont tout en bas.</a:t>
            </a:r>
          </a:p>
          <a:p>
            <a:pPr marL="342900" indent="-342900">
              <a:spcBef>
                <a:spcPts val="800"/>
              </a:spcBef>
              <a:buSzPct val="100000"/>
              <a:buChar char="•"/>
              <a:defRPr sz="1400"/>
            </a:pPr>
            <a:r>
              <a:t>À usage égal, l'écart reste souvent d'un facteur 5 à 10 : la surface compte aussi.</a:t>
            </a:r>
          </a:p>
          <a:p>
            <a:pPr marL="342900" indent="-342900">
              <a:spcBef>
                <a:spcPts val="800"/>
              </a:spcBef>
              <a:buSzPct val="100000"/>
              <a:buChar char="•"/>
              <a:defRPr sz="1400"/>
            </a:pPr>
            <a:r>
              <a:t>Les bâtiments construits depuis 1990 consomment davantage en médiane, en grande partie parce qu'ils sont plus grands (annexe).</a:t>
            </a:r>
          </a:p>
        </p:txBody>
      </p:sp>
      <p:grpSp>
        <p:nvGrpSpPr>
          <p:cNvPr id="209" name="Message clé"/>
          <p:cNvGrpSpPr/>
          <p:nvPr/>
        </p:nvGrpSpPr>
        <p:grpSpPr>
          <a:xfrm>
            <a:off x="548640" y="5669279"/>
            <a:ext cx="11091672" cy="594361"/>
            <a:chOff x="0" y="0"/>
            <a:chExt cx="11091671" cy="594359"/>
          </a:xfrm>
        </p:grpSpPr>
        <p:sp>
          <p:nvSpPr>
            <p:cNvPr id="207" name="Rectangle"/>
            <p:cNvSpPr/>
            <p:nvPr/>
          </p:nvSpPr>
          <p:spPr>
            <a:xfrm>
              <a:off x="0" y="0"/>
              <a:ext cx="11091672" cy="594360"/>
            </a:xfrm>
            <a:prstGeom prst="rect">
              <a:avLst/>
            </a:prstGeom>
            <a:solidFill>
              <a:schemeClr val="accent1"/>
            </a:solidFill>
            <a:ln w="12700" cap="flat">
              <a:noFill/>
              <a:miter lim="400000"/>
            </a:ln>
            <a:effectLst/>
          </p:spPr>
          <p:txBody>
            <a:bodyPr wrap="square" lIns="45719" tIns="45719" rIns="45719" bIns="45719" numCol="1" anchor="ctr">
              <a:noAutofit/>
            </a:bodyPr>
            <a:lstStyle/>
            <a:p>
              <a:pPr>
                <a:defRPr sz="1600"/>
              </a:pPr>
            </a:p>
          </p:txBody>
        </p:sp>
        <p:sp>
          <p:nvSpPr>
            <p:cNvPr id="208" name="Surface et usage sont les deux informations à donner au modèle en priorité"/>
            <p:cNvSpPr txBox="1"/>
            <p:nvPr/>
          </p:nvSpPr>
          <p:spPr>
            <a:xfrm>
              <a:off x="0" y="40203"/>
              <a:ext cx="11091672" cy="5139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52400" tIns="152400" rIns="152400" bIns="152400" numCol="1" anchor="ctr">
              <a:spAutoFit/>
            </a:bodyPr>
            <a:lstStyle>
              <a:lvl1pPr>
                <a:defRPr b="1" sz="1600">
                  <a:solidFill>
                    <a:srgbClr val="FFFFFF"/>
                  </a:solidFill>
                </a:defRPr>
              </a:lvl1pPr>
            </a:lstStyle>
            <a:p>
              <a:pPr/>
              <a:r>
                <a:t>Surface et usage sont les deux informations à donner au modèle en priorité</a:t>
              </a:r>
            </a:p>
          </p:txBody>
        </p:sp>
      </p:grpSp>
      <p:sp>
        <p:nvSpPr>
          <p:cNvPr id="210" name="Slide Number Placeholder 0"/>
          <p:cNvSpPr txBox="1"/>
          <p:nvPr>
            <p:ph type="sldNum" sz="quarter" idx="4294967295"/>
          </p:nvPr>
        </p:nvSpPr>
        <p:spPr>
          <a:xfrm>
            <a:off x="11444371" y="6446520"/>
            <a:ext cx="168510"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4" name="Text 0"/>
          <p:cNvSpPr txBox="1"/>
          <p:nvPr/>
        </p:nvSpPr>
        <p:spPr>
          <a:xfrm>
            <a:off x="548640" y="365759"/>
            <a:ext cx="11091672" cy="9144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defRPr sz="2800">
                <a:solidFill>
                  <a:schemeClr val="accent1"/>
                </a:solidFill>
                <a:latin typeface="Cambria"/>
                <a:ea typeface="Cambria"/>
                <a:cs typeface="Cambria"/>
                <a:sym typeface="Cambria"/>
              </a:defRPr>
            </a:lvl1pPr>
          </a:lstStyle>
          <a:p>
            <a:pPr/>
            <a:r>
              <a:t>Préparation des données : quatre choix structurants, et les hypothèses qui vont avec</a:t>
            </a:r>
          </a:p>
        </p:txBody>
      </p:sp>
      <p:sp>
        <p:nvSpPr>
          <p:cNvPr id="215" name="Shape 1"/>
          <p:cNvSpPr/>
          <p:nvPr/>
        </p:nvSpPr>
        <p:spPr>
          <a:xfrm>
            <a:off x="548640" y="1554480"/>
            <a:ext cx="5468112" cy="1920240"/>
          </a:xfrm>
          <a:prstGeom prst="roundRect">
            <a:avLst>
              <a:gd name="adj" fmla="val 3810"/>
            </a:avLst>
          </a:prstGeom>
          <a:solidFill>
            <a:srgbClr val="EEF3F4"/>
          </a:solidFill>
          <a:ln w="6350">
            <a:solidFill>
              <a:srgbClr val="EEF3F4"/>
            </a:solidFill>
          </a:ln>
        </p:spPr>
        <p:txBody>
          <a:bodyPr lIns="45719" rIns="45719"/>
          <a:lstStyle/>
          <a:p>
            <a:pPr/>
          </a:p>
        </p:txBody>
      </p:sp>
      <p:sp>
        <p:nvSpPr>
          <p:cNvPr id="216" name="Text 2"/>
          <p:cNvSpPr txBox="1"/>
          <p:nvPr/>
        </p:nvSpPr>
        <p:spPr>
          <a:xfrm>
            <a:off x="731519" y="1726264"/>
            <a:ext cx="5120642"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solidFill>
                  <a:schemeClr val="accent1"/>
                </a:solidFill>
              </a:defRPr>
            </a:lvl1pPr>
          </a:lstStyle>
          <a:p>
            <a:pPr/>
            <a:r>
              <a:t>Retirer les colonnes de fuite</a:t>
            </a:r>
          </a:p>
        </p:txBody>
      </p:sp>
      <p:sp>
        <p:nvSpPr>
          <p:cNvPr id="217" name="Text 3"/>
          <p:cNvSpPr txBox="1"/>
          <p:nvPr/>
        </p:nvSpPr>
        <p:spPr>
          <a:xfrm>
            <a:off x="731519" y="2103120"/>
            <a:ext cx="5120642" cy="7227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600"/>
              </a:spcBef>
              <a:defRPr sz="1400"/>
            </a:pPr>
            <a:r>
              <a:t>On exclut tout ce qui est calculé à partir de la consommation (intensités, électricité, gaz, vapeur).</a:t>
            </a:r>
          </a:p>
          <a:p>
            <a:pPr>
              <a:spcBef>
                <a:spcPts val="600"/>
              </a:spcBef>
              <a:defRPr i="1" sz="1400">
                <a:solidFill>
                  <a:schemeClr val="accent4"/>
                </a:solidFill>
              </a:defRPr>
            </a:pPr>
            <a:r>
              <a:t>Hypothèse : on prédit sans aucun relevé.</a:t>
            </a:r>
          </a:p>
        </p:txBody>
      </p:sp>
      <p:sp>
        <p:nvSpPr>
          <p:cNvPr id="218" name="Shape 4"/>
          <p:cNvSpPr/>
          <p:nvPr/>
        </p:nvSpPr>
        <p:spPr>
          <a:xfrm>
            <a:off x="6172200" y="1554480"/>
            <a:ext cx="5468112" cy="1920240"/>
          </a:xfrm>
          <a:prstGeom prst="roundRect">
            <a:avLst>
              <a:gd name="adj" fmla="val 3810"/>
            </a:avLst>
          </a:prstGeom>
          <a:solidFill>
            <a:srgbClr val="EEF3F4"/>
          </a:solidFill>
          <a:ln w="6350">
            <a:solidFill>
              <a:srgbClr val="EEF3F4"/>
            </a:solidFill>
          </a:ln>
        </p:spPr>
        <p:txBody>
          <a:bodyPr lIns="45719" rIns="45719"/>
          <a:lstStyle/>
          <a:p>
            <a:pPr/>
          </a:p>
        </p:txBody>
      </p:sp>
      <p:sp>
        <p:nvSpPr>
          <p:cNvPr id="219" name="Text 5"/>
          <p:cNvSpPr txBox="1"/>
          <p:nvPr/>
        </p:nvSpPr>
        <p:spPr>
          <a:xfrm>
            <a:off x="6355079" y="1726264"/>
            <a:ext cx="5120641"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solidFill>
                  <a:schemeClr val="accent1"/>
                </a:solidFill>
              </a:defRPr>
            </a:lvl1pPr>
          </a:lstStyle>
          <a:p>
            <a:pPr/>
            <a:r>
              <a:t>Passer au logarithme</a:t>
            </a:r>
          </a:p>
        </p:txBody>
      </p:sp>
      <p:sp>
        <p:nvSpPr>
          <p:cNvPr id="220" name="Text 6"/>
          <p:cNvSpPr txBox="1"/>
          <p:nvPr/>
        </p:nvSpPr>
        <p:spPr>
          <a:xfrm>
            <a:off x="6355079" y="2103120"/>
            <a:ext cx="5120641" cy="7227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600"/>
              </a:spcBef>
              <a:defRPr sz="1400"/>
            </a:pPr>
            <a:r>
              <a:t>Les deux cibles sont modélisées en log10, puis ramenées à des erreurs en pourcentage.</a:t>
            </a:r>
          </a:p>
          <a:p>
            <a:pPr>
              <a:spcBef>
                <a:spcPts val="600"/>
              </a:spcBef>
              <a:defRPr i="1" sz="1400">
                <a:solidFill>
                  <a:schemeClr val="accent4"/>
                </a:solidFill>
              </a:defRPr>
            </a:pPr>
            <a:r>
              <a:t>Hypothèse : l'erreur relative compte plus que l'erreur absolue.</a:t>
            </a:r>
          </a:p>
        </p:txBody>
      </p:sp>
      <p:sp>
        <p:nvSpPr>
          <p:cNvPr id="221" name="Shape 7"/>
          <p:cNvSpPr/>
          <p:nvPr/>
        </p:nvSpPr>
        <p:spPr>
          <a:xfrm>
            <a:off x="548640" y="3657600"/>
            <a:ext cx="5468112" cy="1920240"/>
          </a:xfrm>
          <a:prstGeom prst="roundRect">
            <a:avLst>
              <a:gd name="adj" fmla="val 3810"/>
            </a:avLst>
          </a:prstGeom>
          <a:solidFill>
            <a:srgbClr val="EEF3F4"/>
          </a:solidFill>
          <a:ln w="6350">
            <a:solidFill>
              <a:srgbClr val="EEF3F4"/>
            </a:solidFill>
          </a:ln>
        </p:spPr>
        <p:txBody>
          <a:bodyPr lIns="45719" rIns="45719"/>
          <a:lstStyle/>
          <a:p>
            <a:pPr/>
          </a:p>
        </p:txBody>
      </p:sp>
      <p:sp>
        <p:nvSpPr>
          <p:cNvPr id="222" name="Text 8"/>
          <p:cNvSpPr txBox="1"/>
          <p:nvPr/>
        </p:nvSpPr>
        <p:spPr>
          <a:xfrm>
            <a:off x="731519" y="3829384"/>
            <a:ext cx="5120642"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solidFill>
                  <a:schemeClr val="accent1"/>
                </a:solidFill>
              </a:defRPr>
            </a:lvl1pPr>
          </a:lstStyle>
          <a:p>
            <a:pPr/>
            <a:r>
              <a:t>Encoder les usages</a:t>
            </a:r>
          </a:p>
        </p:txBody>
      </p:sp>
      <p:sp>
        <p:nvSpPr>
          <p:cNvPr id="223" name="Text 9"/>
          <p:cNvSpPr txBox="1"/>
          <p:nvPr/>
        </p:nvSpPr>
        <p:spPr>
          <a:xfrm>
            <a:off x="731519" y="4206240"/>
            <a:ext cx="5120642" cy="7227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600"/>
              </a:spcBef>
              <a:defRPr sz="1400"/>
            </a:pPr>
            <a:r>
              <a:t>Les types d'usage (texte) sont convertis en colonnes numériques par encodage binaire.</a:t>
            </a:r>
          </a:p>
          <a:p>
            <a:pPr>
              <a:spcBef>
                <a:spcPts val="600"/>
              </a:spcBef>
              <a:defRPr i="1" sz="1400">
                <a:solidFill>
                  <a:schemeClr val="accent4"/>
                </a:solidFill>
              </a:defRPr>
            </a:pPr>
            <a:r>
              <a:t>Hypothèse : peu de catégories rares, pas d'ordre entre elles.</a:t>
            </a:r>
          </a:p>
        </p:txBody>
      </p:sp>
      <p:sp>
        <p:nvSpPr>
          <p:cNvPr id="224" name="Shape 10"/>
          <p:cNvSpPr/>
          <p:nvPr/>
        </p:nvSpPr>
        <p:spPr>
          <a:xfrm>
            <a:off x="6172200" y="3657600"/>
            <a:ext cx="5468112" cy="1920240"/>
          </a:xfrm>
          <a:prstGeom prst="roundRect">
            <a:avLst>
              <a:gd name="adj" fmla="val 3810"/>
            </a:avLst>
          </a:prstGeom>
          <a:solidFill>
            <a:srgbClr val="EEF3F4"/>
          </a:solidFill>
          <a:ln w="6350">
            <a:solidFill>
              <a:srgbClr val="EEF3F4"/>
            </a:solidFill>
          </a:ln>
        </p:spPr>
        <p:txBody>
          <a:bodyPr lIns="45719" rIns="45719"/>
          <a:lstStyle/>
          <a:p>
            <a:pPr/>
          </a:p>
        </p:txBody>
      </p:sp>
      <p:sp>
        <p:nvSpPr>
          <p:cNvPr id="225" name="Text 11"/>
          <p:cNvSpPr txBox="1"/>
          <p:nvPr/>
        </p:nvSpPr>
        <p:spPr>
          <a:xfrm>
            <a:off x="6355079" y="3829384"/>
            <a:ext cx="5120641"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solidFill>
                  <a:schemeClr val="accent1"/>
                </a:solidFill>
              </a:defRPr>
            </a:lvl1pPr>
          </a:lstStyle>
          <a:p>
            <a:pPr/>
            <a:r>
              <a:t>Écarter les lignes douteuses</a:t>
            </a:r>
          </a:p>
        </p:txBody>
      </p:sp>
      <p:sp>
        <p:nvSpPr>
          <p:cNvPr id="226" name="Text 12"/>
          <p:cNvSpPr txBox="1"/>
          <p:nvPr/>
        </p:nvSpPr>
        <p:spPr>
          <a:xfrm>
            <a:off x="6355079" y="4206240"/>
            <a:ext cx="5120641" cy="7227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600"/>
              </a:spcBef>
              <a:defRPr sz="1400"/>
            </a:pPr>
            <a:r>
              <a:t>Cibles positives, bâtiments et étages renseignés, hors outliers signalés par la ville et données non conformes.</a:t>
            </a:r>
          </a:p>
          <a:p>
            <a:pPr>
              <a:spcBef>
                <a:spcPts val="600"/>
              </a:spcBef>
              <a:defRPr i="1" sz="1400">
                <a:solidFill>
                  <a:schemeClr val="accent4"/>
                </a:solidFill>
              </a:defRPr>
            </a:pPr>
            <a:r>
              <a:t>Hypothèse : 2016 est représentative des années suivantes.</a:t>
            </a:r>
          </a:p>
        </p:txBody>
      </p:sp>
      <p:sp>
        <p:nvSpPr>
          <p:cNvPr id="227" name="Text 13"/>
          <p:cNvSpPr txBox="1"/>
          <p:nvPr/>
        </p:nvSpPr>
        <p:spPr>
          <a:xfrm>
            <a:off x="548640" y="5967905"/>
            <a:ext cx="11091672"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100">
                <a:solidFill>
                  <a:schemeClr val="accent4"/>
                </a:solidFill>
              </a:defRPr>
            </a:lvl1pPr>
          </a:lstStyle>
          <a:p>
            <a:pPr/>
            <a:r>
              <a:t>Les variables d'énergie mesurée sont exclues, y compris les parts de vapeur, gaz et électricité.</a:t>
            </a:r>
          </a:p>
        </p:txBody>
      </p:sp>
      <p:sp>
        <p:nvSpPr>
          <p:cNvPr id="228" name="Slide Number Placeholder 0"/>
          <p:cNvSpPr txBox="1"/>
          <p:nvPr>
            <p:ph type="sldNum" sz="quarter" idx="4294967295"/>
          </p:nvPr>
        </p:nvSpPr>
        <p:spPr>
          <a:xfrm>
            <a:off x="11444371" y="6446520"/>
            <a:ext cx="168510"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2" name="Text 0"/>
          <p:cNvSpPr txBox="1"/>
          <p:nvPr/>
        </p:nvSpPr>
        <p:spPr>
          <a:xfrm>
            <a:off x="548640" y="365759"/>
            <a:ext cx="11091672" cy="9144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defRPr sz="2800">
                <a:solidFill>
                  <a:schemeClr val="accent1"/>
                </a:solidFill>
                <a:latin typeface="Cambria"/>
                <a:ea typeface="Cambria"/>
                <a:cs typeface="Cambria"/>
                <a:sym typeface="Cambria"/>
              </a:defRPr>
            </a:lvl1pPr>
          </a:lstStyle>
          <a:p>
            <a:pPr/>
            <a:r>
              <a:t>Les variables du modèle se regroupent en trois familles, toutes connues sans relevé</a:t>
            </a:r>
          </a:p>
        </p:txBody>
      </p:sp>
      <p:grpSp>
        <p:nvGrpSpPr>
          <p:cNvPr id="235" name="Text 1"/>
          <p:cNvGrpSpPr/>
          <p:nvPr/>
        </p:nvGrpSpPr>
        <p:grpSpPr>
          <a:xfrm>
            <a:off x="548639" y="1463039"/>
            <a:ext cx="2103122" cy="1005840"/>
            <a:chOff x="0" y="0"/>
            <a:chExt cx="2103120" cy="1005838"/>
          </a:xfrm>
        </p:grpSpPr>
        <p:sp>
          <p:nvSpPr>
            <p:cNvPr id="233" name="Rectangle"/>
            <p:cNvSpPr/>
            <p:nvPr/>
          </p:nvSpPr>
          <p:spPr>
            <a:xfrm>
              <a:off x="-1" y="0"/>
              <a:ext cx="2103122" cy="1005839"/>
            </a:xfrm>
            <a:prstGeom prst="rect">
              <a:avLst/>
            </a:prstGeom>
            <a:solidFill>
              <a:schemeClr val="accent3"/>
            </a:solidFill>
            <a:ln w="12700" cap="flat">
              <a:noFill/>
              <a:miter lim="400000"/>
            </a:ln>
            <a:effectLst/>
          </p:spPr>
          <p:txBody>
            <a:bodyPr wrap="square" lIns="45719" tIns="45719" rIns="45719" bIns="45719" numCol="1" anchor="ctr">
              <a:noAutofit/>
            </a:bodyPr>
            <a:lstStyle/>
            <a:p>
              <a:pPr>
                <a:defRPr sz="2000"/>
              </a:pPr>
            </a:p>
          </p:txBody>
        </p:sp>
        <p:sp>
          <p:nvSpPr>
            <p:cNvPr id="234" name="Taille"/>
            <p:cNvSpPr txBox="1"/>
            <p:nvPr/>
          </p:nvSpPr>
          <p:spPr>
            <a:xfrm>
              <a:off x="-1" y="226148"/>
              <a:ext cx="2103122" cy="55354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52400" tIns="152400" rIns="152400" bIns="152400" numCol="1" anchor="ctr">
              <a:spAutoFit/>
            </a:bodyPr>
            <a:lstStyle>
              <a:lvl1pPr>
                <a:defRPr b="1" sz="2000">
                  <a:solidFill>
                    <a:srgbClr val="FFFFFF"/>
                  </a:solidFill>
                </a:defRPr>
              </a:lvl1pPr>
            </a:lstStyle>
            <a:p>
              <a:pPr/>
              <a:r>
                <a:t>Taille</a:t>
              </a:r>
            </a:p>
          </p:txBody>
        </p:sp>
      </p:grpSp>
      <p:grpSp>
        <p:nvGrpSpPr>
          <p:cNvPr id="238" name="Text 2"/>
          <p:cNvGrpSpPr/>
          <p:nvPr/>
        </p:nvGrpSpPr>
        <p:grpSpPr>
          <a:xfrm>
            <a:off x="2743200" y="1463039"/>
            <a:ext cx="8897112" cy="1005840"/>
            <a:chOff x="0" y="0"/>
            <a:chExt cx="8897111" cy="1005838"/>
          </a:xfrm>
        </p:grpSpPr>
        <p:sp>
          <p:nvSpPr>
            <p:cNvPr id="236" name="Rectangle"/>
            <p:cNvSpPr/>
            <p:nvPr/>
          </p:nvSpPr>
          <p:spPr>
            <a:xfrm>
              <a:off x="0" y="0"/>
              <a:ext cx="8897112" cy="1005839"/>
            </a:xfrm>
            <a:prstGeom prst="rect">
              <a:avLst/>
            </a:prstGeom>
            <a:solidFill>
              <a:srgbClr val="EEF3F4"/>
            </a:solidFill>
            <a:ln w="12700" cap="flat">
              <a:noFill/>
              <a:miter lim="400000"/>
            </a:ln>
            <a:effectLst/>
          </p:spPr>
          <p:txBody>
            <a:bodyPr wrap="square" lIns="45719" tIns="45719" rIns="45719" bIns="45719" numCol="1" anchor="ctr">
              <a:noAutofit/>
            </a:bodyPr>
            <a:lstStyle/>
            <a:p>
              <a:pPr>
                <a:defRPr sz="1600"/>
              </a:pPr>
            </a:p>
          </p:txBody>
        </p:sp>
        <p:sp>
          <p:nvSpPr>
            <p:cNvPr id="237" name="Surface totale · surface par étage · nombre d'étages · nombre de bâtiments"/>
            <p:cNvSpPr txBox="1"/>
            <p:nvPr/>
          </p:nvSpPr>
          <p:spPr>
            <a:xfrm>
              <a:off x="0" y="245942"/>
              <a:ext cx="8897112" cy="51395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52400" tIns="152400" rIns="152400" bIns="152400" numCol="1" anchor="ctr">
              <a:spAutoFit/>
            </a:bodyPr>
            <a:lstStyle>
              <a:lvl1pPr>
                <a:defRPr sz="1600"/>
              </a:lvl1pPr>
            </a:lstStyle>
            <a:p>
              <a:pPr/>
              <a:r>
                <a:t>Surface totale · surface par étage · nombre d'étages · nombre de bâtiments</a:t>
              </a:r>
            </a:p>
          </p:txBody>
        </p:sp>
      </p:grpSp>
      <p:grpSp>
        <p:nvGrpSpPr>
          <p:cNvPr id="241" name="Text 3"/>
          <p:cNvGrpSpPr/>
          <p:nvPr/>
        </p:nvGrpSpPr>
        <p:grpSpPr>
          <a:xfrm>
            <a:off x="548639" y="2651760"/>
            <a:ext cx="2103122" cy="1005840"/>
            <a:chOff x="0" y="0"/>
            <a:chExt cx="2103120" cy="1005838"/>
          </a:xfrm>
        </p:grpSpPr>
        <p:sp>
          <p:nvSpPr>
            <p:cNvPr id="239" name="Rectangle"/>
            <p:cNvSpPr/>
            <p:nvPr/>
          </p:nvSpPr>
          <p:spPr>
            <a:xfrm>
              <a:off x="-1" y="0"/>
              <a:ext cx="2103122" cy="1005839"/>
            </a:xfrm>
            <a:prstGeom prst="rect">
              <a:avLst/>
            </a:prstGeom>
            <a:solidFill>
              <a:schemeClr val="accent3"/>
            </a:solidFill>
            <a:ln w="12700" cap="flat">
              <a:noFill/>
              <a:miter lim="400000"/>
            </a:ln>
            <a:effectLst/>
          </p:spPr>
          <p:txBody>
            <a:bodyPr wrap="square" lIns="45719" tIns="45719" rIns="45719" bIns="45719" numCol="1" anchor="ctr">
              <a:noAutofit/>
            </a:bodyPr>
            <a:lstStyle/>
            <a:p>
              <a:pPr>
                <a:defRPr sz="2000"/>
              </a:pPr>
            </a:p>
          </p:txBody>
        </p:sp>
        <p:sp>
          <p:nvSpPr>
            <p:cNvPr id="240" name="Âge"/>
            <p:cNvSpPr txBox="1"/>
            <p:nvPr/>
          </p:nvSpPr>
          <p:spPr>
            <a:xfrm>
              <a:off x="-1" y="226148"/>
              <a:ext cx="2103122" cy="55354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52400" tIns="152400" rIns="152400" bIns="152400" numCol="1" anchor="ctr">
              <a:spAutoFit/>
            </a:bodyPr>
            <a:lstStyle>
              <a:lvl1pPr>
                <a:defRPr b="1" sz="2000">
                  <a:solidFill>
                    <a:srgbClr val="FFFFFF"/>
                  </a:solidFill>
                </a:defRPr>
              </a:lvl1pPr>
            </a:lstStyle>
            <a:p>
              <a:pPr/>
              <a:r>
                <a:t>Âge</a:t>
              </a:r>
            </a:p>
          </p:txBody>
        </p:sp>
      </p:grpSp>
      <p:grpSp>
        <p:nvGrpSpPr>
          <p:cNvPr id="244" name="Text 4"/>
          <p:cNvGrpSpPr/>
          <p:nvPr/>
        </p:nvGrpSpPr>
        <p:grpSpPr>
          <a:xfrm>
            <a:off x="2743200" y="2651760"/>
            <a:ext cx="8897112" cy="1005840"/>
            <a:chOff x="0" y="0"/>
            <a:chExt cx="8897111" cy="1005838"/>
          </a:xfrm>
        </p:grpSpPr>
        <p:sp>
          <p:nvSpPr>
            <p:cNvPr id="242" name="Rectangle"/>
            <p:cNvSpPr/>
            <p:nvPr/>
          </p:nvSpPr>
          <p:spPr>
            <a:xfrm>
              <a:off x="0" y="0"/>
              <a:ext cx="8897112" cy="1005839"/>
            </a:xfrm>
            <a:prstGeom prst="rect">
              <a:avLst/>
            </a:prstGeom>
            <a:solidFill>
              <a:srgbClr val="EEF3F4"/>
            </a:solidFill>
            <a:ln w="12700" cap="flat">
              <a:noFill/>
              <a:miter lim="400000"/>
            </a:ln>
            <a:effectLst/>
          </p:spPr>
          <p:txBody>
            <a:bodyPr wrap="square" lIns="45719" tIns="45719" rIns="45719" bIns="45719" numCol="1" anchor="ctr">
              <a:noAutofit/>
            </a:bodyPr>
            <a:lstStyle/>
            <a:p>
              <a:pPr>
                <a:defRPr sz="1600"/>
              </a:pPr>
            </a:p>
          </p:txBody>
        </p:sp>
        <p:sp>
          <p:nvSpPr>
            <p:cNvPr id="243" name="Âge du bâtiment (année de référence − année de construction)"/>
            <p:cNvSpPr txBox="1"/>
            <p:nvPr/>
          </p:nvSpPr>
          <p:spPr>
            <a:xfrm>
              <a:off x="0" y="245942"/>
              <a:ext cx="8897112" cy="51395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52400" tIns="152400" rIns="152400" bIns="152400" numCol="1" anchor="ctr">
              <a:spAutoFit/>
            </a:bodyPr>
            <a:lstStyle>
              <a:lvl1pPr>
                <a:defRPr sz="1600"/>
              </a:lvl1pPr>
            </a:lstStyle>
            <a:p>
              <a:pPr/>
              <a:r>
                <a:t>Âge du bâtiment (année de référence − année de construction)</a:t>
              </a:r>
            </a:p>
          </p:txBody>
        </p:sp>
      </p:grpSp>
      <p:grpSp>
        <p:nvGrpSpPr>
          <p:cNvPr id="247" name="Text 5"/>
          <p:cNvGrpSpPr/>
          <p:nvPr/>
        </p:nvGrpSpPr>
        <p:grpSpPr>
          <a:xfrm>
            <a:off x="548639" y="3840479"/>
            <a:ext cx="2103122" cy="1005840"/>
            <a:chOff x="0" y="0"/>
            <a:chExt cx="2103120" cy="1005838"/>
          </a:xfrm>
        </p:grpSpPr>
        <p:sp>
          <p:nvSpPr>
            <p:cNvPr id="245" name="Rectangle"/>
            <p:cNvSpPr/>
            <p:nvPr/>
          </p:nvSpPr>
          <p:spPr>
            <a:xfrm>
              <a:off x="-1" y="0"/>
              <a:ext cx="2103122" cy="1005839"/>
            </a:xfrm>
            <a:prstGeom prst="rect">
              <a:avLst/>
            </a:prstGeom>
            <a:solidFill>
              <a:schemeClr val="accent3"/>
            </a:solidFill>
            <a:ln w="12700" cap="flat">
              <a:noFill/>
              <a:miter lim="400000"/>
            </a:ln>
            <a:effectLst/>
          </p:spPr>
          <p:txBody>
            <a:bodyPr wrap="square" lIns="45719" tIns="45719" rIns="45719" bIns="45719" numCol="1" anchor="ctr">
              <a:noAutofit/>
            </a:bodyPr>
            <a:lstStyle/>
            <a:p>
              <a:pPr>
                <a:defRPr sz="2000"/>
              </a:pPr>
            </a:p>
          </p:txBody>
        </p:sp>
        <p:sp>
          <p:nvSpPr>
            <p:cNvPr id="246" name="Usage"/>
            <p:cNvSpPr txBox="1"/>
            <p:nvPr/>
          </p:nvSpPr>
          <p:spPr>
            <a:xfrm>
              <a:off x="-1" y="226148"/>
              <a:ext cx="2103122" cy="55354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52400" tIns="152400" rIns="152400" bIns="152400" numCol="1" anchor="ctr">
              <a:spAutoFit/>
            </a:bodyPr>
            <a:lstStyle>
              <a:lvl1pPr>
                <a:defRPr b="1" sz="2000">
                  <a:solidFill>
                    <a:srgbClr val="FFFFFF"/>
                  </a:solidFill>
                </a:defRPr>
              </a:lvl1pPr>
            </a:lstStyle>
            <a:p>
              <a:pPr/>
              <a:r>
                <a:t>Usage</a:t>
              </a:r>
            </a:p>
          </p:txBody>
        </p:sp>
      </p:grpSp>
      <p:grpSp>
        <p:nvGrpSpPr>
          <p:cNvPr id="250" name="Text 6"/>
          <p:cNvGrpSpPr/>
          <p:nvPr/>
        </p:nvGrpSpPr>
        <p:grpSpPr>
          <a:xfrm>
            <a:off x="2743200" y="3840479"/>
            <a:ext cx="8897112" cy="1005840"/>
            <a:chOff x="0" y="0"/>
            <a:chExt cx="8897111" cy="1005838"/>
          </a:xfrm>
        </p:grpSpPr>
        <p:sp>
          <p:nvSpPr>
            <p:cNvPr id="248" name="Rectangle"/>
            <p:cNvSpPr/>
            <p:nvPr/>
          </p:nvSpPr>
          <p:spPr>
            <a:xfrm>
              <a:off x="0" y="0"/>
              <a:ext cx="8897112" cy="1005839"/>
            </a:xfrm>
            <a:prstGeom prst="rect">
              <a:avLst/>
            </a:prstGeom>
            <a:solidFill>
              <a:srgbClr val="EEF3F4"/>
            </a:solidFill>
            <a:ln w="12700" cap="flat">
              <a:noFill/>
              <a:miter lim="400000"/>
            </a:ln>
            <a:effectLst/>
          </p:spPr>
          <p:txBody>
            <a:bodyPr wrap="square" lIns="45719" tIns="45719" rIns="45719" bIns="45719" numCol="1" anchor="ctr">
              <a:noAutofit/>
            </a:bodyPr>
            <a:lstStyle/>
            <a:p>
              <a:pPr>
                <a:defRPr sz="1600"/>
              </a:pPr>
            </a:p>
          </p:txBody>
        </p:sp>
        <p:sp>
          <p:nvSpPr>
            <p:cNvPr id="249" name="Usage principal, 2e et 3e usage (encodés) · nombre d'usages différents"/>
            <p:cNvSpPr txBox="1"/>
            <p:nvPr/>
          </p:nvSpPr>
          <p:spPr>
            <a:xfrm>
              <a:off x="0" y="245942"/>
              <a:ext cx="8897112" cy="51395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52400" tIns="152400" rIns="152400" bIns="152400" numCol="1" anchor="ctr">
              <a:spAutoFit/>
            </a:bodyPr>
            <a:lstStyle>
              <a:lvl1pPr>
                <a:defRPr sz="1600"/>
              </a:lvl1pPr>
            </a:lstStyle>
            <a:p>
              <a:pPr/>
              <a:r>
                <a:t>Usage principal, 2e et 3e usage (encodés) · nombre d'usages différents</a:t>
              </a:r>
            </a:p>
          </p:txBody>
        </p:sp>
      </p:grpSp>
      <p:grpSp>
        <p:nvGrpSpPr>
          <p:cNvPr id="253" name="Text 7"/>
          <p:cNvGrpSpPr/>
          <p:nvPr/>
        </p:nvGrpSpPr>
        <p:grpSpPr>
          <a:xfrm>
            <a:off x="548640" y="4937759"/>
            <a:ext cx="11091672" cy="777241"/>
            <a:chOff x="0" y="0"/>
            <a:chExt cx="11091671" cy="777240"/>
          </a:xfrm>
        </p:grpSpPr>
        <p:sp>
          <p:nvSpPr>
            <p:cNvPr id="251" name="Rectangle"/>
            <p:cNvSpPr/>
            <p:nvPr/>
          </p:nvSpPr>
          <p:spPr>
            <a:xfrm>
              <a:off x="0" y="-1"/>
              <a:ext cx="11091672" cy="777242"/>
            </a:xfrm>
            <a:prstGeom prst="rect">
              <a:avLst/>
            </a:prstGeom>
            <a:solidFill>
              <a:srgbClr val="FDF3E1"/>
            </a:solidFill>
            <a:ln w="12700" cap="flat">
              <a:noFill/>
              <a:miter lim="400000"/>
            </a:ln>
            <a:effectLst/>
          </p:spPr>
          <p:txBody>
            <a:bodyPr wrap="square" lIns="45719" tIns="45719" rIns="45719" bIns="45719" numCol="1" anchor="ctr">
              <a:noAutofit/>
            </a:bodyPr>
            <a:lstStyle/>
            <a:p>
              <a:pPr>
                <a:defRPr sz="1400"/>
              </a:pPr>
            </a:p>
          </p:txBody>
        </p:sp>
        <p:sp>
          <p:nvSpPr>
            <p:cNvPr id="252" name="Retirées : parts de vapeur, de gaz et d'électricité (calculées à partir de la cible), et trois variables redondantes (corrélation ≥ 0,95, annexe). Au total : 24 variables, dont 18 issues de l'encodage des usages."/>
            <p:cNvSpPr txBox="1"/>
            <p:nvPr/>
          </p:nvSpPr>
          <p:spPr>
            <a:xfrm>
              <a:off x="0" y="27240"/>
              <a:ext cx="11091672" cy="7227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52400" tIns="152400" rIns="152400" bIns="152400" numCol="1" anchor="ctr">
              <a:spAutoFit/>
            </a:bodyPr>
            <a:lstStyle>
              <a:lvl1pPr>
                <a:defRPr sz="1400">
                  <a:solidFill>
                    <a:schemeClr val="accent5"/>
                  </a:solidFill>
                </a:defRPr>
              </a:lvl1pPr>
            </a:lstStyle>
            <a:p>
              <a:pPr/>
              <a:r>
                <a:t>Retirées : parts de vapeur, de gaz et d'électricité (calculées à partir de la cible), et trois variables redondantes (corrélation ≥ 0,95, annexe). Au total : 24 variables, dont 18 issues de l'encodage des usages.</a:t>
              </a:r>
            </a:p>
          </p:txBody>
        </p:sp>
      </p:grpSp>
      <p:grpSp>
        <p:nvGrpSpPr>
          <p:cNvPr id="256" name="Message clé"/>
          <p:cNvGrpSpPr/>
          <p:nvPr/>
        </p:nvGrpSpPr>
        <p:grpSpPr>
          <a:xfrm>
            <a:off x="548640" y="5806440"/>
            <a:ext cx="11091672" cy="594361"/>
            <a:chOff x="0" y="0"/>
            <a:chExt cx="11091671" cy="594359"/>
          </a:xfrm>
        </p:grpSpPr>
        <p:sp>
          <p:nvSpPr>
            <p:cNvPr id="254" name="Rectangle"/>
            <p:cNvSpPr/>
            <p:nvPr/>
          </p:nvSpPr>
          <p:spPr>
            <a:xfrm>
              <a:off x="0" y="0"/>
              <a:ext cx="11091672" cy="594360"/>
            </a:xfrm>
            <a:prstGeom prst="rect">
              <a:avLst/>
            </a:prstGeom>
            <a:solidFill>
              <a:schemeClr val="accent1"/>
            </a:solidFill>
            <a:ln w="12700" cap="flat">
              <a:noFill/>
              <a:miter lim="400000"/>
            </a:ln>
            <a:effectLst/>
          </p:spPr>
          <p:txBody>
            <a:bodyPr wrap="square" lIns="45719" tIns="45719" rIns="45719" bIns="45719" numCol="1" anchor="ctr">
              <a:noAutofit/>
            </a:bodyPr>
            <a:lstStyle/>
            <a:p>
              <a:pPr>
                <a:defRPr sz="1600"/>
              </a:pPr>
            </a:p>
          </p:txBody>
        </p:sp>
        <p:sp>
          <p:nvSpPr>
            <p:cNvPr id="255" name="Trois variables sont construites : âge, nombre d'usages et surface par étage"/>
            <p:cNvSpPr txBox="1"/>
            <p:nvPr/>
          </p:nvSpPr>
          <p:spPr>
            <a:xfrm>
              <a:off x="0" y="40203"/>
              <a:ext cx="11091672" cy="5139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52400" tIns="152400" rIns="152400" bIns="152400" numCol="1" anchor="ctr">
              <a:spAutoFit/>
            </a:bodyPr>
            <a:lstStyle>
              <a:lvl1pPr>
                <a:defRPr b="1" sz="1600">
                  <a:solidFill>
                    <a:srgbClr val="FFFFFF"/>
                  </a:solidFill>
                </a:defRPr>
              </a:lvl1pPr>
            </a:lstStyle>
            <a:p>
              <a:pPr/>
              <a:r>
                <a:t>Trois variables sont construites : âge, nombre d'usages et surface par étage</a:t>
              </a:r>
            </a:p>
          </p:txBody>
        </p:sp>
      </p:grpSp>
      <p:sp>
        <p:nvSpPr>
          <p:cNvPr id="257" name="Slide Number Placeholder 0"/>
          <p:cNvSpPr txBox="1"/>
          <p:nvPr>
            <p:ph type="sldNum" sz="quarter" idx="4294967295"/>
          </p:nvPr>
        </p:nvSpPr>
        <p:spPr>
          <a:xfrm>
            <a:off x="11380003" y="6446520"/>
            <a:ext cx="232878"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1" name="Text 0"/>
          <p:cNvSpPr txBox="1"/>
          <p:nvPr/>
        </p:nvSpPr>
        <p:spPr>
          <a:xfrm>
            <a:off x="548640" y="365759"/>
            <a:ext cx="11091672" cy="9144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defRPr sz="2800">
                <a:solidFill>
                  <a:schemeClr val="accent1"/>
                </a:solidFill>
                <a:latin typeface="Cambria"/>
                <a:ea typeface="Cambria"/>
                <a:cs typeface="Cambria"/>
                <a:sym typeface="Cambria"/>
              </a:defRPr>
            </a:lvl1pPr>
          </a:lstStyle>
          <a:p>
            <a:pPr/>
            <a:r>
              <a:t>Chaque modèle passe le même examen : validation croisée et comparaison à un modèle naïf</a:t>
            </a:r>
          </a:p>
        </p:txBody>
      </p:sp>
      <p:sp>
        <p:nvSpPr>
          <p:cNvPr id="262" name="Shape 1"/>
          <p:cNvSpPr/>
          <p:nvPr/>
        </p:nvSpPr>
        <p:spPr>
          <a:xfrm>
            <a:off x="548640" y="1645920"/>
            <a:ext cx="2651761" cy="3108961"/>
          </a:xfrm>
          <a:prstGeom prst="roundRect">
            <a:avLst>
              <a:gd name="adj" fmla="val 2759"/>
            </a:avLst>
          </a:prstGeom>
          <a:solidFill>
            <a:srgbClr val="EEF3F4"/>
          </a:solidFill>
          <a:ln w="6350">
            <a:solidFill>
              <a:srgbClr val="EEF3F4"/>
            </a:solidFill>
          </a:ln>
        </p:spPr>
        <p:txBody>
          <a:bodyPr lIns="45719" rIns="45719"/>
          <a:lstStyle/>
          <a:p>
            <a:pPr/>
          </a:p>
        </p:txBody>
      </p:sp>
      <p:grpSp>
        <p:nvGrpSpPr>
          <p:cNvPr id="265" name="Text 2"/>
          <p:cNvGrpSpPr/>
          <p:nvPr/>
        </p:nvGrpSpPr>
        <p:grpSpPr>
          <a:xfrm>
            <a:off x="731519" y="1828799"/>
            <a:ext cx="502921" cy="502922"/>
            <a:chOff x="0" y="0"/>
            <a:chExt cx="502920" cy="502920"/>
          </a:xfrm>
        </p:grpSpPr>
        <p:sp>
          <p:nvSpPr>
            <p:cNvPr id="263" name="Cercle"/>
            <p:cNvSpPr/>
            <p:nvPr/>
          </p:nvSpPr>
          <p:spPr>
            <a:xfrm>
              <a:off x="-1" y="-1"/>
              <a:ext cx="502922" cy="502922"/>
            </a:xfrm>
            <a:prstGeom prst="ellipse">
              <a:avLst/>
            </a:prstGeom>
            <a:solidFill>
              <a:schemeClr val="accent1"/>
            </a:solidFill>
            <a:ln w="12700" cap="flat">
              <a:noFill/>
              <a:miter lim="400000"/>
            </a:ln>
            <a:effectLst/>
          </p:spPr>
          <p:txBody>
            <a:bodyPr wrap="square" lIns="45719" tIns="45719" rIns="45719" bIns="45719" numCol="1" anchor="ctr">
              <a:noAutofit/>
            </a:bodyPr>
            <a:lstStyle/>
            <a:p>
              <a:pPr algn="ctr"/>
            </a:p>
          </p:txBody>
        </p:sp>
        <p:sp>
          <p:nvSpPr>
            <p:cNvPr id="264" name="1"/>
            <p:cNvSpPr txBox="1"/>
            <p:nvPr/>
          </p:nvSpPr>
          <p:spPr>
            <a:xfrm>
              <a:off x="73650" y="130635"/>
              <a:ext cx="355619" cy="24164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a:solidFill>
                    <a:srgbClr val="FFFFFF"/>
                  </a:solidFill>
                </a:defRPr>
              </a:lvl1pPr>
            </a:lstStyle>
            <a:p>
              <a:pPr/>
              <a:r>
                <a:t>1</a:t>
              </a:r>
            </a:p>
          </p:txBody>
        </p:sp>
      </p:grpSp>
      <p:sp>
        <p:nvSpPr>
          <p:cNvPr id="266" name="Text 3"/>
          <p:cNvSpPr txBox="1"/>
          <p:nvPr/>
        </p:nvSpPr>
        <p:spPr>
          <a:xfrm>
            <a:off x="731519" y="2468879"/>
            <a:ext cx="2286001" cy="24164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a:solidFill>
                  <a:schemeClr val="accent1"/>
                </a:solidFill>
              </a:defRPr>
            </a:lvl1pPr>
          </a:lstStyle>
          <a:p>
            <a:pPr/>
            <a:r>
              <a:t>Modèle naïf</a:t>
            </a:r>
          </a:p>
        </p:txBody>
      </p:sp>
      <p:sp>
        <p:nvSpPr>
          <p:cNvPr id="267" name="Text 4"/>
          <p:cNvSpPr txBox="1"/>
          <p:nvPr/>
        </p:nvSpPr>
        <p:spPr>
          <a:xfrm>
            <a:off x="731519" y="3108960"/>
            <a:ext cx="2286001" cy="6465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lvl1pPr>
          </a:lstStyle>
          <a:p>
            <a:pPr/>
            <a:r>
              <a:t>Prédit toujours la moyenne. Sert de plancher : tout modèle utile doit faire mieux.</a:t>
            </a:r>
          </a:p>
        </p:txBody>
      </p:sp>
      <p:sp>
        <p:nvSpPr>
          <p:cNvPr id="268" name="Shape 5"/>
          <p:cNvSpPr/>
          <p:nvPr/>
        </p:nvSpPr>
        <p:spPr>
          <a:xfrm>
            <a:off x="3337559" y="1645920"/>
            <a:ext cx="2651761" cy="3108961"/>
          </a:xfrm>
          <a:prstGeom prst="roundRect">
            <a:avLst>
              <a:gd name="adj" fmla="val 2759"/>
            </a:avLst>
          </a:prstGeom>
          <a:solidFill>
            <a:srgbClr val="EEF3F4"/>
          </a:solidFill>
          <a:ln w="6350">
            <a:solidFill>
              <a:srgbClr val="EEF3F4"/>
            </a:solidFill>
          </a:ln>
        </p:spPr>
        <p:txBody>
          <a:bodyPr lIns="45719" rIns="45719"/>
          <a:lstStyle/>
          <a:p>
            <a:pPr/>
          </a:p>
        </p:txBody>
      </p:sp>
      <p:grpSp>
        <p:nvGrpSpPr>
          <p:cNvPr id="271" name="Text 6"/>
          <p:cNvGrpSpPr/>
          <p:nvPr/>
        </p:nvGrpSpPr>
        <p:grpSpPr>
          <a:xfrm>
            <a:off x="3520440" y="1828799"/>
            <a:ext cx="502921" cy="502922"/>
            <a:chOff x="0" y="0"/>
            <a:chExt cx="502920" cy="502920"/>
          </a:xfrm>
        </p:grpSpPr>
        <p:sp>
          <p:nvSpPr>
            <p:cNvPr id="269" name="Cercle"/>
            <p:cNvSpPr/>
            <p:nvPr/>
          </p:nvSpPr>
          <p:spPr>
            <a:xfrm>
              <a:off x="-1" y="-1"/>
              <a:ext cx="502922" cy="502922"/>
            </a:xfrm>
            <a:prstGeom prst="ellipse">
              <a:avLst/>
            </a:prstGeom>
            <a:solidFill>
              <a:schemeClr val="accent1"/>
            </a:solidFill>
            <a:ln w="12700" cap="flat">
              <a:noFill/>
              <a:miter lim="400000"/>
            </a:ln>
            <a:effectLst/>
          </p:spPr>
          <p:txBody>
            <a:bodyPr wrap="square" lIns="45719" tIns="45719" rIns="45719" bIns="45719" numCol="1" anchor="ctr">
              <a:noAutofit/>
            </a:bodyPr>
            <a:lstStyle/>
            <a:p>
              <a:pPr algn="ctr"/>
            </a:p>
          </p:txBody>
        </p:sp>
        <p:sp>
          <p:nvSpPr>
            <p:cNvPr id="270" name="2"/>
            <p:cNvSpPr txBox="1"/>
            <p:nvPr/>
          </p:nvSpPr>
          <p:spPr>
            <a:xfrm>
              <a:off x="73650" y="130635"/>
              <a:ext cx="355619" cy="24164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a:solidFill>
                    <a:srgbClr val="FFFFFF"/>
                  </a:solidFill>
                </a:defRPr>
              </a:lvl1pPr>
            </a:lstStyle>
            <a:p>
              <a:pPr/>
              <a:r>
                <a:t>2</a:t>
              </a:r>
            </a:p>
          </p:txBody>
        </p:sp>
      </p:grpSp>
      <p:sp>
        <p:nvSpPr>
          <p:cNvPr id="272" name="Text 7"/>
          <p:cNvSpPr txBox="1"/>
          <p:nvPr/>
        </p:nvSpPr>
        <p:spPr>
          <a:xfrm>
            <a:off x="3520440" y="2468879"/>
            <a:ext cx="2286001" cy="24164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a:solidFill>
                  <a:schemeClr val="accent1"/>
                </a:solidFill>
              </a:defRPr>
            </a:lvl1pPr>
          </a:lstStyle>
          <a:p>
            <a:pPr/>
            <a:r>
              <a:t>Trois familles testées</a:t>
            </a:r>
          </a:p>
        </p:txBody>
      </p:sp>
      <p:sp>
        <p:nvSpPr>
          <p:cNvPr id="273" name="Text 8"/>
          <p:cNvSpPr txBox="1"/>
          <p:nvPr/>
        </p:nvSpPr>
        <p:spPr>
          <a:xfrm>
            <a:off x="3520440" y="3108960"/>
            <a:ext cx="2286001" cy="6465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lvl1pPr>
          </a:lstStyle>
          <a:p>
            <a:pPr/>
            <a:r>
              <a:t>Régression linéaire, SVR (machine à vecteurs de support), forêt aléatoire.</a:t>
            </a:r>
          </a:p>
        </p:txBody>
      </p:sp>
      <p:sp>
        <p:nvSpPr>
          <p:cNvPr id="274" name="Shape 9"/>
          <p:cNvSpPr/>
          <p:nvPr/>
        </p:nvSpPr>
        <p:spPr>
          <a:xfrm>
            <a:off x="6126479" y="1645920"/>
            <a:ext cx="2651761" cy="3108961"/>
          </a:xfrm>
          <a:prstGeom prst="roundRect">
            <a:avLst>
              <a:gd name="adj" fmla="val 2759"/>
            </a:avLst>
          </a:prstGeom>
          <a:solidFill>
            <a:srgbClr val="EEF3F4"/>
          </a:solidFill>
          <a:ln w="6350">
            <a:solidFill>
              <a:srgbClr val="EEF3F4"/>
            </a:solidFill>
          </a:ln>
        </p:spPr>
        <p:txBody>
          <a:bodyPr lIns="45719" rIns="45719"/>
          <a:lstStyle/>
          <a:p>
            <a:pPr/>
          </a:p>
        </p:txBody>
      </p:sp>
      <p:grpSp>
        <p:nvGrpSpPr>
          <p:cNvPr id="277" name="Text 10"/>
          <p:cNvGrpSpPr/>
          <p:nvPr/>
        </p:nvGrpSpPr>
        <p:grpSpPr>
          <a:xfrm>
            <a:off x="6309359" y="1828799"/>
            <a:ext cx="502921" cy="502922"/>
            <a:chOff x="0" y="0"/>
            <a:chExt cx="502920" cy="502920"/>
          </a:xfrm>
        </p:grpSpPr>
        <p:sp>
          <p:nvSpPr>
            <p:cNvPr id="275" name="Cercle"/>
            <p:cNvSpPr/>
            <p:nvPr/>
          </p:nvSpPr>
          <p:spPr>
            <a:xfrm>
              <a:off x="-1" y="-1"/>
              <a:ext cx="502922" cy="502922"/>
            </a:xfrm>
            <a:prstGeom prst="ellipse">
              <a:avLst/>
            </a:prstGeom>
            <a:solidFill>
              <a:schemeClr val="accent1"/>
            </a:solidFill>
            <a:ln w="12700" cap="flat">
              <a:noFill/>
              <a:miter lim="400000"/>
            </a:ln>
            <a:effectLst/>
          </p:spPr>
          <p:txBody>
            <a:bodyPr wrap="square" lIns="45719" tIns="45719" rIns="45719" bIns="45719" numCol="1" anchor="ctr">
              <a:noAutofit/>
            </a:bodyPr>
            <a:lstStyle/>
            <a:p>
              <a:pPr algn="ctr"/>
            </a:p>
          </p:txBody>
        </p:sp>
        <p:sp>
          <p:nvSpPr>
            <p:cNvPr id="276" name="3"/>
            <p:cNvSpPr txBox="1"/>
            <p:nvPr/>
          </p:nvSpPr>
          <p:spPr>
            <a:xfrm>
              <a:off x="73650" y="130635"/>
              <a:ext cx="355619" cy="24164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a:solidFill>
                    <a:srgbClr val="FFFFFF"/>
                  </a:solidFill>
                </a:defRPr>
              </a:lvl1pPr>
            </a:lstStyle>
            <a:p>
              <a:pPr/>
              <a:r>
                <a:t>3</a:t>
              </a:r>
            </a:p>
          </p:txBody>
        </p:sp>
      </p:grpSp>
      <p:sp>
        <p:nvSpPr>
          <p:cNvPr id="278" name="Text 11"/>
          <p:cNvSpPr txBox="1"/>
          <p:nvPr/>
        </p:nvSpPr>
        <p:spPr>
          <a:xfrm>
            <a:off x="6309359" y="2468879"/>
            <a:ext cx="2286001" cy="53374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a:solidFill>
                  <a:schemeClr val="accent1"/>
                </a:solidFill>
              </a:defRPr>
            </a:lvl1pPr>
          </a:lstStyle>
          <a:p>
            <a:pPr/>
            <a:r>
              <a:t>Validation croisée à 5 plis</a:t>
            </a:r>
          </a:p>
        </p:txBody>
      </p:sp>
      <p:sp>
        <p:nvSpPr>
          <p:cNvPr id="279" name="Text 12"/>
          <p:cNvSpPr txBox="1"/>
          <p:nvPr/>
        </p:nvSpPr>
        <p:spPr>
          <a:xfrm>
            <a:off x="6309359" y="3108960"/>
            <a:ext cx="2286001" cy="6465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lvl1pPr>
          </a:lstStyle>
          <a:p>
            <a:pPr/>
            <a:r>
              <a:t>Le jeu est découpé en 5 : on s'entraîne sur 4 parts, on teste sur la 5e, et on tourne.</a:t>
            </a:r>
          </a:p>
        </p:txBody>
      </p:sp>
      <p:sp>
        <p:nvSpPr>
          <p:cNvPr id="280" name="Shape 13"/>
          <p:cNvSpPr/>
          <p:nvPr/>
        </p:nvSpPr>
        <p:spPr>
          <a:xfrm>
            <a:off x="8915400" y="1645920"/>
            <a:ext cx="2651761" cy="3108961"/>
          </a:xfrm>
          <a:prstGeom prst="roundRect">
            <a:avLst>
              <a:gd name="adj" fmla="val 2759"/>
            </a:avLst>
          </a:prstGeom>
          <a:solidFill>
            <a:srgbClr val="EEF3F4"/>
          </a:solidFill>
          <a:ln w="6350">
            <a:solidFill>
              <a:srgbClr val="EEF3F4"/>
            </a:solidFill>
          </a:ln>
        </p:spPr>
        <p:txBody>
          <a:bodyPr lIns="45719" rIns="45719"/>
          <a:lstStyle/>
          <a:p>
            <a:pPr/>
          </a:p>
        </p:txBody>
      </p:sp>
      <p:grpSp>
        <p:nvGrpSpPr>
          <p:cNvPr id="283" name="Text 14"/>
          <p:cNvGrpSpPr/>
          <p:nvPr/>
        </p:nvGrpSpPr>
        <p:grpSpPr>
          <a:xfrm>
            <a:off x="9098280" y="1828799"/>
            <a:ext cx="502921" cy="502922"/>
            <a:chOff x="0" y="0"/>
            <a:chExt cx="502920" cy="502920"/>
          </a:xfrm>
        </p:grpSpPr>
        <p:sp>
          <p:nvSpPr>
            <p:cNvPr id="281" name="Cercle"/>
            <p:cNvSpPr/>
            <p:nvPr/>
          </p:nvSpPr>
          <p:spPr>
            <a:xfrm>
              <a:off x="-1" y="-1"/>
              <a:ext cx="502922" cy="502922"/>
            </a:xfrm>
            <a:prstGeom prst="ellipse">
              <a:avLst/>
            </a:prstGeom>
            <a:solidFill>
              <a:schemeClr val="accent1"/>
            </a:solidFill>
            <a:ln w="12700" cap="flat">
              <a:noFill/>
              <a:miter lim="400000"/>
            </a:ln>
            <a:effectLst/>
          </p:spPr>
          <p:txBody>
            <a:bodyPr wrap="square" lIns="45719" tIns="45719" rIns="45719" bIns="45719" numCol="1" anchor="ctr">
              <a:noAutofit/>
            </a:bodyPr>
            <a:lstStyle/>
            <a:p>
              <a:pPr algn="ctr"/>
            </a:p>
          </p:txBody>
        </p:sp>
        <p:sp>
          <p:nvSpPr>
            <p:cNvPr id="282" name="4"/>
            <p:cNvSpPr txBox="1"/>
            <p:nvPr/>
          </p:nvSpPr>
          <p:spPr>
            <a:xfrm>
              <a:off x="73650" y="130635"/>
              <a:ext cx="355619" cy="24164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a:solidFill>
                    <a:srgbClr val="FFFFFF"/>
                  </a:solidFill>
                </a:defRPr>
              </a:lvl1pPr>
            </a:lstStyle>
            <a:p>
              <a:pPr/>
              <a:r>
                <a:t>4</a:t>
              </a:r>
            </a:p>
          </p:txBody>
        </p:sp>
      </p:grpSp>
      <p:sp>
        <p:nvSpPr>
          <p:cNvPr id="284" name="Text 15"/>
          <p:cNvSpPr txBox="1"/>
          <p:nvPr/>
        </p:nvSpPr>
        <p:spPr>
          <a:xfrm>
            <a:off x="9098280" y="2468879"/>
            <a:ext cx="2286001" cy="24164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a:solidFill>
                  <a:schemeClr val="accent1"/>
                </a:solidFill>
              </a:defRPr>
            </a:lvl1pPr>
          </a:lstStyle>
          <a:p>
            <a:pPr/>
            <a:r>
              <a:t>Trois métriques</a:t>
            </a:r>
          </a:p>
        </p:txBody>
      </p:sp>
      <p:sp>
        <p:nvSpPr>
          <p:cNvPr id="285" name="Text 16"/>
          <p:cNvSpPr txBox="1"/>
          <p:nvPr/>
        </p:nvSpPr>
        <p:spPr>
          <a:xfrm>
            <a:off x="9098280" y="3108960"/>
            <a:ext cx="2286001" cy="8751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lvl1pPr>
          </a:lstStyle>
          <a:p>
            <a:pPr/>
            <a:r>
              <a:t>R² (part de variation expliquée), erreur absolue moyenne, erreur quadratique (pénalise les grosses erreurs).</a:t>
            </a:r>
          </a:p>
        </p:txBody>
      </p:sp>
      <p:sp>
        <p:nvSpPr>
          <p:cNvPr id="286" name="Text 17"/>
          <p:cNvSpPr txBox="1"/>
          <p:nvPr/>
        </p:nvSpPr>
        <p:spPr>
          <a:xfrm>
            <a:off x="548640" y="5270807"/>
            <a:ext cx="11091672"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200">
                <a:solidFill>
                  <a:schemeClr val="accent5"/>
                </a:solidFill>
              </a:defRPr>
            </a:lvl1pPr>
          </a:lstStyle>
          <a:p>
            <a:pPr/>
            <a:r>
              <a:t>Les variables sont mises à l'échelle (StandardScaler) pour le SVR. Les plis sont mélangés avec une graine fixée.</a:t>
            </a:r>
          </a:p>
        </p:txBody>
      </p:sp>
      <p:grpSp>
        <p:nvGrpSpPr>
          <p:cNvPr id="289" name="Message clé"/>
          <p:cNvGrpSpPr/>
          <p:nvPr/>
        </p:nvGrpSpPr>
        <p:grpSpPr>
          <a:xfrm>
            <a:off x="548640" y="5760720"/>
            <a:ext cx="11091672" cy="594361"/>
            <a:chOff x="0" y="0"/>
            <a:chExt cx="11091671" cy="594359"/>
          </a:xfrm>
        </p:grpSpPr>
        <p:sp>
          <p:nvSpPr>
            <p:cNvPr id="287" name="Rectangle"/>
            <p:cNvSpPr/>
            <p:nvPr/>
          </p:nvSpPr>
          <p:spPr>
            <a:xfrm>
              <a:off x="0" y="0"/>
              <a:ext cx="11091672" cy="594360"/>
            </a:xfrm>
            <a:prstGeom prst="rect">
              <a:avLst/>
            </a:prstGeom>
            <a:solidFill>
              <a:schemeClr val="accent1"/>
            </a:solidFill>
            <a:ln w="12700" cap="flat">
              <a:noFill/>
              <a:miter lim="400000"/>
            </a:ln>
            <a:effectLst/>
          </p:spPr>
          <p:txBody>
            <a:bodyPr wrap="square" lIns="45719" tIns="45719" rIns="45719" bIns="45719" numCol="1" anchor="ctr">
              <a:noAutofit/>
            </a:bodyPr>
            <a:lstStyle/>
            <a:p>
              <a:pPr>
                <a:defRPr sz="1600"/>
              </a:pPr>
            </a:p>
          </p:txBody>
        </p:sp>
        <p:sp>
          <p:nvSpPr>
            <p:cNvPr id="288" name="Objectif : savoir si le modèle généralise à des bâtiments qu'il n'a jamais vus"/>
            <p:cNvSpPr txBox="1"/>
            <p:nvPr/>
          </p:nvSpPr>
          <p:spPr>
            <a:xfrm>
              <a:off x="0" y="40203"/>
              <a:ext cx="11091672" cy="5139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52400" tIns="152400" rIns="152400" bIns="152400" numCol="1" anchor="ctr">
              <a:spAutoFit/>
            </a:bodyPr>
            <a:lstStyle>
              <a:lvl1pPr>
                <a:defRPr b="1" sz="1600">
                  <a:solidFill>
                    <a:srgbClr val="FFFFFF"/>
                  </a:solidFill>
                </a:defRPr>
              </a:lvl1pPr>
            </a:lstStyle>
            <a:p>
              <a:pPr/>
              <a:r>
                <a:t>Objectif : savoir si le modèle généralise à des bâtiments qu'il n'a jamais vus</a:t>
              </a:r>
            </a:p>
          </p:txBody>
        </p:sp>
      </p:grpSp>
      <p:sp>
        <p:nvSpPr>
          <p:cNvPr id="290" name="Slide Number Placeholder 0"/>
          <p:cNvSpPr txBox="1"/>
          <p:nvPr>
            <p:ph type="sldNum" sz="quarter" idx="4294967295"/>
          </p:nvPr>
        </p:nvSpPr>
        <p:spPr>
          <a:xfrm>
            <a:off x="11380003" y="6446520"/>
            <a:ext cx="232878"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4" name="Text 0"/>
          <p:cNvSpPr txBox="1"/>
          <p:nvPr/>
        </p:nvSpPr>
        <p:spPr>
          <a:xfrm>
            <a:off x="548640" y="365759"/>
            <a:ext cx="11091672" cy="9144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defRPr sz="2800">
                <a:solidFill>
                  <a:schemeClr val="accent1"/>
                </a:solidFill>
                <a:latin typeface="Cambria"/>
                <a:ea typeface="Cambria"/>
                <a:cs typeface="Cambria"/>
                <a:sym typeface="Cambria"/>
              </a:defRPr>
            </a:lvl1pPr>
          </a:lstStyle>
          <a:p>
            <a:pPr/>
            <a:r>
              <a:t>La forêt aléatoire se trompe d'un facteur 1,7 sur la consommation, contre 2,8 pour le modèle naïf</a:t>
            </a:r>
          </a:p>
        </p:txBody>
      </p:sp>
      <p:graphicFrame>
        <p:nvGraphicFramePr>
          <p:cNvPr id="295" name="Table 0"/>
          <p:cNvGraphicFramePr/>
          <p:nvPr/>
        </p:nvGraphicFramePr>
        <p:xfrm>
          <a:off x="548640" y="1463039"/>
          <a:ext cx="11091672" cy="2651762"/>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3108960"/>
                <a:gridCol w="1554480"/>
                <a:gridCol w="1737360"/>
                <a:gridCol w="1554480"/>
                <a:gridCol w="1737360"/>
                <a:gridCol w="1399032"/>
              </a:tblGrid>
              <a:tr h="640080">
                <a:tc>
                  <a:txBody>
                    <a:bodyPr/>
                    <a:lstStyle/>
                    <a:p>
                      <a:pPr algn="l">
                        <a:defRPr sz="1800">
                          <a:solidFill>
                            <a:srgbClr val="000000"/>
                          </a:solidFill>
                        </a:defRPr>
                      </a:pPr>
                      <a:r>
                        <a:rPr b="1" sz="1300">
                          <a:solidFill>
                            <a:srgbClr val="FFFFFF"/>
                          </a:solidFill>
                        </a:rPr>
                        <a:t>Modèle</a:t>
                      </a:r>
                    </a:p>
                  </a:txBody>
                  <a:tcPr marL="45720" marR="45720" marT="45720" marB="45720" anchor="ctr" anchorCtr="0" horzOverflow="overflow">
                    <a:lnL>
                      <a:solidFill>
                        <a:srgbClr val="D5DEE0"/>
                      </a:solidFill>
                    </a:lnL>
                    <a:lnR>
                      <a:solidFill>
                        <a:srgbClr val="D5DEE0"/>
                      </a:solidFill>
                    </a:lnR>
                    <a:lnT>
                      <a:solidFill>
                        <a:srgbClr val="D5DEE0"/>
                      </a:solidFill>
                    </a:lnT>
                    <a:lnB>
                      <a:solidFill>
                        <a:srgbClr val="D5DEE0"/>
                      </a:solidFill>
                    </a:lnB>
                    <a:solidFill>
                      <a:schemeClr val="accent1"/>
                    </a:solidFill>
                  </a:tcPr>
                </a:tc>
                <a:tc>
                  <a:txBody>
                    <a:bodyPr/>
                    <a:lstStyle/>
                    <a:p>
                      <a:pPr algn="ctr">
                        <a:defRPr b="1" sz="1300">
                          <a:solidFill>
                            <a:srgbClr val="FFFFFF"/>
                          </a:solidFill>
                        </a:defRPr>
                      </a:pPr>
                      <a:r>
                        <a:t>Énergie</a:t>
                      </a:r>
                    </a:p>
                    <a:p>
                      <a:pPr algn="ctr">
                        <a:defRPr b="1" sz="1300">
                          <a:solidFill>
                            <a:srgbClr val="FFFFFF"/>
                          </a:solidFill>
                        </a:defRPr>
                      </a:pPr>
                      <a:r>
                        <a:t>R² test</a:t>
                      </a:r>
                    </a:p>
                  </a:txBody>
                  <a:tcPr marL="45720" marR="45720" marT="45720" marB="45720" anchor="ctr" anchorCtr="0" horzOverflow="overflow">
                    <a:lnL>
                      <a:solidFill>
                        <a:srgbClr val="D5DEE0"/>
                      </a:solidFill>
                    </a:lnL>
                    <a:lnR>
                      <a:solidFill>
                        <a:srgbClr val="D5DEE0"/>
                      </a:solidFill>
                    </a:lnR>
                    <a:lnT>
                      <a:solidFill>
                        <a:srgbClr val="D5DEE0"/>
                      </a:solidFill>
                    </a:lnT>
                    <a:lnB>
                      <a:solidFill>
                        <a:srgbClr val="D5DEE0"/>
                      </a:solidFill>
                    </a:lnB>
                    <a:solidFill>
                      <a:schemeClr val="accent1"/>
                    </a:solidFill>
                  </a:tcPr>
                </a:tc>
                <a:tc>
                  <a:txBody>
                    <a:bodyPr/>
                    <a:lstStyle/>
                    <a:p>
                      <a:pPr algn="ctr">
                        <a:defRPr b="1" sz="1300">
                          <a:solidFill>
                            <a:srgbClr val="FFFFFF"/>
                          </a:solidFill>
                        </a:defRPr>
                      </a:pPr>
                      <a:r>
                        <a:t>Énergie</a:t>
                      </a:r>
                    </a:p>
                    <a:p>
                      <a:pPr algn="ctr">
                        <a:defRPr b="1" sz="1300">
                          <a:solidFill>
                            <a:srgbClr val="FFFFFF"/>
                          </a:solidFill>
                        </a:defRPr>
                      </a:pPr>
                      <a:r>
                        <a:t>erreur typique</a:t>
                      </a:r>
                    </a:p>
                  </a:txBody>
                  <a:tcPr marL="45720" marR="45720" marT="45720" marB="45720" anchor="ctr" anchorCtr="0" horzOverflow="overflow">
                    <a:lnL>
                      <a:solidFill>
                        <a:srgbClr val="D5DEE0"/>
                      </a:solidFill>
                    </a:lnL>
                    <a:lnR>
                      <a:solidFill>
                        <a:srgbClr val="D5DEE0"/>
                      </a:solidFill>
                    </a:lnR>
                    <a:lnT>
                      <a:solidFill>
                        <a:srgbClr val="D5DEE0"/>
                      </a:solidFill>
                    </a:lnT>
                    <a:lnB>
                      <a:solidFill>
                        <a:srgbClr val="D5DEE0"/>
                      </a:solidFill>
                    </a:lnB>
                    <a:solidFill>
                      <a:schemeClr val="accent1"/>
                    </a:solidFill>
                  </a:tcPr>
                </a:tc>
                <a:tc>
                  <a:txBody>
                    <a:bodyPr/>
                    <a:lstStyle/>
                    <a:p>
                      <a:pPr algn="ctr">
                        <a:defRPr b="1" sz="1300">
                          <a:solidFill>
                            <a:srgbClr val="FFFFFF"/>
                          </a:solidFill>
                        </a:defRPr>
                      </a:pPr>
                      <a:r>
                        <a:t>CO₂</a:t>
                      </a:r>
                    </a:p>
                    <a:p>
                      <a:pPr algn="ctr">
                        <a:defRPr b="1" sz="1300">
                          <a:solidFill>
                            <a:srgbClr val="FFFFFF"/>
                          </a:solidFill>
                        </a:defRPr>
                      </a:pPr>
                      <a:r>
                        <a:t>R² test</a:t>
                      </a:r>
                    </a:p>
                  </a:txBody>
                  <a:tcPr marL="45720" marR="45720" marT="45720" marB="45720" anchor="ctr" anchorCtr="0" horzOverflow="overflow">
                    <a:lnL>
                      <a:solidFill>
                        <a:srgbClr val="D5DEE0"/>
                      </a:solidFill>
                    </a:lnL>
                    <a:lnR>
                      <a:solidFill>
                        <a:srgbClr val="D5DEE0"/>
                      </a:solidFill>
                    </a:lnR>
                    <a:lnT>
                      <a:solidFill>
                        <a:srgbClr val="D5DEE0"/>
                      </a:solidFill>
                    </a:lnT>
                    <a:lnB>
                      <a:solidFill>
                        <a:srgbClr val="D5DEE0"/>
                      </a:solidFill>
                    </a:lnB>
                    <a:solidFill>
                      <a:schemeClr val="accent1"/>
                    </a:solidFill>
                  </a:tcPr>
                </a:tc>
                <a:tc>
                  <a:txBody>
                    <a:bodyPr/>
                    <a:lstStyle/>
                    <a:p>
                      <a:pPr algn="ctr">
                        <a:defRPr b="1" sz="1300">
                          <a:solidFill>
                            <a:srgbClr val="FFFFFF"/>
                          </a:solidFill>
                        </a:defRPr>
                      </a:pPr>
                      <a:r>
                        <a:t>CO₂</a:t>
                      </a:r>
                    </a:p>
                    <a:p>
                      <a:pPr algn="ctr">
                        <a:defRPr b="1" sz="1300">
                          <a:solidFill>
                            <a:srgbClr val="FFFFFF"/>
                          </a:solidFill>
                        </a:defRPr>
                      </a:pPr>
                      <a:r>
                        <a:t>erreur typique</a:t>
                      </a:r>
                    </a:p>
                  </a:txBody>
                  <a:tcPr marL="45720" marR="45720" marT="45720" marB="45720" anchor="ctr" anchorCtr="0" horzOverflow="overflow">
                    <a:lnL>
                      <a:solidFill>
                        <a:srgbClr val="D5DEE0"/>
                      </a:solidFill>
                    </a:lnL>
                    <a:lnR>
                      <a:solidFill>
                        <a:srgbClr val="D5DEE0"/>
                      </a:solidFill>
                    </a:lnR>
                    <a:lnT>
                      <a:solidFill>
                        <a:srgbClr val="D5DEE0"/>
                      </a:solidFill>
                    </a:lnT>
                    <a:lnB>
                      <a:solidFill>
                        <a:srgbClr val="D5DEE0"/>
                      </a:solidFill>
                    </a:lnB>
                    <a:solidFill>
                      <a:schemeClr val="accent1"/>
                    </a:solidFill>
                  </a:tcPr>
                </a:tc>
                <a:tc>
                  <a:txBody>
                    <a:bodyPr/>
                    <a:lstStyle/>
                    <a:p>
                      <a:pPr algn="ctr">
                        <a:defRPr b="1" sz="1300">
                          <a:solidFill>
                            <a:srgbClr val="FFFFFF"/>
                          </a:solidFill>
                        </a:defRPr>
                      </a:pPr>
                      <a:r>
                        <a:t>R² train</a:t>
                      </a:r>
                    </a:p>
                    <a:p>
                      <a:pPr algn="ctr">
                        <a:defRPr b="1" sz="1300">
                          <a:solidFill>
                            <a:srgbClr val="FFFFFF"/>
                          </a:solidFill>
                        </a:defRPr>
                      </a:pPr>
                      <a:r>
                        <a:t>(énergie / CO₂)</a:t>
                      </a:r>
                    </a:p>
                  </a:txBody>
                  <a:tcPr marL="45720" marR="45720" marT="45720" marB="45720" anchor="ctr" anchorCtr="0" horzOverflow="overflow">
                    <a:lnL>
                      <a:solidFill>
                        <a:srgbClr val="D5DEE0"/>
                      </a:solidFill>
                    </a:lnL>
                    <a:lnR>
                      <a:solidFill>
                        <a:srgbClr val="D5DEE0"/>
                      </a:solidFill>
                    </a:lnR>
                    <a:lnT>
                      <a:solidFill>
                        <a:srgbClr val="D5DEE0"/>
                      </a:solidFill>
                    </a:lnT>
                    <a:lnB>
                      <a:solidFill>
                        <a:srgbClr val="D5DEE0"/>
                      </a:solidFill>
                    </a:lnB>
                    <a:solidFill>
                      <a:schemeClr val="accent1"/>
                    </a:solidFill>
                  </a:tcPr>
                </a:tc>
              </a:tr>
              <a:tr h="502919">
                <a:tc>
                  <a:txBody>
                    <a:bodyPr/>
                    <a:lstStyle/>
                    <a:p>
                      <a:pPr algn="l">
                        <a:defRPr sz="1800">
                          <a:solidFill>
                            <a:srgbClr val="000000"/>
                          </a:solidFill>
                        </a:defRPr>
                      </a:pPr>
                      <a:r>
                        <a:rPr sz="1400">
                          <a:solidFill>
                            <a:srgbClr val="14262B"/>
                          </a:solidFill>
                        </a:rPr>
                        <a:t>Modèle naïf (moyenne)</a:t>
                      </a:r>
                    </a:p>
                  </a:txBody>
                  <a:tcPr marL="45720" marR="45720" marT="45720" marB="45720" anchor="ctr" anchorCtr="0" horzOverflow="overflow">
                    <a:lnL>
                      <a:solidFill>
                        <a:srgbClr val="D5DEE0"/>
                      </a:solidFill>
                    </a:lnL>
                    <a:lnR>
                      <a:solidFill>
                        <a:srgbClr val="D5DEE0"/>
                      </a:solidFill>
                    </a:lnR>
                    <a:lnT>
                      <a:solidFill>
                        <a:srgbClr val="D5DEE0"/>
                      </a:solidFill>
                    </a:lnT>
                    <a:lnB>
                      <a:solidFill>
                        <a:srgbClr val="D5DEE0"/>
                      </a:solidFill>
                    </a:lnB>
                    <a:noFill/>
                  </a:tcPr>
                </a:tc>
                <a:tc>
                  <a:txBody>
                    <a:bodyPr/>
                    <a:lstStyle/>
                    <a:p>
                      <a:pPr algn="ctr">
                        <a:defRPr sz="1800">
                          <a:solidFill>
                            <a:srgbClr val="000000"/>
                          </a:solidFill>
                        </a:defRPr>
                      </a:pPr>
                      <a:r>
                        <a:rPr sz="1400">
                          <a:solidFill>
                            <a:srgbClr val="14262B"/>
                          </a:solidFill>
                        </a:rPr>
                        <a:t>0,00</a:t>
                      </a:r>
                    </a:p>
                  </a:txBody>
                  <a:tcPr marL="45720" marR="45720" marT="45720" marB="45720" anchor="ctr" anchorCtr="0" horzOverflow="overflow">
                    <a:lnL>
                      <a:solidFill>
                        <a:srgbClr val="D5DEE0"/>
                      </a:solidFill>
                    </a:lnL>
                    <a:lnR>
                      <a:solidFill>
                        <a:srgbClr val="D5DEE0"/>
                      </a:solidFill>
                    </a:lnR>
                    <a:lnT>
                      <a:solidFill>
                        <a:srgbClr val="D5DEE0"/>
                      </a:solidFill>
                    </a:lnT>
                    <a:lnB>
                      <a:solidFill>
                        <a:srgbClr val="D5DEE0"/>
                      </a:solidFill>
                    </a:lnB>
                    <a:noFill/>
                  </a:tcPr>
                </a:tc>
                <a:tc>
                  <a:txBody>
                    <a:bodyPr/>
                    <a:lstStyle/>
                    <a:p>
                      <a:pPr algn="ctr">
                        <a:defRPr sz="1800">
                          <a:solidFill>
                            <a:srgbClr val="000000"/>
                          </a:solidFill>
                        </a:defRPr>
                      </a:pPr>
                      <a:r>
                        <a:rPr sz="1400">
                          <a:solidFill>
                            <a:srgbClr val="14262B"/>
                          </a:solidFill>
                        </a:rPr>
                        <a:t>× 2,8</a:t>
                      </a:r>
                    </a:p>
                  </a:txBody>
                  <a:tcPr marL="45720" marR="45720" marT="45720" marB="45720" anchor="ctr" anchorCtr="0" horzOverflow="overflow">
                    <a:lnL>
                      <a:solidFill>
                        <a:srgbClr val="D5DEE0"/>
                      </a:solidFill>
                    </a:lnL>
                    <a:lnR>
                      <a:solidFill>
                        <a:srgbClr val="D5DEE0"/>
                      </a:solidFill>
                    </a:lnR>
                    <a:lnT>
                      <a:solidFill>
                        <a:srgbClr val="D5DEE0"/>
                      </a:solidFill>
                    </a:lnT>
                    <a:lnB>
                      <a:solidFill>
                        <a:srgbClr val="D5DEE0"/>
                      </a:solidFill>
                    </a:lnB>
                    <a:noFill/>
                  </a:tcPr>
                </a:tc>
                <a:tc>
                  <a:txBody>
                    <a:bodyPr/>
                    <a:lstStyle/>
                    <a:p>
                      <a:pPr algn="ctr">
                        <a:defRPr sz="1800">
                          <a:solidFill>
                            <a:srgbClr val="000000"/>
                          </a:solidFill>
                        </a:defRPr>
                      </a:pPr>
                      <a:r>
                        <a:rPr sz="1400">
                          <a:solidFill>
                            <a:srgbClr val="14262B"/>
                          </a:solidFill>
                        </a:rPr>
                        <a:t>0,00</a:t>
                      </a:r>
                    </a:p>
                  </a:txBody>
                  <a:tcPr marL="45720" marR="45720" marT="45720" marB="45720" anchor="ctr" anchorCtr="0" horzOverflow="overflow">
                    <a:lnL>
                      <a:solidFill>
                        <a:srgbClr val="D5DEE0"/>
                      </a:solidFill>
                    </a:lnL>
                    <a:lnR>
                      <a:solidFill>
                        <a:srgbClr val="D5DEE0"/>
                      </a:solidFill>
                    </a:lnR>
                    <a:lnT>
                      <a:solidFill>
                        <a:srgbClr val="D5DEE0"/>
                      </a:solidFill>
                    </a:lnT>
                    <a:lnB>
                      <a:solidFill>
                        <a:srgbClr val="D5DEE0"/>
                      </a:solidFill>
                    </a:lnB>
                    <a:noFill/>
                  </a:tcPr>
                </a:tc>
                <a:tc>
                  <a:txBody>
                    <a:bodyPr/>
                    <a:lstStyle/>
                    <a:p>
                      <a:pPr algn="ctr">
                        <a:defRPr sz="1800">
                          <a:solidFill>
                            <a:srgbClr val="000000"/>
                          </a:solidFill>
                        </a:defRPr>
                      </a:pPr>
                      <a:r>
                        <a:rPr sz="1400">
                          <a:solidFill>
                            <a:srgbClr val="14262B"/>
                          </a:solidFill>
                        </a:rPr>
                        <a:t>× 3,2</a:t>
                      </a:r>
                    </a:p>
                  </a:txBody>
                  <a:tcPr marL="45720" marR="45720" marT="45720" marB="45720" anchor="ctr" anchorCtr="0" horzOverflow="overflow">
                    <a:lnL>
                      <a:solidFill>
                        <a:srgbClr val="D5DEE0"/>
                      </a:solidFill>
                    </a:lnL>
                    <a:lnR>
                      <a:solidFill>
                        <a:srgbClr val="D5DEE0"/>
                      </a:solidFill>
                    </a:lnR>
                    <a:lnT>
                      <a:solidFill>
                        <a:srgbClr val="D5DEE0"/>
                      </a:solidFill>
                    </a:lnT>
                    <a:lnB>
                      <a:solidFill>
                        <a:srgbClr val="D5DEE0"/>
                      </a:solidFill>
                    </a:lnB>
                    <a:noFill/>
                  </a:tcPr>
                </a:tc>
                <a:tc>
                  <a:txBody>
                    <a:bodyPr/>
                    <a:lstStyle/>
                    <a:p>
                      <a:pPr algn="ctr">
                        <a:defRPr sz="1800">
                          <a:solidFill>
                            <a:srgbClr val="000000"/>
                          </a:solidFill>
                        </a:defRPr>
                      </a:pPr>
                      <a:r>
                        <a:rPr sz="1400">
                          <a:solidFill>
                            <a:srgbClr val="14262B"/>
                          </a:solidFill>
                        </a:rPr>
                        <a:t>0,00 / 0,00</a:t>
                      </a:r>
                    </a:p>
                  </a:txBody>
                  <a:tcPr marL="45720" marR="45720" marT="45720" marB="45720" anchor="ctr" anchorCtr="0" horzOverflow="overflow">
                    <a:lnL>
                      <a:solidFill>
                        <a:srgbClr val="D5DEE0"/>
                      </a:solidFill>
                    </a:lnL>
                    <a:lnR>
                      <a:solidFill>
                        <a:srgbClr val="D5DEE0"/>
                      </a:solidFill>
                    </a:lnR>
                    <a:lnT>
                      <a:solidFill>
                        <a:srgbClr val="D5DEE0"/>
                      </a:solidFill>
                    </a:lnT>
                    <a:lnB>
                      <a:solidFill>
                        <a:srgbClr val="D5DEE0"/>
                      </a:solidFill>
                    </a:lnB>
                    <a:noFill/>
                  </a:tcPr>
                </a:tc>
              </a:tr>
              <a:tr h="502919">
                <a:tc>
                  <a:txBody>
                    <a:bodyPr/>
                    <a:lstStyle/>
                    <a:p>
                      <a:pPr algn="l">
                        <a:defRPr sz="1800">
                          <a:solidFill>
                            <a:srgbClr val="000000"/>
                          </a:solidFill>
                        </a:defRPr>
                      </a:pPr>
                      <a:r>
                        <a:rPr sz="1400">
                          <a:solidFill>
                            <a:srgbClr val="14262B"/>
                          </a:solidFill>
                        </a:rPr>
                        <a:t>Régression linéaire</a:t>
                      </a:r>
                    </a:p>
                  </a:txBody>
                  <a:tcPr marL="45720" marR="45720" marT="45720" marB="45720" anchor="ctr" anchorCtr="0" horzOverflow="overflow">
                    <a:lnL>
                      <a:solidFill>
                        <a:srgbClr val="D5DEE0"/>
                      </a:solidFill>
                    </a:lnL>
                    <a:lnR>
                      <a:solidFill>
                        <a:srgbClr val="D5DEE0"/>
                      </a:solidFill>
                    </a:lnR>
                    <a:lnT>
                      <a:solidFill>
                        <a:srgbClr val="D5DEE0"/>
                      </a:solidFill>
                    </a:lnT>
                    <a:lnB>
                      <a:solidFill>
                        <a:srgbClr val="D5DEE0"/>
                      </a:solidFill>
                    </a:lnB>
                    <a:noFill/>
                  </a:tcPr>
                </a:tc>
                <a:tc>
                  <a:txBody>
                    <a:bodyPr/>
                    <a:lstStyle/>
                    <a:p>
                      <a:pPr algn="ctr">
                        <a:defRPr sz="1800">
                          <a:solidFill>
                            <a:srgbClr val="000000"/>
                          </a:solidFill>
                        </a:defRPr>
                      </a:pPr>
                      <a:r>
                        <a:rPr sz="1400">
                          <a:solidFill>
                            <a:srgbClr val="14262B"/>
                          </a:solidFill>
                        </a:rPr>
                        <a:t>0,47</a:t>
                      </a:r>
                    </a:p>
                  </a:txBody>
                  <a:tcPr marL="45720" marR="45720" marT="45720" marB="45720" anchor="ctr" anchorCtr="0" horzOverflow="overflow">
                    <a:lnL>
                      <a:solidFill>
                        <a:srgbClr val="D5DEE0"/>
                      </a:solidFill>
                    </a:lnL>
                    <a:lnR>
                      <a:solidFill>
                        <a:srgbClr val="D5DEE0"/>
                      </a:solidFill>
                    </a:lnR>
                    <a:lnT>
                      <a:solidFill>
                        <a:srgbClr val="D5DEE0"/>
                      </a:solidFill>
                    </a:lnT>
                    <a:lnB>
                      <a:solidFill>
                        <a:srgbClr val="D5DEE0"/>
                      </a:solidFill>
                    </a:lnB>
                    <a:noFill/>
                  </a:tcPr>
                </a:tc>
                <a:tc>
                  <a:txBody>
                    <a:bodyPr/>
                    <a:lstStyle/>
                    <a:p>
                      <a:pPr algn="ctr">
                        <a:defRPr sz="1800">
                          <a:solidFill>
                            <a:srgbClr val="000000"/>
                          </a:solidFill>
                        </a:defRPr>
                      </a:pPr>
                      <a:r>
                        <a:rPr sz="1400">
                          <a:solidFill>
                            <a:srgbClr val="14262B"/>
                          </a:solidFill>
                        </a:rPr>
                        <a:t>× 2,0</a:t>
                      </a:r>
                    </a:p>
                  </a:txBody>
                  <a:tcPr marL="45720" marR="45720" marT="45720" marB="45720" anchor="ctr" anchorCtr="0" horzOverflow="overflow">
                    <a:lnL>
                      <a:solidFill>
                        <a:srgbClr val="D5DEE0"/>
                      </a:solidFill>
                    </a:lnL>
                    <a:lnR>
                      <a:solidFill>
                        <a:srgbClr val="D5DEE0"/>
                      </a:solidFill>
                    </a:lnR>
                    <a:lnT>
                      <a:solidFill>
                        <a:srgbClr val="D5DEE0"/>
                      </a:solidFill>
                    </a:lnT>
                    <a:lnB>
                      <a:solidFill>
                        <a:srgbClr val="D5DEE0"/>
                      </a:solidFill>
                    </a:lnB>
                    <a:noFill/>
                  </a:tcPr>
                </a:tc>
                <a:tc>
                  <a:txBody>
                    <a:bodyPr/>
                    <a:lstStyle/>
                    <a:p>
                      <a:pPr algn="ctr">
                        <a:defRPr sz="1800">
                          <a:solidFill>
                            <a:srgbClr val="000000"/>
                          </a:solidFill>
                        </a:defRPr>
                      </a:pPr>
                      <a:r>
                        <a:rPr sz="1400">
                          <a:solidFill>
                            <a:srgbClr val="14262B"/>
                          </a:solidFill>
                        </a:rPr>
                        <a:t>0,33</a:t>
                      </a:r>
                    </a:p>
                  </a:txBody>
                  <a:tcPr marL="45720" marR="45720" marT="45720" marB="45720" anchor="ctr" anchorCtr="0" horzOverflow="overflow">
                    <a:lnL>
                      <a:solidFill>
                        <a:srgbClr val="D5DEE0"/>
                      </a:solidFill>
                    </a:lnL>
                    <a:lnR>
                      <a:solidFill>
                        <a:srgbClr val="D5DEE0"/>
                      </a:solidFill>
                    </a:lnR>
                    <a:lnT>
                      <a:solidFill>
                        <a:srgbClr val="D5DEE0"/>
                      </a:solidFill>
                    </a:lnT>
                    <a:lnB>
                      <a:solidFill>
                        <a:srgbClr val="D5DEE0"/>
                      </a:solidFill>
                    </a:lnB>
                    <a:noFill/>
                  </a:tcPr>
                </a:tc>
                <a:tc>
                  <a:txBody>
                    <a:bodyPr/>
                    <a:lstStyle/>
                    <a:p>
                      <a:pPr algn="ctr">
                        <a:defRPr sz="1800">
                          <a:solidFill>
                            <a:srgbClr val="000000"/>
                          </a:solidFill>
                        </a:defRPr>
                      </a:pPr>
                      <a:r>
                        <a:rPr sz="1400">
                          <a:solidFill>
                            <a:srgbClr val="14262B"/>
                          </a:solidFill>
                        </a:rPr>
                        <a:t>× 2,5</a:t>
                      </a:r>
                    </a:p>
                  </a:txBody>
                  <a:tcPr marL="45720" marR="45720" marT="45720" marB="45720" anchor="ctr" anchorCtr="0" horzOverflow="overflow">
                    <a:lnL>
                      <a:solidFill>
                        <a:srgbClr val="D5DEE0"/>
                      </a:solidFill>
                    </a:lnL>
                    <a:lnR>
                      <a:solidFill>
                        <a:srgbClr val="D5DEE0"/>
                      </a:solidFill>
                    </a:lnR>
                    <a:lnT>
                      <a:solidFill>
                        <a:srgbClr val="D5DEE0"/>
                      </a:solidFill>
                    </a:lnT>
                    <a:lnB>
                      <a:solidFill>
                        <a:srgbClr val="D5DEE0"/>
                      </a:solidFill>
                    </a:lnB>
                    <a:noFill/>
                  </a:tcPr>
                </a:tc>
                <a:tc>
                  <a:txBody>
                    <a:bodyPr/>
                    <a:lstStyle/>
                    <a:p>
                      <a:pPr algn="ctr">
                        <a:defRPr sz="1800">
                          <a:solidFill>
                            <a:srgbClr val="000000"/>
                          </a:solidFill>
                        </a:defRPr>
                      </a:pPr>
                      <a:r>
                        <a:rPr sz="1400">
                          <a:solidFill>
                            <a:srgbClr val="14262B"/>
                          </a:solidFill>
                        </a:rPr>
                        <a:t>0,52 / 0,38</a:t>
                      </a:r>
                    </a:p>
                  </a:txBody>
                  <a:tcPr marL="45720" marR="45720" marT="45720" marB="45720" anchor="ctr" anchorCtr="0" horzOverflow="overflow">
                    <a:lnL>
                      <a:solidFill>
                        <a:srgbClr val="D5DEE0"/>
                      </a:solidFill>
                    </a:lnL>
                    <a:lnR>
                      <a:solidFill>
                        <a:srgbClr val="D5DEE0"/>
                      </a:solidFill>
                    </a:lnR>
                    <a:lnT>
                      <a:solidFill>
                        <a:srgbClr val="D5DEE0"/>
                      </a:solidFill>
                    </a:lnT>
                    <a:lnB>
                      <a:solidFill>
                        <a:srgbClr val="D5DEE0"/>
                      </a:solidFill>
                    </a:lnB>
                    <a:noFill/>
                  </a:tcPr>
                </a:tc>
              </a:tr>
              <a:tr h="502919">
                <a:tc>
                  <a:txBody>
                    <a:bodyPr/>
                    <a:lstStyle/>
                    <a:p>
                      <a:pPr algn="l">
                        <a:defRPr sz="1800">
                          <a:solidFill>
                            <a:srgbClr val="000000"/>
                          </a:solidFill>
                        </a:defRPr>
                      </a:pPr>
                      <a:r>
                        <a:rPr sz="1400">
                          <a:solidFill>
                            <a:srgbClr val="14262B"/>
                          </a:solidFill>
                        </a:rPr>
                        <a:t>SVR</a:t>
                      </a:r>
                    </a:p>
                  </a:txBody>
                  <a:tcPr marL="45720" marR="45720" marT="45720" marB="45720" anchor="ctr" anchorCtr="0" horzOverflow="overflow">
                    <a:lnL>
                      <a:solidFill>
                        <a:srgbClr val="D5DEE0"/>
                      </a:solidFill>
                    </a:lnL>
                    <a:lnR>
                      <a:solidFill>
                        <a:srgbClr val="D5DEE0"/>
                      </a:solidFill>
                    </a:lnR>
                    <a:lnT>
                      <a:solidFill>
                        <a:srgbClr val="D5DEE0"/>
                      </a:solidFill>
                    </a:lnT>
                    <a:lnB>
                      <a:solidFill>
                        <a:srgbClr val="D5DEE0"/>
                      </a:solidFill>
                    </a:lnB>
                    <a:noFill/>
                  </a:tcPr>
                </a:tc>
                <a:tc>
                  <a:txBody>
                    <a:bodyPr/>
                    <a:lstStyle/>
                    <a:p>
                      <a:pPr algn="ctr">
                        <a:defRPr sz="1800">
                          <a:solidFill>
                            <a:srgbClr val="000000"/>
                          </a:solidFill>
                        </a:defRPr>
                      </a:pPr>
                      <a:r>
                        <a:rPr sz="1400">
                          <a:solidFill>
                            <a:srgbClr val="14262B"/>
                          </a:solidFill>
                        </a:rPr>
                        <a:t>0,65</a:t>
                      </a:r>
                    </a:p>
                  </a:txBody>
                  <a:tcPr marL="45720" marR="45720" marT="45720" marB="45720" anchor="ctr" anchorCtr="0" horzOverflow="overflow">
                    <a:lnL>
                      <a:solidFill>
                        <a:srgbClr val="D5DEE0"/>
                      </a:solidFill>
                    </a:lnL>
                    <a:lnR>
                      <a:solidFill>
                        <a:srgbClr val="D5DEE0"/>
                      </a:solidFill>
                    </a:lnR>
                    <a:lnT>
                      <a:solidFill>
                        <a:srgbClr val="D5DEE0"/>
                      </a:solidFill>
                    </a:lnT>
                    <a:lnB>
                      <a:solidFill>
                        <a:srgbClr val="D5DEE0"/>
                      </a:solidFill>
                    </a:lnB>
                    <a:noFill/>
                  </a:tcPr>
                </a:tc>
                <a:tc>
                  <a:txBody>
                    <a:bodyPr/>
                    <a:lstStyle/>
                    <a:p>
                      <a:pPr algn="ctr">
                        <a:defRPr sz="1800">
                          <a:solidFill>
                            <a:srgbClr val="000000"/>
                          </a:solidFill>
                        </a:defRPr>
                      </a:pPr>
                      <a:r>
                        <a:rPr sz="1400">
                          <a:solidFill>
                            <a:srgbClr val="14262B"/>
                          </a:solidFill>
                        </a:rPr>
                        <a:t>× 1,7</a:t>
                      </a:r>
                    </a:p>
                  </a:txBody>
                  <a:tcPr marL="45720" marR="45720" marT="45720" marB="45720" anchor="ctr" anchorCtr="0" horzOverflow="overflow">
                    <a:lnL>
                      <a:solidFill>
                        <a:srgbClr val="D5DEE0"/>
                      </a:solidFill>
                    </a:lnL>
                    <a:lnR>
                      <a:solidFill>
                        <a:srgbClr val="D5DEE0"/>
                      </a:solidFill>
                    </a:lnR>
                    <a:lnT>
                      <a:solidFill>
                        <a:srgbClr val="D5DEE0"/>
                      </a:solidFill>
                    </a:lnT>
                    <a:lnB>
                      <a:solidFill>
                        <a:srgbClr val="D5DEE0"/>
                      </a:solidFill>
                    </a:lnB>
                    <a:noFill/>
                  </a:tcPr>
                </a:tc>
                <a:tc>
                  <a:txBody>
                    <a:bodyPr/>
                    <a:lstStyle/>
                    <a:p>
                      <a:pPr algn="ctr">
                        <a:defRPr sz="1800">
                          <a:solidFill>
                            <a:srgbClr val="000000"/>
                          </a:solidFill>
                        </a:defRPr>
                      </a:pPr>
                      <a:r>
                        <a:rPr sz="1400">
                          <a:solidFill>
                            <a:srgbClr val="14262B"/>
                          </a:solidFill>
                        </a:rPr>
                        <a:t>0,47</a:t>
                      </a:r>
                    </a:p>
                  </a:txBody>
                  <a:tcPr marL="45720" marR="45720" marT="45720" marB="45720" anchor="ctr" anchorCtr="0" horzOverflow="overflow">
                    <a:lnL>
                      <a:solidFill>
                        <a:srgbClr val="D5DEE0"/>
                      </a:solidFill>
                    </a:lnL>
                    <a:lnR>
                      <a:solidFill>
                        <a:srgbClr val="D5DEE0"/>
                      </a:solidFill>
                    </a:lnR>
                    <a:lnT>
                      <a:solidFill>
                        <a:srgbClr val="D5DEE0"/>
                      </a:solidFill>
                    </a:lnT>
                    <a:lnB>
                      <a:solidFill>
                        <a:srgbClr val="D5DEE0"/>
                      </a:solidFill>
                    </a:lnB>
                    <a:noFill/>
                  </a:tcPr>
                </a:tc>
                <a:tc>
                  <a:txBody>
                    <a:bodyPr/>
                    <a:lstStyle/>
                    <a:p>
                      <a:pPr algn="ctr">
                        <a:defRPr sz="1800">
                          <a:solidFill>
                            <a:srgbClr val="000000"/>
                          </a:solidFill>
                        </a:defRPr>
                      </a:pPr>
                      <a:r>
                        <a:rPr sz="1400">
                          <a:solidFill>
                            <a:srgbClr val="14262B"/>
                          </a:solidFill>
                        </a:rPr>
                        <a:t>× 2,3</a:t>
                      </a:r>
                    </a:p>
                  </a:txBody>
                  <a:tcPr marL="45720" marR="45720" marT="45720" marB="45720" anchor="ctr" anchorCtr="0" horzOverflow="overflow">
                    <a:lnL>
                      <a:solidFill>
                        <a:srgbClr val="D5DEE0"/>
                      </a:solidFill>
                    </a:lnL>
                    <a:lnR>
                      <a:solidFill>
                        <a:srgbClr val="D5DEE0"/>
                      </a:solidFill>
                    </a:lnR>
                    <a:lnT>
                      <a:solidFill>
                        <a:srgbClr val="D5DEE0"/>
                      </a:solidFill>
                    </a:lnT>
                    <a:lnB>
                      <a:solidFill>
                        <a:srgbClr val="D5DEE0"/>
                      </a:solidFill>
                    </a:lnB>
                    <a:noFill/>
                  </a:tcPr>
                </a:tc>
                <a:tc>
                  <a:txBody>
                    <a:bodyPr/>
                    <a:lstStyle/>
                    <a:p>
                      <a:pPr algn="ctr">
                        <a:defRPr sz="1800">
                          <a:solidFill>
                            <a:srgbClr val="000000"/>
                          </a:solidFill>
                        </a:defRPr>
                      </a:pPr>
                      <a:r>
                        <a:rPr sz="1400">
                          <a:solidFill>
                            <a:srgbClr val="14262B"/>
                          </a:solidFill>
                        </a:rPr>
                        <a:t>0,79 / 0,65</a:t>
                      </a:r>
                    </a:p>
                  </a:txBody>
                  <a:tcPr marL="45720" marR="45720" marT="45720" marB="45720" anchor="ctr" anchorCtr="0" horzOverflow="overflow">
                    <a:lnL>
                      <a:solidFill>
                        <a:srgbClr val="D5DEE0"/>
                      </a:solidFill>
                    </a:lnL>
                    <a:lnR>
                      <a:solidFill>
                        <a:srgbClr val="D5DEE0"/>
                      </a:solidFill>
                    </a:lnR>
                    <a:lnT>
                      <a:solidFill>
                        <a:srgbClr val="D5DEE0"/>
                      </a:solidFill>
                    </a:lnT>
                    <a:lnB>
                      <a:solidFill>
                        <a:srgbClr val="D5DEE0"/>
                      </a:solidFill>
                    </a:lnB>
                    <a:noFill/>
                  </a:tcPr>
                </a:tc>
              </a:tr>
              <a:tr h="502919">
                <a:tc>
                  <a:txBody>
                    <a:bodyPr/>
                    <a:lstStyle/>
                    <a:p>
                      <a:pPr algn="l">
                        <a:defRPr sz="1800">
                          <a:solidFill>
                            <a:srgbClr val="000000"/>
                          </a:solidFill>
                        </a:defRPr>
                      </a:pPr>
                      <a:r>
                        <a:rPr b="1" sz="1400">
                          <a:solidFill>
                            <a:srgbClr val="14262B"/>
                          </a:solidFill>
                        </a:rPr>
                        <a:t>Forêt aléatoire</a:t>
                      </a:r>
                    </a:p>
                  </a:txBody>
                  <a:tcPr marL="45720" marR="45720" marT="45720" marB="45720" anchor="ctr" anchorCtr="0" horzOverflow="overflow">
                    <a:lnL>
                      <a:solidFill>
                        <a:srgbClr val="D5DEE0"/>
                      </a:solidFill>
                    </a:lnL>
                    <a:lnR>
                      <a:solidFill>
                        <a:srgbClr val="D5DEE0"/>
                      </a:solidFill>
                    </a:lnR>
                    <a:lnT>
                      <a:solidFill>
                        <a:srgbClr val="D5DEE0"/>
                      </a:solidFill>
                    </a:lnT>
                    <a:lnB>
                      <a:solidFill>
                        <a:srgbClr val="D5DEE0"/>
                      </a:solidFill>
                    </a:lnB>
                    <a:solidFill>
                      <a:srgbClr val="FDF3E1"/>
                    </a:solidFill>
                  </a:tcPr>
                </a:tc>
                <a:tc>
                  <a:txBody>
                    <a:bodyPr/>
                    <a:lstStyle/>
                    <a:p>
                      <a:pPr algn="ctr">
                        <a:defRPr sz="1800">
                          <a:solidFill>
                            <a:srgbClr val="000000"/>
                          </a:solidFill>
                        </a:defRPr>
                      </a:pPr>
                      <a:r>
                        <a:rPr b="1" sz="1400">
                          <a:solidFill>
                            <a:srgbClr val="14262B"/>
                          </a:solidFill>
                        </a:rPr>
                        <a:t>0,67</a:t>
                      </a:r>
                    </a:p>
                  </a:txBody>
                  <a:tcPr marL="45720" marR="45720" marT="45720" marB="45720" anchor="ctr" anchorCtr="0" horzOverflow="overflow">
                    <a:lnL>
                      <a:solidFill>
                        <a:srgbClr val="D5DEE0"/>
                      </a:solidFill>
                    </a:lnL>
                    <a:lnR>
                      <a:solidFill>
                        <a:srgbClr val="D5DEE0"/>
                      </a:solidFill>
                    </a:lnR>
                    <a:lnT>
                      <a:solidFill>
                        <a:srgbClr val="D5DEE0"/>
                      </a:solidFill>
                    </a:lnT>
                    <a:lnB>
                      <a:solidFill>
                        <a:srgbClr val="D5DEE0"/>
                      </a:solidFill>
                    </a:lnB>
                    <a:solidFill>
                      <a:srgbClr val="FDF3E1"/>
                    </a:solidFill>
                  </a:tcPr>
                </a:tc>
                <a:tc>
                  <a:txBody>
                    <a:bodyPr/>
                    <a:lstStyle/>
                    <a:p>
                      <a:pPr algn="ctr">
                        <a:defRPr sz="1800">
                          <a:solidFill>
                            <a:srgbClr val="000000"/>
                          </a:solidFill>
                        </a:defRPr>
                      </a:pPr>
                      <a:r>
                        <a:rPr b="1" sz="1400">
                          <a:solidFill>
                            <a:srgbClr val="14262B"/>
                          </a:solidFill>
                        </a:rPr>
                        <a:t>× 1,7</a:t>
                      </a:r>
                    </a:p>
                  </a:txBody>
                  <a:tcPr marL="45720" marR="45720" marT="45720" marB="45720" anchor="ctr" anchorCtr="0" horzOverflow="overflow">
                    <a:lnL>
                      <a:solidFill>
                        <a:srgbClr val="D5DEE0"/>
                      </a:solidFill>
                    </a:lnL>
                    <a:lnR>
                      <a:solidFill>
                        <a:srgbClr val="D5DEE0"/>
                      </a:solidFill>
                    </a:lnR>
                    <a:lnT>
                      <a:solidFill>
                        <a:srgbClr val="D5DEE0"/>
                      </a:solidFill>
                    </a:lnT>
                    <a:lnB>
                      <a:solidFill>
                        <a:srgbClr val="D5DEE0"/>
                      </a:solidFill>
                    </a:lnB>
                    <a:solidFill>
                      <a:srgbClr val="FDF3E1"/>
                    </a:solidFill>
                  </a:tcPr>
                </a:tc>
                <a:tc>
                  <a:txBody>
                    <a:bodyPr/>
                    <a:lstStyle/>
                    <a:p>
                      <a:pPr algn="ctr">
                        <a:defRPr sz="1800">
                          <a:solidFill>
                            <a:srgbClr val="000000"/>
                          </a:solidFill>
                        </a:defRPr>
                      </a:pPr>
                      <a:r>
                        <a:rPr b="1" sz="1400">
                          <a:solidFill>
                            <a:srgbClr val="14262B"/>
                          </a:solidFill>
                        </a:rPr>
                        <a:t>0,46</a:t>
                      </a:r>
                    </a:p>
                  </a:txBody>
                  <a:tcPr marL="45720" marR="45720" marT="45720" marB="45720" anchor="ctr" anchorCtr="0" horzOverflow="overflow">
                    <a:lnL>
                      <a:solidFill>
                        <a:srgbClr val="D5DEE0"/>
                      </a:solidFill>
                    </a:lnL>
                    <a:lnR>
                      <a:solidFill>
                        <a:srgbClr val="D5DEE0"/>
                      </a:solidFill>
                    </a:lnR>
                    <a:lnT>
                      <a:solidFill>
                        <a:srgbClr val="D5DEE0"/>
                      </a:solidFill>
                    </a:lnT>
                    <a:lnB>
                      <a:solidFill>
                        <a:srgbClr val="D5DEE0"/>
                      </a:solidFill>
                    </a:lnB>
                    <a:solidFill>
                      <a:srgbClr val="FDF3E1"/>
                    </a:solidFill>
                  </a:tcPr>
                </a:tc>
                <a:tc>
                  <a:txBody>
                    <a:bodyPr/>
                    <a:lstStyle/>
                    <a:p>
                      <a:pPr algn="ctr">
                        <a:defRPr sz="1800">
                          <a:solidFill>
                            <a:srgbClr val="000000"/>
                          </a:solidFill>
                        </a:defRPr>
                      </a:pPr>
                      <a:r>
                        <a:rPr b="1" sz="1400">
                          <a:solidFill>
                            <a:srgbClr val="14262B"/>
                          </a:solidFill>
                        </a:rPr>
                        <a:t>× 2,3</a:t>
                      </a:r>
                    </a:p>
                  </a:txBody>
                  <a:tcPr marL="45720" marR="45720" marT="45720" marB="45720" anchor="ctr" anchorCtr="0" horzOverflow="overflow">
                    <a:lnL>
                      <a:solidFill>
                        <a:srgbClr val="D5DEE0"/>
                      </a:solidFill>
                    </a:lnL>
                    <a:lnR>
                      <a:solidFill>
                        <a:srgbClr val="D5DEE0"/>
                      </a:solidFill>
                    </a:lnR>
                    <a:lnT>
                      <a:solidFill>
                        <a:srgbClr val="D5DEE0"/>
                      </a:solidFill>
                    </a:lnT>
                    <a:lnB>
                      <a:solidFill>
                        <a:srgbClr val="D5DEE0"/>
                      </a:solidFill>
                    </a:lnB>
                    <a:solidFill>
                      <a:srgbClr val="FDF3E1"/>
                    </a:solidFill>
                  </a:tcPr>
                </a:tc>
                <a:tc>
                  <a:txBody>
                    <a:bodyPr/>
                    <a:lstStyle/>
                    <a:p>
                      <a:pPr algn="ctr">
                        <a:defRPr sz="1800">
                          <a:solidFill>
                            <a:srgbClr val="000000"/>
                          </a:solidFill>
                        </a:defRPr>
                      </a:pPr>
                      <a:r>
                        <a:rPr b="1" sz="1400">
                          <a:solidFill>
                            <a:srgbClr val="14262B"/>
                          </a:solidFill>
                        </a:rPr>
                        <a:t>0,95 / 0,92</a:t>
                      </a:r>
                    </a:p>
                  </a:txBody>
                  <a:tcPr marL="45720" marR="45720" marT="45720" marB="45720" anchor="ctr" anchorCtr="0" horzOverflow="overflow">
                    <a:lnL>
                      <a:solidFill>
                        <a:srgbClr val="D5DEE0"/>
                      </a:solidFill>
                    </a:lnL>
                    <a:lnR>
                      <a:solidFill>
                        <a:srgbClr val="D5DEE0"/>
                      </a:solidFill>
                    </a:lnR>
                    <a:lnT>
                      <a:solidFill>
                        <a:srgbClr val="D5DEE0"/>
                      </a:solidFill>
                    </a:lnT>
                    <a:lnB>
                      <a:solidFill>
                        <a:srgbClr val="D5DEE0"/>
                      </a:solidFill>
                    </a:lnB>
                    <a:solidFill>
                      <a:srgbClr val="FDF3E1"/>
                    </a:solidFill>
                  </a:tcPr>
                </a:tc>
              </a:tr>
            </a:tbl>
          </a:graphicData>
        </a:graphic>
      </p:graphicFrame>
      <p:sp>
        <p:nvSpPr>
          <p:cNvPr id="296" name="Text 1"/>
          <p:cNvSpPr txBox="1"/>
          <p:nvPr/>
        </p:nvSpPr>
        <p:spPr>
          <a:xfrm>
            <a:off x="548639" y="4251959"/>
            <a:ext cx="6035042" cy="4179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400">
                <a:solidFill>
                  <a:schemeClr val="accent1"/>
                </a:solidFill>
              </a:defRPr>
            </a:pPr>
            <a:r>
              <a:t>Lecture métier : </a:t>
            </a:r>
            <a:r>
              <a:rPr b="0">
                <a:solidFill>
                  <a:srgbClr val="14262B"/>
                </a:solidFill>
              </a:rPr>
              <a:t>« erreur typique × 1,7 » signifie qu'une consommation réelle de 1 000 000 kBtu est estimée entre 600 000 et 1 700 000 environ.</a:t>
            </a:r>
          </a:p>
        </p:txBody>
      </p:sp>
      <p:sp>
        <p:nvSpPr>
          <p:cNvPr id="297" name="Text 2"/>
          <p:cNvSpPr txBox="1"/>
          <p:nvPr/>
        </p:nvSpPr>
        <p:spPr>
          <a:xfrm>
            <a:off x="6858000" y="4251959"/>
            <a:ext cx="4782312" cy="6465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400">
                <a:solidFill>
                  <a:schemeClr val="accent5"/>
                </a:solidFill>
              </a:defRPr>
            </a:pPr>
            <a:r>
              <a:t>Point de vigilance : </a:t>
            </a:r>
            <a:r>
              <a:rPr b="0">
                <a:solidFill>
                  <a:srgbClr val="14262B"/>
                </a:solidFill>
              </a:rPr>
              <a:t>la forêt apprend presque parfaitement l'entraînement (0,95 / 0,92) mais perd beaucoup en test (0,67 / 0,46) : elle sur-apprend.</a:t>
            </a:r>
          </a:p>
        </p:txBody>
      </p:sp>
      <p:sp>
        <p:nvSpPr>
          <p:cNvPr id="298" name="Text 3"/>
          <p:cNvSpPr txBox="1"/>
          <p:nvPr/>
        </p:nvSpPr>
        <p:spPr>
          <a:xfrm>
            <a:off x="548640" y="5442126"/>
            <a:ext cx="11091672"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100">
                <a:solidFill>
                  <a:schemeClr val="accent4"/>
                </a:solidFill>
              </a:defRPr>
            </a:lvl1pPr>
          </a:lstStyle>
          <a:p>
            <a:pPr/>
            <a:r>
              <a:t>Validation croisée à 5 plis mélangés. Erreur typique = 10 puissance l'erreur absolue moyenne en log10.  SVR : variables mises à l'échelle (Pipeline).</a:t>
            </a:r>
          </a:p>
        </p:txBody>
      </p:sp>
      <p:grpSp>
        <p:nvGrpSpPr>
          <p:cNvPr id="301" name="Message clé"/>
          <p:cNvGrpSpPr/>
          <p:nvPr/>
        </p:nvGrpSpPr>
        <p:grpSpPr>
          <a:xfrm>
            <a:off x="548640" y="5760720"/>
            <a:ext cx="11091672" cy="594361"/>
            <a:chOff x="0" y="0"/>
            <a:chExt cx="11091671" cy="594359"/>
          </a:xfrm>
        </p:grpSpPr>
        <p:sp>
          <p:nvSpPr>
            <p:cNvPr id="299" name="Rectangle"/>
            <p:cNvSpPr/>
            <p:nvPr/>
          </p:nvSpPr>
          <p:spPr>
            <a:xfrm>
              <a:off x="0" y="0"/>
              <a:ext cx="11091672" cy="594360"/>
            </a:xfrm>
            <a:prstGeom prst="rect">
              <a:avLst/>
            </a:prstGeom>
            <a:solidFill>
              <a:schemeClr val="accent1"/>
            </a:solidFill>
            <a:ln w="12700" cap="flat">
              <a:noFill/>
              <a:miter lim="400000"/>
            </a:ln>
            <a:effectLst/>
          </p:spPr>
          <p:txBody>
            <a:bodyPr wrap="square" lIns="45719" tIns="45719" rIns="45719" bIns="45719" numCol="1" anchor="ctr">
              <a:noAutofit/>
            </a:bodyPr>
            <a:lstStyle/>
            <a:p>
              <a:pPr>
                <a:defRPr sz="1600"/>
              </a:pPr>
            </a:p>
          </p:txBody>
        </p:sp>
        <p:sp>
          <p:nvSpPr>
            <p:cNvPr id="300" name="Forêt aléatoire et SVR mis à l'échelle arrivent au coude à coude, loin devant la régression linéaire"/>
            <p:cNvSpPr txBox="1"/>
            <p:nvPr/>
          </p:nvSpPr>
          <p:spPr>
            <a:xfrm>
              <a:off x="0" y="40203"/>
              <a:ext cx="11091672" cy="5139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52400" tIns="152400" rIns="152400" bIns="152400" numCol="1" anchor="ctr">
              <a:spAutoFit/>
            </a:bodyPr>
            <a:lstStyle>
              <a:lvl1pPr>
                <a:defRPr b="1" sz="1600">
                  <a:solidFill>
                    <a:srgbClr val="FFFFFF"/>
                  </a:solidFill>
                </a:defRPr>
              </a:lvl1pPr>
            </a:lstStyle>
            <a:p>
              <a:pPr/>
              <a:r>
                <a:t>Forêt aléatoire et SVR mis à l'échelle arrivent au coude à coude, loin devant la régression linéaire</a:t>
              </a:r>
            </a:p>
          </p:txBody>
        </p:sp>
      </p:grpSp>
      <p:sp>
        <p:nvSpPr>
          <p:cNvPr id="302" name="Slide Number Placeholder 0"/>
          <p:cNvSpPr txBox="1"/>
          <p:nvPr>
            <p:ph type="sldNum" sz="quarter" idx="4294967295"/>
          </p:nvPr>
        </p:nvSpPr>
        <p:spPr>
          <a:xfrm>
            <a:off x="11380003" y="6446520"/>
            <a:ext cx="232878"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6" name="Text 0"/>
          <p:cNvSpPr txBox="1"/>
          <p:nvPr/>
        </p:nvSpPr>
        <p:spPr>
          <a:xfrm>
            <a:off x="548640" y="365759"/>
            <a:ext cx="11091672" cy="9144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defRPr sz="2800">
                <a:solidFill>
                  <a:schemeClr val="accent1"/>
                </a:solidFill>
                <a:latin typeface="Cambria"/>
                <a:ea typeface="Cambria"/>
                <a:cs typeface="Cambria"/>
                <a:sym typeface="Cambria"/>
              </a:defRPr>
            </a:lvl1pPr>
          </a:lstStyle>
          <a:p>
            <a:pPr/>
            <a:r>
              <a:t>Régler la forêt aléatoire apporte un gain minime, très inférieur à la variation d'un découpage à l'autre</a:t>
            </a:r>
          </a:p>
        </p:txBody>
      </p:sp>
      <p:sp>
        <p:nvSpPr>
          <p:cNvPr id="307" name="Text 1"/>
          <p:cNvSpPr txBox="1"/>
          <p:nvPr/>
        </p:nvSpPr>
        <p:spPr>
          <a:xfrm>
            <a:off x="548639" y="1463039"/>
            <a:ext cx="4846322" cy="19264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800"/>
              </a:spcBef>
              <a:defRPr b="1">
                <a:solidFill>
                  <a:schemeClr val="accent1"/>
                </a:solidFill>
              </a:defRPr>
            </a:pPr>
            <a:r>
              <a:t>Démarche</a:t>
            </a:r>
            <a:endParaRPr sz="1500"/>
          </a:p>
          <a:p>
            <a:pPr marL="342900" indent="-342900">
              <a:spcBef>
                <a:spcPts val="800"/>
              </a:spcBef>
              <a:buSzPct val="100000"/>
              <a:buChar char="•"/>
              <a:defRPr sz="1500"/>
            </a:pPr>
            <a:r>
              <a:t>Recherche en grille sur 4 réglages (256 combinaisons, 5 plis), uniquement sur le jeu d'entraînement.</a:t>
            </a:r>
          </a:p>
          <a:p>
            <a:pPr marL="342900" indent="-342900">
              <a:spcBef>
                <a:spcPts val="800"/>
              </a:spcBef>
              <a:buSzPct val="100000"/>
              <a:buChar char="•"/>
              <a:defRPr sz="1500"/>
            </a:pPr>
            <a:r>
              <a:t>Réglages retenus : profondeur 10 et 200 arbres dans les deux cas.</a:t>
            </a:r>
          </a:p>
          <a:p>
            <a:pPr marL="342900" indent="-342900">
              <a:spcBef>
                <a:spcPts val="800"/>
              </a:spcBef>
              <a:buSzPct val="100000"/>
              <a:buChar char="•"/>
              <a:defRPr sz="1500"/>
            </a:pPr>
            <a:r>
              <a:t>Courbe de profondeur (consommation) : le score en test plafonne vers 8 niveaux et ne progresse plus ensuite.</a:t>
            </a:r>
          </a:p>
        </p:txBody>
      </p:sp>
      <p:pic>
        <p:nvPicPr>
          <p:cNvPr id="308" name="Image 0" descr="Image 0"/>
          <p:cNvPicPr>
            <a:picLocks noChangeAspect="1"/>
          </p:cNvPicPr>
          <p:nvPr/>
        </p:nvPicPr>
        <p:blipFill>
          <a:blip r:embed="rId3">
            <a:extLst/>
          </a:blip>
          <a:stretch>
            <a:fillRect/>
          </a:stretch>
        </p:blipFill>
        <p:spPr>
          <a:xfrm>
            <a:off x="5669279" y="1371600"/>
            <a:ext cx="5971033" cy="3657600"/>
          </a:xfrm>
          <a:prstGeom prst="rect">
            <a:avLst/>
          </a:prstGeom>
          <a:ln w="12700">
            <a:miter lim="400000"/>
          </a:ln>
        </p:spPr>
      </p:pic>
      <p:sp>
        <p:nvSpPr>
          <p:cNvPr id="309" name="Text 2"/>
          <p:cNvSpPr txBox="1"/>
          <p:nvPr/>
        </p:nvSpPr>
        <p:spPr>
          <a:xfrm>
            <a:off x="5669279" y="5129837"/>
            <a:ext cx="5971033" cy="3473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200">
                <a:solidFill>
                  <a:schemeClr val="accent4"/>
                </a:solidFill>
              </a:defRPr>
            </a:lvl1pPr>
          </a:lstStyle>
          <a:p>
            <a:pPr/>
            <a:r>
              <a:t>Erreur typique : × 1,68 → × 1,68 (consommation) · × 2,21 → × 2,22 (CO₂) : elle ne baisse pas. Un seul découpage entraînement / test (graine fixée).</a:t>
            </a:r>
          </a:p>
        </p:txBody>
      </p:sp>
      <p:grpSp>
        <p:nvGrpSpPr>
          <p:cNvPr id="312" name="Message clé"/>
          <p:cNvGrpSpPr/>
          <p:nvPr/>
        </p:nvGrpSpPr>
        <p:grpSpPr>
          <a:xfrm>
            <a:off x="548640" y="5669279"/>
            <a:ext cx="11091672" cy="594361"/>
            <a:chOff x="0" y="0"/>
            <a:chExt cx="11091671" cy="594359"/>
          </a:xfrm>
        </p:grpSpPr>
        <p:sp>
          <p:nvSpPr>
            <p:cNvPr id="310" name="Rectangle"/>
            <p:cNvSpPr/>
            <p:nvPr/>
          </p:nvSpPr>
          <p:spPr>
            <a:xfrm>
              <a:off x="0" y="0"/>
              <a:ext cx="11091672" cy="594360"/>
            </a:xfrm>
            <a:prstGeom prst="rect">
              <a:avLst/>
            </a:prstGeom>
            <a:solidFill>
              <a:schemeClr val="accent1"/>
            </a:solidFill>
            <a:ln w="12700" cap="flat">
              <a:noFill/>
              <a:miter lim="400000"/>
            </a:ln>
            <a:effectLst/>
          </p:spPr>
          <p:txBody>
            <a:bodyPr wrap="square" lIns="45719" tIns="45719" rIns="45719" bIns="45719" numCol="1" anchor="ctr">
              <a:noAutofit/>
            </a:bodyPr>
            <a:lstStyle/>
            <a:p>
              <a:pPr>
                <a:defRPr sz="1600"/>
              </a:pPr>
            </a:p>
          </p:txBody>
        </p:sp>
        <p:sp>
          <p:nvSpPr>
            <p:cNvPr id="311" name="+0,01 à +0,02 de R², erreur typique inchangée : sous la variation d'un pli à l'autre (écart-type 0,04 à 0,06)"/>
            <p:cNvSpPr txBox="1"/>
            <p:nvPr/>
          </p:nvSpPr>
          <p:spPr>
            <a:xfrm>
              <a:off x="0" y="40203"/>
              <a:ext cx="11091672" cy="5139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52400" tIns="152400" rIns="152400" bIns="152400" numCol="1" anchor="ctr">
              <a:spAutoFit/>
            </a:bodyPr>
            <a:lstStyle>
              <a:lvl1pPr>
                <a:defRPr b="1" sz="1600">
                  <a:solidFill>
                    <a:srgbClr val="FFFFFF"/>
                  </a:solidFill>
                </a:defRPr>
              </a:lvl1pPr>
            </a:lstStyle>
            <a:p>
              <a:pPr/>
              <a:r>
                <a:t>+0,01 à +0,02 de R², erreur typique inchangée : sous la variation d'un pli à l'autre (écart-type 0,04 à 0,06)</a:t>
              </a:r>
            </a:p>
          </p:txBody>
        </p:sp>
      </p:grpSp>
      <p:sp>
        <p:nvSpPr>
          <p:cNvPr id="313" name="Slide Number Placeholder 0"/>
          <p:cNvSpPr txBox="1"/>
          <p:nvPr>
            <p:ph type="sldNum" sz="quarter" idx="4294967295"/>
          </p:nvPr>
        </p:nvSpPr>
        <p:spPr>
          <a:xfrm>
            <a:off x="11380003" y="6446520"/>
            <a:ext cx="232878"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7" name="Text 0"/>
          <p:cNvSpPr txBox="1"/>
          <p:nvPr/>
        </p:nvSpPr>
        <p:spPr>
          <a:xfrm>
            <a:off x="548640" y="365759"/>
            <a:ext cx="11091672" cy="9144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defRPr sz="2800">
                <a:solidFill>
                  <a:schemeClr val="accent1"/>
                </a:solidFill>
                <a:latin typeface="Cambria"/>
                <a:ea typeface="Cambria"/>
                <a:cs typeface="Cambria"/>
                <a:sym typeface="Cambria"/>
              </a:defRPr>
            </a:lvl1pPr>
          </a:lstStyle>
          <a:p>
            <a:pPr/>
            <a:r>
              <a:t>La surface domine la consommation ; pour les émissions, l'usage compte presque autant</a:t>
            </a:r>
          </a:p>
        </p:txBody>
      </p:sp>
      <p:pic>
        <p:nvPicPr>
          <p:cNvPr id="318" name="Image 0" descr="Image 0"/>
          <p:cNvPicPr>
            <a:picLocks noChangeAspect="1"/>
          </p:cNvPicPr>
          <p:nvPr/>
        </p:nvPicPr>
        <p:blipFill>
          <a:blip r:embed="rId3">
            <a:extLst/>
          </a:blip>
          <a:stretch>
            <a:fillRect/>
          </a:stretch>
        </p:blipFill>
        <p:spPr>
          <a:xfrm>
            <a:off x="548640" y="1371600"/>
            <a:ext cx="7040881" cy="4251960"/>
          </a:xfrm>
          <a:prstGeom prst="rect">
            <a:avLst/>
          </a:prstGeom>
          <a:ln w="12700">
            <a:miter lim="400000"/>
          </a:ln>
        </p:spPr>
      </p:pic>
      <p:sp>
        <p:nvSpPr>
          <p:cNvPr id="319" name="Text 1"/>
          <p:cNvSpPr txBox="1"/>
          <p:nvPr/>
        </p:nvSpPr>
        <p:spPr>
          <a:xfrm>
            <a:off x="7863840" y="1463039"/>
            <a:ext cx="3776472" cy="261225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800"/>
              </a:spcBef>
              <a:defRPr b="1">
                <a:solidFill>
                  <a:schemeClr val="accent1"/>
                </a:solidFill>
              </a:defRPr>
            </a:pPr>
            <a:r>
              <a:t>Ce que ça dit</a:t>
            </a:r>
            <a:endParaRPr sz="1500"/>
          </a:p>
          <a:p>
            <a:pPr marL="342900" indent="-342900">
              <a:spcBef>
                <a:spcPts val="800"/>
              </a:spcBef>
              <a:buSzPct val="100000"/>
              <a:buChar char="•"/>
              <a:defRPr sz="1500"/>
            </a:pPr>
            <a:r>
              <a:t>La surface est le facteur n°1 de la consommation (0,69), l'usage principal vient ensuite (0,16).</a:t>
            </a:r>
          </a:p>
          <a:p>
            <a:pPr marL="342900" indent="-342900">
              <a:spcBef>
                <a:spcPts val="800"/>
              </a:spcBef>
              <a:buSzPct val="100000"/>
              <a:buChar char="•"/>
              <a:defRPr sz="1500"/>
            </a:pPr>
            <a:r>
              <a:t>Pour les émissions, l'usage principal pèse presque autant que la surface (0,25 contre 0,32).</a:t>
            </a:r>
          </a:p>
          <a:p>
            <a:pPr marL="342900" indent="-342900">
              <a:spcBef>
                <a:spcPts val="800"/>
              </a:spcBef>
              <a:buSzPct val="100000"/>
              <a:buChar char="•"/>
              <a:defRPr sz="1500"/>
            </a:pPr>
            <a:r>
              <a:t>Hypothèse à vérifier : l'usage détermine la source d'énergie (gaz ou électricité), moteur des émissions.</a:t>
            </a:r>
          </a:p>
        </p:txBody>
      </p:sp>
      <p:sp>
        <p:nvSpPr>
          <p:cNvPr id="320" name="Text 2"/>
          <p:cNvSpPr txBox="1"/>
          <p:nvPr/>
        </p:nvSpPr>
        <p:spPr>
          <a:xfrm>
            <a:off x="548640" y="5862495"/>
            <a:ext cx="11091672" cy="2993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100">
                <a:solidFill>
                  <a:schemeClr val="accent4"/>
                </a:solidFill>
              </a:defRPr>
            </a:lvl1pPr>
          </a:lstStyle>
          <a:p>
            <a:pPr/>
            <a:r>
              <a:t>Importance par permutation sur le jeu de test (modèle réglé, graine fixée). Ce sont des pertes de score, pas des parts : elles ne s'additionnent pas à 100 %. Colonnes d'usage encodées additionnées par famille (approximation). Autres = 2e usage, 3e usage, nombre d'usages, nombre de bâtiments. Le classement est stable d'une exécution à l'autre, pas les valeurs exactes.</a:t>
            </a:r>
          </a:p>
        </p:txBody>
      </p:sp>
      <p:sp>
        <p:nvSpPr>
          <p:cNvPr id="321" name="Slide Number Placeholder 0"/>
          <p:cNvSpPr txBox="1"/>
          <p:nvPr>
            <p:ph type="sldNum" sz="quarter" idx="4294967295"/>
          </p:nvPr>
        </p:nvSpPr>
        <p:spPr>
          <a:xfrm>
            <a:off x="11380003" y="6446520"/>
            <a:ext cx="232878"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5" name="Text 0"/>
          <p:cNvSpPr txBox="1"/>
          <p:nvPr/>
        </p:nvSpPr>
        <p:spPr>
          <a:xfrm>
            <a:off x="731519" y="739140"/>
            <a:ext cx="10515601" cy="533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600">
                <a:solidFill>
                  <a:srgbClr val="FFFFFF"/>
                </a:solidFill>
                <a:latin typeface="Cambria"/>
                <a:ea typeface="Cambria"/>
                <a:cs typeface="Cambria"/>
                <a:sym typeface="Cambria"/>
              </a:defRPr>
            </a:lvl1pPr>
          </a:lstStyle>
          <a:p>
            <a:pPr/>
            <a:r>
              <a:t>Ce qu'il faut retenir</a:t>
            </a:r>
          </a:p>
        </p:txBody>
      </p:sp>
      <p:grpSp>
        <p:nvGrpSpPr>
          <p:cNvPr id="328" name="Text 1"/>
          <p:cNvGrpSpPr/>
          <p:nvPr/>
        </p:nvGrpSpPr>
        <p:grpSpPr>
          <a:xfrm>
            <a:off x="731519" y="1645920"/>
            <a:ext cx="548641" cy="548641"/>
            <a:chOff x="0" y="0"/>
            <a:chExt cx="548640" cy="548640"/>
          </a:xfrm>
        </p:grpSpPr>
        <p:sp>
          <p:nvSpPr>
            <p:cNvPr id="326" name="Cercle"/>
            <p:cNvSpPr/>
            <p:nvPr/>
          </p:nvSpPr>
          <p:spPr>
            <a:xfrm>
              <a:off x="-1" y="-1"/>
              <a:ext cx="548642" cy="548642"/>
            </a:xfrm>
            <a:prstGeom prst="ellipse">
              <a:avLst/>
            </a:prstGeom>
            <a:solidFill>
              <a:schemeClr val="accent2"/>
            </a:solidFill>
            <a:ln w="12700" cap="flat">
              <a:noFill/>
              <a:miter lim="400000"/>
            </a:ln>
            <a:effectLst/>
          </p:spPr>
          <p:txBody>
            <a:bodyPr wrap="square" lIns="45719" tIns="45719" rIns="45719" bIns="45719" numCol="1" anchor="ctr">
              <a:noAutofit/>
            </a:bodyPr>
            <a:lstStyle/>
            <a:p>
              <a:pPr algn="ctr"/>
            </a:p>
          </p:txBody>
        </p:sp>
        <p:sp>
          <p:nvSpPr>
            <p:cNvPr id="327" name="1"/>
            <p:cNvSpPr txBox="1"/>
            <p:nvPr/>
          </p:nvSpPr>
          <p:spPr>
            <a:xfrm>
              <a:off x="80345" y="153496"/>
              <a:ext cx="387950" cy="2416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a:lvl1pPr>
            </a:lstStyle>
            <a:p>
              <a:pPr/>
              <a:r>
                <a:t>1</a:t>
              </a:r>
            </a:p>
          </p:txBody>
        </p:sp>
      </p:grpSp>
      <p:sp>
        <p:nvSpPr>
          <p:cNvPr id="329" name="Text 2"/>
          <p:cNvSpPr txBox="1"/>
          <p:nvPr/>
        </p:nvSpPr>
        <p:spPr>
          <a:xfrm>
            <a:off x="1554479" y="1554480"/>
            <a:ext cx="9692642" cy="7199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2000">
                <a:solidFill>
                  <a:srgbClr val="FFFFFF"/>
                </a:solidFill>
              </a:defRPr>
            </a:pPr>
            <a:r>
              <a:t>Un modèle utilisable</a:t>
            </a:r>
          </a:p>
          <a:p>
            <a:pPr>
              <a:defRPr sz="1500">
                <a:solidFill>
                  <a:srgbClr val="DCE8EB"/>
                </a:solidFill>
              </a:defRPr>
            </a:pPr>
            <a:r>
              <a:t>La forêt aléatoire estime la consommation à un facteur d'environ 1,7 près et les émissions à environ 2,2 près, sur des bâtiments jamais vus.</a:t>
            </a:r>
          </a:p>
        </p:txBody>
      </p:sp>
      <p:grpSp>
        <p:nvGrpSpPr>
          <p:cNvPr id="332" name="Text 3"/>
          <p:cNvGrpSpPr/>
          <p:nvPr/>
        </p:nvGrpSpPr>
        <p:grpSpPr>
          <a:xfrm>
            <a:off x="731519" y="2743199"/>
            <a:ext cx="548641" cy="548642"/>
            <a:chOff x="0" y="0"/>
            <a:chExt cx="548640" cy="548640"/>
          </a:xfrm>
        </p:grpSpPr>
        <p:sp>
          <p:nvSpPr>
            <p:cNvPr id="330" name="Cercle"/>
            <p:cNvSpPr/>
            <p:nvPr/>
          </p:nvSpPr>
          <p:spPr>
            <a:xfrm>
              <a:off x="-1" y="-1"/>
              <a:ext cx="548642" cy="548642"/>
            </a:xfrm>
            <a:prstGeom prst="ellipse">
              <a:avLst/>
            </a:prstGeom>
            <a:solidFill>
              <a:schemeClr val="accent2"/>
            </a:solidFill>
            <a:ln w="12700" cap="flat">
              <a:noFill/>
              <a:miter lim="400000"/>
            </a:ln>
            <a:effectLst/>
          </p:spPr>
          <p:txBody>
            <a:bodyPr wrap="square" lIns="45719" tIns="45719" rIns="45719" bIns="45719" numCol="1" anchor="ctr">
              <a:noAutofit/>
            </a:bodyPr>
            <a:lstStyle/>
            <a:p>
              <a:pPr algn="ctr"/>
            </a:p>
          </p:txBody>
        </p:sp>
        <p:sp>
          <p:nvSpPr>
            <p:cNvPr id="331" name="2"/>
            <p:cNvSpPr txBox="1"/>
            <p:nvPr/>
          </p:nvSpPr>
          <p:spPr>
            <a:xfrm>
              <a:off x="80345" y="153496"/>
              <a:ext cx="387950" cy="2416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a:lvl1pPr>
            </a:lstStyle>
            <a:p>
              <a:pPr/>
              <a:r>
                <a:t>2</a:t>
              </a:r>
            </a:p>
          </p:txBody>
        </p:sp>
      </p:grpSp>
      <p:sp>
        <p:nvSpPr>
          <p:cNvPr id="333" name="Text 4"/>
          <p:cNvSpPr txBox="1"/>
          <p:nvPr/>
        </p:nvSpPr>
        <p:spPr>
          <a:xfrm>
            <a:off x="1554479" y="2651760"/>
            <a:ext cx="9692642" cy="4913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2000">
                <a:solidFill>
                  <a:srgbClr val="FFFFFF"/>
                </a:solidFill>
              </a:defRPr>
            </a:pPr>
            <a:r>
              <a:t>Des facteurs simples</a:t>
            </a:r>
          </a:p>
          <a:p>
            <a:pPr>
              <a:defRPr sz="1500">
                <a:solidFill>
                  <a:srgbClr val="DCE8EB"/>
                </a:solidFill>
              </a:defRPr>
            </a:pPr>
            <a:r>
              <a:t>Surface d'abord, usage ensuite (surtout pour les émissions) : des informations disponibles sans relevé.</a:t>
            </a:r>
          </a:p>
        </p:txBody>
      </p:sp>
      <p:grpSp>
        <p:nvGrpSpPr>
          <p:cNvPr id="336" name="Text 5"/>
          <p:cNvGrpSpPr/>
          <p:nvPr/>
        </p:nvGrpSpPr>
        <p:grpSpPr>
          <a:xfrm>
            <a:off x="731519" y="3840479"/>
            <a:ext cx="548641" cy="548641"/>
            <a:chOff x="0" y="0"/>
            <a:chExt cx="548640" cy="548640"/>
          </a:xfrm>
        </p:grpSpPr>
        <p:sp>
          <p:nvSpPr>
            <p:cNvPr id="334" name="Cercle"/>
            <p:cNvSpPr/>
            <p:nvPr/>
          </p:nvSpPr>
          <p:spPr>
            <a:xfrm>
              <a:off x="-1" y="-1"/>
              <a:ext cx="548642" cy="548642"/>
            </a:xfrm>
            <a:prstGeom prst="ellipse">
              <a:avLst/>
            </a:prstGeom>
            <a:solidFill>
              <a:schemeClr val="accent2"/>
            </a:solidFill>
            <a:ln w="12700" cap="flat">
              <a:noFill/>
              <a:miter lim="400000"/>
            </a:ln>
            <a:effectLst/>
          </p:spPr>
          <p:txBody>
            <a:bodyPr wrap="square" lIns="45719" tIns="45719" rIns="45719" bIns="45719" numCol="1" anchor="ctr">
              <a:noAutofit/>
            </a:bodyPr>
            <a:lstStyle/>
            <a:p>
              <a:pPr algn="ctr"/>
            </a:p>
          </p:txBody>
        </p:sp>
        <p:sp>
          <p:nvSpPr>
            <p:cNvPr id="335" name="3"/>
            <p:cNvSpPr txBox="1"/>
            <p:nvPr/>
          </p:nvSpPr>
          <p:spPr>
            <a:xfrm>
              <a:off x="80345" y="153496"/>
              <a:ext cx="387950" cy="2416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a:lvl1pPr>
            </a:lstStyle>
            <a:p>
              <a:pPr/>
              <a:r>
                <a:t>3</a:t>
              </a:r>
            </a:p>
          </p:txBody>
        </p:sp>
      </p:grpSp>
      <p:sp>
        <p:nvSpPr>
          <p:cNvPr id="337" name="Text 6"/>
          <p:cNvSpPr txBox="1"/>
          <p:nvPr/>
        </p:nvSpPr>
        <p:spPr>
          <a:xfrm>
            <a:off x="1554479" y="3749040"/>
            <a:ext cx="9692642" cy="7199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2000">
                <a:solidFill>
                  <a:srgbClr val="FFFFFF"/>
                </a:solidFill>
              </a:defRPr>
            </a:pPr>
            <a:r>
              <a:t>Des limites assumées</a:t>
            </a:r>
          </a:p>
          <a:p>
            <a:pPr>
              <a:defRPr sz="1500">
                <a:solidFill>
                  <a:srgbClr val="DCE8EB"/>
                </a:solidFill>
              </a:defRPr>
            </a:pPr>
            <a:r>
              <a:t>Un seul millésime (2016), une marge d'erreur encore large sur les émissions, un gain d'optimisation dans la variabilité de la validation croisée.</a:t>
            </a:r>
          </a:p>
        </p:txBody>
      </p:sp>
      <p:grpSp>
        <p:nvGrpSpPr>
          <p:cNvPr id="340" name="Text 7"/>
          <p:cNvGrpSpPr/>
          <p:nvPr/>
        </p:nvGrpSpPr>
        <p:grpSpPr>
          <a:xfrm>
            <a:off x="731519" y="4937759"/>
            <a:ext cx="548641" cy="548641"/>
            <a:chOff x="0" y="0"/>
            <a:chExt cx="548640" cy="548640"/>
          </a:xfrm>
        </p:grpSpPr>
        <p:sp>
          <p:nvSpPr>
            <p:cNvPr id="338" name="Cercle"/>
            <p:cNvSpPr/>
            <p:nvPr/>
          </p:nvSpPr>
          <p:spPr>
            <a:xfrm>
              <a:off x="-1" y="-1"/>
              <a:ext cx="548642" cy="548642"/>
            </a:xfrm>
            <a:prstGeom prst="ellipse">
              <a:avLst/>
            </a:prstGeom>
            <a:solidFill>
              <a:schemeClr val="accent2"/>
            </a:solidFill>
            <a:ln w="12700" cap="flat">
              <a:noFill/>
              <a:miter lim="400000"/>
            </a:ln>
            <a:effectLst/>
          </p:spPr>
          <p:txBody>
            <a:bodyPr wrap="square" lIns="45719" tIns="45719" rIns="45719" bIns="45719" numCol="1" anchor="ctr">
              <a:noAutofit/>
            </a:bodyPr>
            <a:lstStyle/>
            <a:p>
              <a:pPr algn="ctr"/>
            </a:p>
          </p:txBody>
        </p:sp>
        <p:sp>
          <p:nvSpPr>
            <p:cNvPr id="339" name="4"/>
            <p:cNvSpPr txBox="1"/>
            <p:nvPr/>
          </p:nvSpPr>
          <p:spPr>
            <a:xfrm>
              <a:off x="80345" y="153496"/>
              <a:ext cx="387950" cy="2416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a:lvl1pPr>
            </a:lstStyle>
            <a:p>
              <a:pPr/>
              <a:r>
                <a:t>4</a:t>
              </a:r>
            </a:p>
          </p:txBody>
        </p:sp>
      </p:grpSp>
      <p:sp>
        <p:nvSpPr>
          <p:cNvPr id="341" name="Text 8"/>
          <p:cNvSpPr txBox="1"/>
          <p:nvPr/>
        </p:nvSpPr>
        <p:spPr>
          <a:xfrm>
            <a:off x="1554479" y="4846320"/>
            <a:ext cx="9692642" cy="4913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2000">
                <a:solidFill>
                  <a:srgbClr val="FFFFFF"/>
                </a:solidFill>
              </a:defRPr>
            </a:pPr>
            <a:r>
              <a:t>Suite possible</a:t>
            </a:r>
          </a:p>
          <a:p>
            <a:pPr>
              <a:defRPr sz="1500">
                <a:solidFill>
                  <a:srgbClr val="DCE8EB"/>
                </a:solidFill>
              </a:defRPr>
            </a:pPr>
            <a:r>
              <a:t>Ajouter le ENERGY STAR Score, tester un modèle par type d'usage, intégrer plusieurs années.</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5" name="Text 0"/>
          <p:cNvSpPr txBox="1"/>
          <p:nvPr/>
        </p:nvSpPr>
        <p:spPr>
          <a:xfrm>
            <a:off x="548640" y="365759"/>
            <a:ext cx="11091672" cy="9144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defRPr sz="2800">
                <a:solidFill>
                  <a:schemeClr val="accent1"/>
                </a:solidFill>
                <a:latin typeface="Cambria"/>
                <a:ea typeface="Cambria"/>
                <a:cs typeface="Cambria"/>
                <a:sym typeface="Cambria"/>
              </a:defRPr>
            </a:lvl1pPr>
          </a:lstStyle>
          <a:p>
            <a:pPr/>
            <a:r>
              <a:t>Annexe · Les émissions de CO₂ ont la même forme : très étalées, puis en cloche après le log</a:t>
            </a:r>
          </a:p>
        </p:txBody>
      </p:sp>
      <p:pic>
        <p:nvPicPr>
          <p:cNvPr id="346" name="Image 0" descr="Image 0"/>
          <p:cNvPicPr>
            <a:picLocks noChangeAspect="1"/>
          </p:cNvPicPr>
          <p:nvPr/>
        </p:nvPicPr>
        <p:blipFill>
          <a:blip r:embed="rId3">
            <a:extLst/>
          </a:blip>
          <a:stretch>
            <a:fillRect/>
          </a:stretch>
        </p:blipFill>
        <p:spPr>
          <a:xfrm>
            <a:off x="548640" y="1508760"/>
            <a:ext cx="8778241" cy="3726017"/>
          </a:xfrm>
          <a:prstGeom prst="rect">
            <a:avLst/>
          </a:prstGeom>
          <a:ln w="12700">
            <a:miter lim="400000"/>
          </a:ln>
        </p:spPr>
      </p:pic>
      <p:sp>
        <p:nvSpPr>
          <p:cNvPr id="347" name="Text 1"/>
          <p:cNvSpPr txBox="1"/>
          <p:nvPr/>
        </p:nvSpPr>
        <p:spPr>
          <a:xfrm>
            <a:off x="9509759" y="1554480"/>
            <a:ext cx="2130553" cy="14974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800"/>
              </a:spcBef>
              <a:defRPr b="1">
                <a:solidFill>
                  <a:schemeClr val="accent1"/>
                </a:solidFill>
              </a:defRPr>
            </a:pPr>
            <a:r>
              <a:t>Lecture</a:t>
            </a:r>
            <a:endParaRPr sz="1400"/>
          </a:p>
          <a:p>
            <a:pPr marL="342900" indent="-342900">
              <a:spcBef>
                <a:spcPts val="800"/>
              </a:spcBef>
              <a:buSzPct val="100000"/>
              <a:buChar char="•"/>
              <a:defRPr sz="1400"/>
            </a:pPr>
            <a:r>
              <a:t>Médiane de 50 tonnes d'équivalent CO₂, maximum de 16 871 : plus de 4 ordres de grandeur d'écart.</a:t>
            </a:r>
          </a:p>
        </p:txBody>
      </p:sp>
      <p:sp>
        <p:nvSpPr>
          <p:cNvPr id="348" name="Slide Number Placeholder 0"/>
          <p:cNvSpPr txBox="1"/>
          <p:nvPr>
            <p:ph type="sldNum" sz="quarter" idx="4294967295"/>
          </p:nvPr>
        </p:nvSpPr>
        <p:spPr>
          <a:xfrm>
            <a:off x="11380003" y="6446520"/>
            <a:ext cx="232878"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2" name="Text 0"/>
          <p:cNvSpPr txBox="1"/>
          <p:nvPr/>
        </p:nvSpPr>
        <p:spPr>
          <a:xfrm>
            <a:off x="548640" y="365759"/>
            <a:ext cx="11091672" cy="9144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defRPr sz="2800">
                <a:solidFill>
                  <a:schemeClr val="accent1"/>
                </a:solidFill>
                <a:latin typeface="Cambria"/>
                <a:ea typeface="Cambria"/>
                <a:cs typeface="Cambria"/>
                <a:sym typeface="Cambria"/>
              </a:defRPr>
            </a:lvl1pPr>
          </a:lstStyle>
          <a:p>
            <a:pPr/>
            <a:r>
              <a:t>Annexe · Les bâtiments récents consomment plus, mais ils sont aussi plus grands</a:t>
            </a:r>
          </a:p>
        </p:txBody>
      </p:sp>
      <p:pic>
        <p:nvPicPr>
          <p:cNvPr id="353" name="Image 0" descr="Image 0"/>
          <p:cNvPicPr>
            <a:picLocks noChangeAspect="1"/>
          </p:cNvPicPr>
          <p:nvPr/>
        </p:nvPicPr>
        <p:blipFill>
          <a:blip r:embed="rId3">
            <a:extLst/>
          </a:blip>
          <a:stretch>
            <a:fillRect/>
          </a:stretch>
        </p:blipFill>
        <p:spPr>
          <a:xfrm>
            <a:off x="548640" y="1371600"/>
            <a:ext cx="5486401" cy="3269894"/>
          </a:xfrm>
          <a:prstGeom prst="rect">
            <a:avLst/>
          </a:prstGeom>
          <a:ln w="12700">
            <a:miter lim="400000"/>
          </a:ln>
        </p:spPr>
      </p:pic>
      <p:pic>
        <p:nvPicPr>
          <p:cNvPr id="354" name="Image 1" descr="Image 1"/>
          <p:cNvPicPr>
            <a:picLocks noChangeAspect="1"/>
          </p:cNvPicPr>
          <p:nvPr/>
        </p:nvPicPr>
        <p:blipFill>
          <a:blip r:embed="rId4">
            <a:extLst/>
          </a:blip>
          <a:stretch>
            <a:fillRect/>
          </a:stretch>
        </p:blipFill>
        <p:spPr>
          <a:xfrm>
            <a:off x="6153911" y="1371600"/>
            <a:ext cx="5486401" cy="3269894"/>
          </a:xfrm>
          <a:prstGeom prst="rect">
            <a:avLst/>
          </a:prstGeom>
          <a:ln w="12700">
            <a:miter lim="400000"/>
          </a:ln>
        </p:spPr>
      </p:pic>
      <p:sp>
        <p:nvSpPr>
          <p:cNvPr id="355" name="Text 1"/>
          <p:cNvSpPr txBox="1"/>
          <p:nvPr/>
        </p:nvSpPr>
        <p:spPr>
          <a:xfrm>
            <a:off x="548640" y="4824374"/>
            <a:ext cx="11091672" cy="7989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a:spcBef>
                <a:spcPts val="600"/>
              </a:spcBef>
              <a:buSzPct val="100000"/>
              <a:buChar char="•"/>
              <a:defRPr sz="1400"/>
            </a:pPr>
            <a:r>
              <a:t>Consommation médiane : environ 2 M kBtu avant 1980, environ 6 M depuis 1990 (× 3).</a:t>
            </a:r>
          </a:p>
          <a:p>
            <a:pPr marL="342900" indent="-342900">
              <a:spcBef>
                <a:spcPts val="600"/>
              </a:spcBef>
              <a:buSzPct val="100000"/>
              <a:buChar char="•"/>
              <a:defRPr sz="1400"/>
            </a:pPr>
            <a:r>
              <a:t>Surface médiane : environ 40 000 à 45 000 ft² avant 1970, environ 105 000 ft² depuis 2000 (× 2 à 2,5).</a:t>
            </a:r>
          </a:p>
          <a:p>
            <a:pPr marL="342900" indent="-342900">
              <a:spcBef>
                <a:spcPts val="600"/>
              </a:spcBef>
              <a:buSzPct val="100000"/>
              <a:buChar char="•"/>
              <a:defRPr sz="1400"/>
            </a:pPr>
            <a:r>
              <a:t>La taille explique l'essentiel de l'écart. Poids de l'âge dans le modèle : 0,01, contre 0,69 pour la surface (consommation).</a:t>
            </a:r>
          </a:p>
        </p:txBody>
      </p:sp>
      <p:sp>
        <p:nvSpPr>
          <p:cNvPr id="356" name="Slide Number Placeholder 0"/>
          <p:cNvSpPr txBox="1"/>
          <p:nvPr>
            <p:ph type="sldNum" sz="quarter" idx="4294967295"/>
          </p:nvPr>
        </p:nvSpPr>
        <p:spPr>
          <a:xfrm>
            <a:off x="11380003" y="6446520"/>
            <a:ext cx="232878"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0" name="Text 0"/>
          <p:cNvSpPr txBox="1"/>
          <p:nvPr/>
        </p:nvSpPr>
        <p:spPr>
          <a:xfrm>
            <a:off x="548640" y="365759"/>
            <a:ext cx="11091672" cy="9144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defRPr sz="2800">
                <a:solidFill>
                  <a:schemeClr val="accent1"/>
                </a:solidFill>
                <a:latin typeface="Cambria"/>
                <a:ea typeface="Cambria"/>
                <a:cs typeface="Cambria"/>
                <a:sym typeface="Cambria"/>
              </a:defRPr>
            </a:lvl1pPr>
          </a:lstStyle>
          <a:p>
            <a:pPr/>
            <a:r>
              <a:t>Annexe · Trois variables sont retirées car elles répètent la surface totale ou l'âge</a:t>
            </a:r>
          </a:p>
        </p:txBody>
      </p:sp>
      <p:pic>
        <p:nvPicPr>
          <p:cNvPr id="361" name="Image 0" descr="Image 0"/>
          <p:cNvPicPr>
            <a:picLocks noChangeAspect="1"/>
          </p:cNvPicPr>
          <p:nvPr/>
        </p:nvPicPr>
        <p:blipFill>
          <a:blip r:embed="rId3">
            <a:extLst/>
          </a:blip>
          <a:stretch>
            <a:fillRect/>
          </a:stretch>
        </p:blipFill>
        <p:spPr>
          <a:xfrm>
            <a:off x="548640" y="1371600"/>
            <a:ext cx="5540250" cy="4846321"/>
          </a:xfrm>
          <a:prstGeom prst="rect">
            <a:avLst/>
          </a:prstGeom>
          <a:ln w="12700">
            <a:miter lim="400000"/>
          </a:ln>
        </p:spPr>
      </p:pic>
      <p:sp>
        <p:nvSpPr>
          <p:cNvPr id="362" name="Text 1"/>
          <p:cNvSpPr txBox="1"/>
          <p:nvPr/>
        </p:nvSpPr>
        <p:spPr>
          <a:xfrm>
            <a:off x="6492240" y="1463040"/>
            <a:ext cx="5148072" cy="24499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600"/>
              </a:spcBef>
              <a:defRPr b="1" sz="1600">
                <a:solidFill>
                  <a:schemeClr val="accent1"/>
                </a:solidFill>
              </a:defRPr>
            </a:pPr>
            <a:r>
              <a:t>Retirées (redondantes)</a:t>
            </a:r>
            <a:endParaRPr sz="1400"/>
          </a:p>
          <a:p>
            <a:pPr marL="342900" indent="-342900">
              <a:spcBef>
                <a:spcPts val="600"/>
              </a:spcBef>
              <a:buSzPct val="100000"/>
              <a:buChar char="•"/>
              <a:defRPr sz="1400"/>
            </a:pPr>
            <a:r>
              <a:t>Année de construction : corrélation de −1 avec l'âge.</a:t>
            </a:r>
          </a:p>
          <a:p>
            <a:pPr marL="342900" indent="-342900">
              <a:spcBef>
                <a:spcPts val="600"/>
              </a:spcBef>
              <a:buSzPct val="100000"/>
              <a:buChar char="•"/>
              <a:defRPr sz="1400"/>
            </a:pPr>
            <a:r>
              <a:t>Surface des bâtiments et surface du premier usage : 0,98 et 0,95 avec la surface totale.</a:t>
            </a:r>
          </a:p>
          <a:p>
            <a:pPr>
              <a:spcBef>
                <a:spcPts val="600"/>
              </a:spcBef>
              <a:defRPr b="1" sz="1600">
                <a:solidFill>
                  <a:schemeClr val="accent1"/>
                </a:solidFill>
              </a:defRPr>
            </a:pPr>
            <a:r>
              <a:t>Lien avec la consommation (log)</a:t>
            </a:r>
            <a:endParaRPr sz="1400"/>
          </a:p>
          <a:p>
            <a:pPr marL="342900" indent="-342900">
              <a:spcBef>
                <a:spcPts val="600"/>
              </a:spcBef>
              <a:buSzPct val="100000"/>
              <a:buChar char="•"/>
              <a:defRPr sz="1400"/>
            </a:pPr>
            <a:r>
              <a:t>Surface totale 0,62 · étages 0,43 · âge −0,25. Aucune variable ne dépasse 0,62.</a:t>
            </a:r>
          </a:p>
          <a:p>
            <a:pPr marL="342900" indent="-342900">
              <a:spcBef>
                <a:spcPts val="600"/>
              </a:spcBef>
              <a:buSzPct val="100000"/>
              <a:buChar char="•"/>
              <a:defRPr sz="1400"/>
            </a:pPr>
            <a:r>
              <a:t>Limite : corrélation linéaire, surfaces en valeurs brutes face à une cible en log10, donc lien sous-estimé.</a:t>
            </a:r>
          </a:p>
        </p:txBody>
      </p:sp>
      <p:sp>
        <p:nvSpPr>
          <p:cNvPr id="363" name="Slide Number Placeholder 0"/>
          <p:cNvSpPr txBox="1"/>
          <p:nvPr>
            <p:ph type="sldNum" sz="quarter" idx="4294967295"/>
          </p:nvPr>
        </p:nvSpPr>
        <p:spPr>
          <a:xfrm>
            <a:off x="11380003" y="6446520"/>
            <a:ext cx="232878"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7" name="Text 0"/>
          <p:cNvSpPr txBox="1"/>
          <p:nvPr/>
        </p:nvSpPr>
        <p:spPr>
          <a:xfrm>
            <a:off x="548640" y="365759"/>
            <a:ext cx="11091672" cy="9144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defRPr sz="2800">
                <a:solidFill>
                  <a:schemeClr val="accent1"/>
                </a:solidFill>
                <a:latin typeface="Cambria"/>
                <a:ea typeface="Cambria"/>
                <a:cs typeface="Cambria"/>
                <a:sym typeface="Cambria"/>
              </a:defRPr>
            </a:lvl1pPr>
          </a:lstStyle>
          <a:p>
            <a:pPr/>
            <a:r>
              <a:t>Annexe · Ajouter la localisation (latitude, longitude) n'apporte pas de gain mesurable</a:t>
            </a:r>
          </a:p>
        </p:txBody>
      </p:sp>
      <p:graphicFrame>
        <p:nvGraphicFramePr>
          <p:cNvPr id="368" name="Table 0"/>
          <p:cNvGraphicFramePr/>
          <p:nvPr/>
        </p:nvGraphicFramePr>
        <p:xfrm>
          <a:off x="548640" y="1463039"/>
          <a:ext cx="11091672" cy="173736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2651760"/>
                <a:gridCol w="2194560"/>
                <a:gridCol w="2194560"/>
                <a:gridCol w="2194560"/>
                <a:gridCol w="1856232"/>
              </a:tblGrid>
              <a:tr h="640080">
                <a:tc>
                  <a:txBody>
                    <a:bodyPr/>
                    <a:lstStyle/>
                    <a:p>
                      <a:pPr algn="l">
                        <a:defRPr sz="1800">
                          <a:solidFill>
                            <a:srgbClr val="000000"/>
                          </a:solidFill>
                        </a:defRPr>
                      </a:pPr>
                      <a:r>
                        <a:rPr b="1" sz="1300">
                          <a:solidFill>
                            <a:srgbClr val="FFFFFF"/>
                          </a:solidFill>
                        </a:rPr>
                        <a:t>Cible</a:t>
                      </a:r>
                    </a:p>
                  </a:txBody>
                  <a:tcPr marL="45720" marR="45720" marT="45720" marB="45720" anchor="ctr" anchorCtr="0" horzOverflow="overflow">
                    <a:lnL>
                      <a:solidFill>
                        <a:srgbClr val="D5DEE0"/>
                      </a:solidFill>
                    </a:lnL>
                    <a:lnR>
                      <a:solidFill>
                        <a:srgbClr val="D5DEE0"/>
                      </a:solidFill>
                    </a:lnR>
                    <a:lnT>
                      <a:solidFill>
                        <a:srgbClr val="D5DEE0"/>
                      </a:solidFill>
                    </a:lnT>
                    <a:lnB>
                      <a:solidFill>
                        <a:srgbClr val="D5DEE0"/>
                      </a:solidFill>
                    </a:lnB>
                    <a:solidFill>
                      <a:schemeClr val="accent1"/>
                    </a:solidFill>
                  </a:tcPr>
                </a:tc>
                <a:tc>
                  <a:txBody>
                    <a:bodyPr/>
                    <a:lstStyle/>
                    <a:p>
                      <a:pPr algn="ctr">
                        <a:defRPr b="1" sz="1300">
                          <a:solidFill>
                            <a:srgbClr val="FFFFFF"/>
                          </a:solidFill>
                        </a:defRPr>
                      </a:pPr>
                      <a:r>
                        <a:t>R² test</a:t>
                      </a:r>
                    </a:p>
                    <a:p>
                      <a:pPr algn="ctr">
                        <a:defRPr b="1" sz="1300">
                          <a:solidFill>
                            <a:srgbClr val="FFFFFF"/>
                          </a:solidFill>
                        </a:defRPr>
                      </a:pPr>
                      <a:r>
                        <a:t>(un découpage)</a:t>
                      </a:r>
                    </a:p>
                  </a:txBody>
                  <a:tcPr marL="45720" marR="45720" marT="45720" marB="45720" anchor="ctr" anchorCtr="0" horzOverflow="overflow">
                    <a:lnL>
                      <a:solidFill>
                        <a:srgbClr val="D5DEE0"/>
                      </a:solidFill>
                    </a:lnL>
                    <a:lnR>
                      <a:solidFill>
                        <a:srgbClr val="D5DEE0"/>
                      </a:solidFill>
                    </a:lnR>
                    <a:lnT>
                      <a:solidFill>
                        <a:srgbClr val="D5DEE0"/>
                      </a:solidFill>
                    </a:lnT>
                    <a:lnB>
                      <a:solidFill>
                        <a:srgbClr val="D5DEE0"/>
                      </a:solidFill>
                    </a:lnB>
                    <a:solidFill>
                      <a:schemeClr val="accent1"/>
                    </a:solidFill>
                  </a:tcPr>
                </a:tc>
                <a:tc>
                  <a:txBody>
                    <a:bodyPr/>
                    <a:lstStyle/>
                    <a:p>
                      <a:pPr algn="ctr">
                        <a:defRPr b="1" sz="1300">
                          <a:solidFill>
                            <a:srgbClr val="FFFFFF"/>
                          </a:solidFill>
                        </a:defRPr>
                      </a:pPr>
                      <a:r>
                        <a:t>Erreur absolue</a:t>
                      </a:r>
                    </a:p>
                    <a:p>
                      <a:pPr algn="ctr">
                        <a:defRPr b="1" sz="1300">
                          <a:solidFill>
                            <a:srgbClr val="FFFFFF"/>
                          </a:solidFill>
                        </a:defRPr>
                      </a:pPr>
                      <a:r>
                        <a:t>(log10)</a:t>
                      </a:r>
                    </a:p>
                  </a:txBody>
                  <a:tcPr marL="45720" marR="45720" marT="45720" marB="45720" anchor="ctr" anchorCtr="0" horzOverflow="overflow">
                    <a:lnL>
                      <a:solidFill>
                        <a:srgbClr val="D5DEE0"/>
                      </a:solidFill>
                    </a:lnL>
                    <a:lnR>
                      <a:solidFill>
                        <a:srgbClr val="D5DEE0"/>
                      </a:solidFill>
                    </a:lnR>
                    <a:lnT>
                      <a:solidFill>
                        <a:srgbClr val="D5DEE0"/>
                      </a:solidFill>
                    </a:lnT>
                    <a:lnB>
                      <a:solidFill>
                        <a:srgbClr val="D5DEE0"/>
                      </a:solidFill>
                    </a:lnB>
                    <a:solidFill>
                      <a:schemeClr val="accent1"/>
                    </a:solidFill>
                  </a:tcPr>
                </a:tc>
                <a:tc>
                  <a:txBody>
                    <a:bodyPr/>
                    <a:lstStyle/>
                    <a:p>
                      <a:pPr algn="ctr">
                        <a:defRPr sz="1800">
                          <a:solidFill>
                            <a:srgbClr val="000000"/>
                          </a:solidFill>
                        </a:defRPr>
                      </a:pPr>
                      <a:r>
                        <a:rPr b="1" sz="1300">
                          <a:solidFill>
                            <a:srgbClr val="FFFFFF"/>
                          </a:solidFill>
                        </a:rPr>
                        <a:t>R² validation croisée</a:t>
                      </a:r>
                    </a:p>
                  </a:txBody>
                  <a:tcPr marL="45720" marR="45720" marT="45720" marB="45720" anchor="ctr" anchorCtr="0" horzOverflow="overflow">
                    <a:lnL>
                      <a:solidFill>
                        <a:srgbClr val="D5DEE0"/>
                      </a:solidFill>
                    </a:lnL>
                    <a:lnR>
                      <a:solidFill>
                        <a:srgbClr val="D5DEE0"/>
                      </a:solidFill>
                    </a:lnR>
                    <a:lnT>
                      <a:solidFill>
                        <a:srgbClr val="D5DEE0"/>
                      </a:solidFill>
                    </a:lnT>
                    <a:lnB>
                      <a:solidFill>
                        <a:srgbClr val="D5DEE0"/>
                      </a:solidFill>
                    </a:lnB>
                    <a:solidFill>
                      <a:schemeClr val="accent1"/>
                    </a:solidFill>
                  </a:tcPr>
                </a:tc>
                <a:tc>
                  <a:txBody>
                    <a:bodyPr/>
                    <a:lstStyle/>
                    <a:p>
                      <a:pPr algn="ctr">
                        <a:defRPr b="1" sz="1300">
                          <a:solidFill>
                            <a:srgbClr val="FFFFFF"/>
                          </a:solidFill>
                        </a:defRPr>
                      </a:pPr>
                      <a:r>
                        <a:t>Écart moyen</a:t>
                      </a:r>
                    </a:p>
                    <a:p>
                      <a:pPr algn="ctr">
                        <a:defRPr b="1" sz="1300">
                          <a:solidFill>
                            <a:srgbClr val="FFFFFF"/>
                          </a:solidFill>
                        </a:defRPr>
                      </a:pPr>
                      <a:r>
                        <a:t>± écart-type</a:t>
                      </a:r>
                    </a:p>
                  </a:txBody>
                  <a:tcPr marL="45720" marR="45720" marT="45720" marB="45720" anchor="ctr" anchorCtr="0" horzOverflow="overflow">
                    <a:lnL>
                      <a:solidFill>
                        <a:srgbClr val="D5DEE0"/>
                      </a:solidFill>
                    </a:lnL>
                    <a:lnR>
                      <a:solidFill>
                        <a:srgbClr val="D5DEE0"/>
                      </a:solidFill>
                    </a:lnR>
                    <a:lnT>
                      <a:solidFill>
                        <a:srgbClr val="D5DEE0"/>
                      </a:solidFill>
                    </a:lnT>
                    <a:lnB>
                      <a:solidFill>
                        <a:srgbClr val="D5DEE0"/>
                      </a:solidFill>
                    </a:lnB>
                    <a:solidFill>
                      <a:schemeClr val="accent1"/>
                    </a:solidFill>
                  </a:tcPr>
                </a:tc>
              </a:tr>
              <a:tr h="548640">
                <a:tc>
                  <a:txBody>
                    <a:bodyPr/>
                    <a:lstStyle/>
                    <a:p>
                      <a:pPr algn="l">
                        <a:defRPr sz="1800">
                          <a:solidFill>
                            <a:srgbClr val="000000"/>
                          </a:solidFill>
                        </a:defRPr>
                      </a:pPr>
                      <a:r>
                        <a:rPr sz="1400">
                          <a:solidFill>
                            <a:srgbClr val="14262B"/>
                          </a:solidFill>
                        </a:rPr>
                        <a:t>Consommation</a:t>
                      </a:r>
                    </a:p>
                  </a:txBody>
                  <a:tcPr marL="45720" marR="45720" marT="45720" marB="45720" anchor="ctr" anchorCtr="0" horzOverflow="overflow">
                    <a:lnL>
                      <a:solidFill>
                        <a:srgbClr val="D5DEE0"/>
                      </a:solidFill>
                    </a:lnL>
                    <a:lnR>
                      <a:solidFill>
                        <a:srgbClr val="D5DEE0"/>
                      </a:solidFill>
                    </a:lnR>
                    <a:lnT>
                      <a:solidFill>
                        <a:srgbClr val="D5DEE0"/>
                      </a:solidFill>
                    </a:lnT>
                    <a:lnB>
                      <a:solidFill>
                        <a:srgbClr val="D5DEE0"/>
                      </a:solidFill>
                    </a:lnB>
                    <a:noFill/>
                  </a:tcPr>
                </a:tc>
                <a:tc>
                  <a:txBody>
                    <a:bodyPr/>
                    <a:lstStyle/>
                    <a:p>
                      <a:pPr algn="ctr">
                        <a:defRPr sz="1800">
                          <a:solidFill>
                            <a:srgbClr val="000000"/>
                          </a:solidFill>
                        </a:defRPr>
                      </a:pPr>
                      <a:r>
                        <a:rPr sz="1400">
                          <a:solidFill>
                            <a:srgbClr val="14262B"/>
                          </a:solidFill>
                        </a:rPr>
                        <a:t>0,683 → 0,690</a:t>
                      </a:r>
                    </a:p>
                  </a:txBody>
                  <a:tcPr marL="45720" marR="45720" marT="45720" marB="45720" anchor="ctr" anchorCtr="0" horzOverflow="overflow">
                    <a:lnL>
                      <a:solidFill>
                        <a:srgbClr val="D5DEE0"/>
                      </a:solidFill>
                    </a:lnL>
                    <a:lnR>
                      <a:solidFill>
                        <a:srgbClr val="D5DEE0"/>
                      </a:solidFill>
                    </a:lnR>
                    <a:lnT>
                      <a:solidFill>
                        <a:srgbClr val="D5DEE0"/>
                      </a:solidFill>
                    </a:lnT>
                    <a:lnB>
                      <a:solidFill>
                        <a:srgbClr val="D5DEE0"/>
                      </a:solidFill>
                    </a:lnB>
                    <a:noFill/>
                  </a:tcPr>
                </a:tc>
                <a:tc>
                  <a:txBody>
                    <a:bodyPr/>
                    <a:lstStyle/>
                    <a:p>
                      <a:pPr algn="ctr">
                        <a:defRPr sz="1800">
                          <a:solidFill>
                            <a:srgbClr val="000000"/>
                          </a:solidFill>
                        </a:defRPr>
                      </a:pPr>
                      <a:r>
                        <a:rPr sz="1400">
                          <a:solidFill>
                            <a:srgbClr val="14262B"/>
                          </a:solidFill>
                        </a:rPr>
                        <a:t>0,226 → 0,224</a:t>
                      </a:r>
                    </a:p>
                  </a:txBody>
                  <a:tcPr marL="45720" marR="45720" marT="45720" marB="45720" anchor="ctr" anchorCtr="0" horzOverflow="overflow">
                    <a:lnL>
                      <a:solidFill>
                        <a:srgbClr val="D5DEE0"/>
                      </a:solidFill>
                    </a:lnL>
                    <a:lnR>
                      <a:solidFill>
                        <a:srgbClr val="D5DEE0"/>
                      </a:solidFill>
                    </a:lnR>
                    <a:lnT>
                      <a:solidFill>
                        <a:srgbClr val="D5DEE0"/>
                      </a:solidFill>
                    </a:lnT>
                    <a:lnB>
                      <a:solidFill>
                        <a:srgbClr val="D5DEE0"/>
                      </a:solidFill>
                    </a:lnB>
                    <a:noFill/>
                  </a:tcPr>
                </a:tc>
                <a:tc>
                  <a:txBody>
                    <a:bodyPr/>
                    <a:lstStyle/>
                    <a:p>
                      <a:pPr algn="ctr">
                        <a:defRPr sz="1800">
                          <a:solidFill>
                            <a:srgbClr val="000000"/>
                          </a:solidFill>
                        </a:defRPr>
                      </a:pPr>
                      <a:r>
                        <a:rPr sz="1400">
                          <a:solidFill>
                            <a:srgbClr val="14262B"/>
                          </a:solidFill>
                        </a:rPr>
                        <a:t>0,668 → 0,667</a:t>
                      </a:r>
                    </a:p>
                  </a:txBody>
                  <a:tcPr marL="45720" marR="45720" marT="45720" marB="45720" anchor="ctr" anchorCtr="0" horzOverflow="overflow">
                    <a:lnL>
                      <a:solidFill>
                        <a:srgbClr val="D5DEE0"/>
                      </a:solidFill>
                    </a:lnL>
                    <a:lnR>
                      <a:solidFill>
                        <a:srgbClr val="D5DEE0"/>
                      </a:solidFill>
                    </a:lnR>
                    <a:lnT>
                      <a:solidFill>
                        <a:srgbClr val="D5DEE0"/>
                      </a:solidFill>
                    </a:lnT>
                    <a:lnB>
                      <a:solidFill>
                        <a:srgbClr val="D5DEE0"/>
                      </a:solidFill>
                    </a:lnB>
                    <a:noFill/>
                  </a:tcPr>
                </a:tc>
                <a:tc>
                  <a:txBody>
                    <a:bodyPr/>
                    <a:lstStyle/>
                    <a:p>
                      <a:pPr algn="ctr">
                        <a:defRPr sz="1800">
                          <a:solidFill>
                            <a:srgbClr val="000000"/>
                          </a:solidFill>
                        </a:defRPr>
                      </a:pPr>
                      <a:r>
                        <a:rPr sz="1400">
                          <a:solidFill>
                            <a:srgbClr val="14262B"/>
                          </a:solidFill>
                        </a:rPr>
                        <a:t>−0,002 ± 0,007</a:t>
                      </a:r>
                    </a:p>
                  </a:txBody>
                  <a:tcPr marL="45720" marR="45720" marT="45720" marB="45720" anchor="ctr" anchorCtr="0" horzOverflow="overflow">
                    <a:lnL>
                      <a:solidFill>
                        <a:srgbClr val="D5DEE0"/>
                      </a:solidFill>
                    </a:lnL>
                    <a:lnR>
                      <a:solidFill>
                        <a:srgbClr val="D5DEE0"/>
                      </a:solidFill>
                    </a:lnR>
                    <a:lnT>
                      <a:solidFill>
                        <a:srgbClr val="D5DEE0"/>
                      </a:solidFill>
                    </a:lnT>
                    <a:lnB>
                      <a:solidFill>
                        <a:srgbClr val="D5DEE0"/>
                      </a:solidFill>
                    </a:lnB>
                    <a:noFill/>
                  </a:tcPr>
                </a:tc>
              </a:tr>
              <a:tr h="548640">
                <a:tc>
                  <a:txBody>
                    <a:bodyPr/>
                    <a:lstStyle/>
                    <a:p>
                      <a:pPr algn="l">
                        <a:defRPr sz="1800">
                          <a:solidFill>
                            <a:srgbClr val="000000"/>
                          </a:solidFill>
                        </a:defRPr>
                      </a:pPr>
                      <a:r>
                        <a:rPr sz="1400">
                          <a:solidFill>
                            <a:srgbClr val="14262B"/>
                          </a:solidFill>
                        </a:rPr>
                        <a:t>Émissions de CO₂</a:t>
                      </a:r>
                    </a:p>
                  </a:txBody>
                  <a:tcPr marL="45720" marR="45720" marT="45720" marB="45720" anchor="ctr" anchorCtr="0" horzOverflow="overflow">
                    <a:lnL>
                      <a:solidFill>
                        <a:srgbClr val="D5DEE0"/>
                      </a:solidFill>
                    </a:lnL>
                    <a:lnR>
                      <a:solidFill>
                        <a:srgbClr val="D5DEE0"/>
                      </a:solidFill>
                    </a:lnR>
                    <a:lnT>
                      <a:solidFill>
                        <a:srgbClr val="D5DEE0"/>
                      </a:solidFill>
                    </a:lnT>
                    <a:lnB>
                      <a:solidFill>
                        <a:srgbClr val="D5DEE0"/>
                      </a:solidFill>
                    </a:lnB>
                    <a:noFill/>
                  </a:tcPr>
                </a:tc>
                <a:tc>
                  <a:txBody>
                    <a:bodyPr/>
                    <a:lstStyle/>
                    <a:p>
                      <a:pPr algn="ctr">
                        <a:defRPr sz="1800">
                          <a:solidFill>
                            <a:srgbClr val="000000"/>
                          </a:solidFill>
                        </a:defRPr>
                      </a:pPr>
                      <a:r>
                        <a:rPr sz="1400">
                          <a:solidFill>
                            <a:srgbClr val="14262B"/>
                          </a:solidFill>
                        </a:rPr>
                        <a:t>0,485 → 0,500</a:t>
                      </a:r>
                    </a:p>
                  </a:txBody>
                  <a:tcPr marL="45720" marR="45720" marT="45720" marB="45720" anchor="ctr" anchorCtr="0" horzOverflow="overflow">
                    <a:lnL>
                      <a:solidFill>
                        <a:srgbClr val="D5DEE0"/>
                      </a:solidFill>
                    </a:lnL>
                    <a:lnR>
                      <a:solidFill>
                        <a:srgbClr val="D5DEE0"/>
                      </a:solidFill>
                    </a:lnR>
                    <a:lnT>
                      <a:solidFill>
                        <a:srgbClr val="D5DEE0"/>
                      </a:solidFill>
                    </a:lnT>
                    <a:lnB>
                      <a:solidFill>
                        <a:srgbClr val="D5DEE0"/>
                      </a:solidFill>
                    </a:lnB>
                    <a:noFill/>
                  </a:tcPr>
                </a:tc>
                <a:tc>
                  <a:txBody>
                    <a:bodyPr/>
                    <a:lstStyle/>
                    <a:p>
                      <a:pPr algn="ctr">
                        <a:defRPr sz="1800">
                          <a:solidFill>
                            <a:srgbClr val="000000"/>
                          </a:solidFill>
                        </a:defRPr>
                      </a:pPr>
                      <a:r>
                        <a:rPr sz="1400">
                          <a:solidFill>
                            <a:srgbClr val="14262B"/>
                          </a:solidFill>
                        </a:rPr>
                        <a:t>0,345 → 0,346</a:t>
                      </a:r>
                    </a:p>
                  </a:txBody>
                  <a:tcPr marL="45720" marR="45720" marT="45720" marB="45720" anchor="ctr" anchorCtr="0" horzOverflow="overflow">
                    <a:lnL>
                      <a:solidFill>
                        <a:srgbClr val="D5DEE0"/>
                      </a:solidFill>
                    </a:lnL>
                    <a:lnR>
                      <a:solidFill>
                        <a:srgbClr val="D5DEE0"/>
                      </a:solidFill>
                    </a:lnR>
                    <a:lnT>
                      <a:solidFill>
                        <a:srgbClr val="D5DEE0"/>
                      </a:solidFill>
                    </a:lnT>
                    <a:lnB>
                      <a:solidFill>
                        <a:srgbClr val="D5DEE0"/>
                      </a:solidFill>
                    </a:lnB>
                    <a:noFill/>
                  </a:tcPr>
                </a:tc>
                <a:tc>
                  <a:txBody>
                    <a:bodyPr/>
                    <a:lstStyle/>
                    <a:p>
                      <a:pPr algn="ctr">
                        <a:defRPr sz="1800">
                          <a:solidFill>
                            <a:srgbClr val="000000"/>
                          </a:solidFill>
                        </a:defRPr>
                      </a:pPr>
                      <a:r>
                        <a:rPr sz="1400">
                          <a:solidFill>
                            <a:srgbClr val="14262B"/>
                          </a:solidFill>
                        </a:rPr>
                        <a:t>0,470 → 0,481</a:t>
                      </a:r>
                    </a:p>
                  </a:txBody>
                  <a:tcPr marL="45720" marR="45720" marT="45720" marB="45720" anchor="ctr" anchorCtr="0" horzOverflow="overflow">
                    <a:lnL>
                      <a:solidFill>
                        <a:srgbClr val="D5DEE0"/>
                      </a:solidFill>
                    </a:lnL>
                    <a:lnR>
                      <a:solidFill>
                        <a:srgbClr val="D5DEE0"/>
                      </a:solidFill>
                    </a:lnR>
                    <a:lnT>
                      <a:solidFill>
                        <a:srgbClr val="D5DEE0"/>
                      </a:solidFill>
                    </a:lnT>
                    <a:lnB>
                      <a:solidFill>
                        <a:srgbClr val="D5DEE0"/>
                      </a:solidFill>
                    </a:lnB>
                    <a:noFill/>
                  </a:tcPr>
                </a:tc>
                <a:tc>
                  <a:txBody>
                    <a:bodyPr/>
                    <a:lstStyle/>
                    <a:p>
                      <a:pPr algn="ctr">
                        <a:defRPr sz="1800">
                          <a:solidFill>
                            <a:srgbClr val="000000"/>
                          </a:solidFill>
                        </a:defRPr>
                      </a:pPr>
                      <a:r>
                        <a:rPr sz="1400">
                          <a:solidFill>
                            <a:srgbClr val="14262B"/>
                          </a:solidFill>
                        </a:rPr>
                        <a:t>+0,011 ± 0,012</a:t>
                      </a:r>
                    </a:p>
                  </a:txBody>
                  <a:tcPr marL="45720" marR="45720" marT="45720" marB="45720" anchor="ctr" anchorCtr="0" horzOverflow="overflow">
                    <a:lnL>
                      <a:solidFill>
                        <a:srgbClr val="D5DEE0"/>
                      </a:solidFill>
                    </a:lnL>
                    <a:lnR>
                      <a:solidFill>
                        <a:srgbClr val="D5DEE0"/>
                      </a:solidFill>
                    </a:lnR>
                    <a:lnT>
                      <a:solidFill>
                        <a:srgbClr val="D5DEE0"/>
                      </a:solidFill>
                    </a:lnT>
                    <a:lnB>
                      <a:solidFill>
                        <a:srgbClr val="D5DEE0"/>
                      </a:solidFill>
                    </a:lnB>
                    <a:noFill/>
                  </a:tcPr>
                </a:tc>
              </a:tr>
            </a:tbl>
          </a:graphicData>
        </a:graphic>
      </p:graphicFrame>
      <p:sp>
        <p:nvSpPr>
          <p:cNvPr id="369" name="Text 1"/>
          <p:cNvSpPr txBox="1"/>
          <p:nvPr/>
        </p:nvSpPr>
        <p:spPr>
          <a:xfrm>
            <a:off x="548640" y="3566159"/>
            <a:ext cx="11091672" cy="8469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a:spcBef>
                <a:spcPts val="800"/>
              </a:spcBef>
              <a:buSzPct val="100000"/>
              <a:buChar char="•"/>
              <a:defRPr sz="1500"/>
            </a:pPr>
            <a:r>
              <a:t>Forêt aléatoire par défaut, même graine, mêmes plis : seule la présence des deux colonnes change (sans → avec).</a:t>
            </a:r>
          </a:p>
          <a:p>
            <a:pPr marL="342900" indent="-342900">
              <a:spcBef>
                <a:spcPts val="800"/>
              </a:spcBef>
              <a:buSzPct val="100000"/>
              <a:buChar char="•"/>
              <a:defRPr sz="1500"/>
            </a:pPr>
            <a:r>
              <a:t>Consommation : aucun effet. CO₂ : environ +0,01 de R², mais l'erreur absolue ne baisse pas, donc pas de gain utile.</a:t>
            </a:r>
          </a:p>
          <a:p>
            <a:pPr marL="342900" indent="-342900">
              <a:spcBef>
                <a:spcPts val="800"/>
              </a:spcBef>
              <a:buSzPct val="100000"/>
              <a:buChar char="•"/>
              <a:defRPr sz="1500"/>
            </a:pPr>
            <a:r>
              <a:t>Limite : un effet de quartier plus fin (zones, voisinage) n'est pas exclu, il n'a pas été testé.</a:t>
            </a:r>
          </a:p>
        </p:txBody>
      </p:sp>
      <p:grpSp>
        <p:nvGrpSpPr>
          <p:cNvPr id="372" name="Message clé"/>
          <p:cNvGrpSpPr/>
          <p:nvPr/>
        </p:nvGrpSpPr>
        <p:grpSpPr>
          <a:xfrm>
            <a:off x="548640" y="5486400"/>
            <a:ext cx="11091672" cy="594360"/>
            <a:chOff x="0" y="0"/>
            <a:chExt cx="11091671" cy="594359"/>
          </a:xfrm>
        </p:grpSpPr>
        <p:sp>
          <p:nvSpPr>
            <p:cNvPr id="370" name="Rectangle"/>
            <p:cNvSpPr/>
            <p:nvPr/>
          </p:nvSpPr>
          <p:spPr>
            <a:xfrm>
              <a:off x="0" y="0"/>
              <a:ext cx="11091672" cy="594360"/>
            </a:xfrm>
            <a:prstGeom prst="rect">
              <a:avLst/>
            </a:prstGeom>
            <a:solidFill>
              <a:schemeClr val="accent1"/>
            </a:solidFill>
            <a:ln w="12700" cap="flat">
              <a:noFill/>
              <a:miter lim="400000"/>
            </a:ln>
            <a:effectLst/>
          </p:spPr>
          <p:txBody>
            <a:bodyPr wrap="square" lIns="45719" tIns="45719" rIns="45719" bIns="45719" numCol="1" anchor="ctr">
              <a:noAutofit/>
            </a:bodyPr>
            <a:lstStyle/>
            <a:p>
              <a:pPr>
                <a:defRPr sz="1600"/>
              </a:pPr>
            </a:p>
          </p:txBody>
        </p:sp>
        <p:sp>
          <p:nvSpPr>
            <p:cNvPr id="371" name="La localisation n'est pas retenue : le modèle reste sur la taille, l'usage et l'âge"/>
            <p:cNvSpPr txBox="1"/>
            <p:nvPr/>
          </p:nvSpPr>
          <p:spPr>
            <a:xfrm>
              <a:off x="0" y="40203"/>
              <a:ext cx="11091672" cy="5139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52400" tIns="152400" rIns="152400" bIns="152400" numCol="1" anchor="ctr">
              <a:spAutoFit/>
            </a:bodyPr>
            <a:lstStyle>
              <a:lvl1pPr>
                <a:defRPr b="1" sz="1600">
                  <a:solidFill>
                    <a:srgbClr val="FFFFFF"/>
                  </a:solidFill>
                </a:defRPr>
              </a:lvl1pPr>
            </a:lstStyle>
            <a:p>
              <a:pPr/>
              <a:r>
                <a:t>La localisation n'est pas retenue : le modèle reste sur la taille, l'usage et l'âge</a:t>
              </a:r>
            </a:p>
          </p:txBody>
        </p:sp>
      </p:grpSp>
      <p:sp>
        <p:nvSpPr>
          <p:cNvPr id="373" name="Slide Number Placeholder 0"/>
          <p:cNvSpPr txBox="1"/>
          <p:nvPr>
            <p:ph type="sldNum" sz="quarter" idx="4294967295"/>
          </p:nvPr>
        </p:nvSpPr>
        <p:spPr>
          <a:xfrm>
            <a:off x="11380003" y="6446520"/>
            <a:ext cx="232878"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Seattle Energie">
  <a:themeElements>
    <a:clrScheme name="Seattle Energie">
      <a:dk1>
        <a:srgbClr val="14262B"/>
      </a:dk1>
      <a:lt1>
        <a:srgbClr val="0F4C5C"/>
      </a:lt1>
      <a:dk2>
        <a:srgbClr val="A7A7A7"/>
      </a:dk2>
      <a:lt2>
        <a:srgbClr val="535353"/>
      </a:lt2>
      <a:accent1>
        <a:srgbClr val="0F4C5C"/>
      </a:accent1>
      <a:accent2>
        <a:srgbClr val="E8A33D"/>
      </a:accent2>
      <a:accent3>
        <a:srgbClr val="2E9E83"/>
      </a:accent3>
      <a:accent4>
        <a:srgbClr val="5B7C99"/>
      </a:accent4>
      <a:accent5>
        <a:srgbClr val="C8553D"/>
      </a:accent5>
      <a:accent6>
        <a:srgbClr val="9AB8C2"/>
      </a:accent6>
      <a:hlink>
        <a:srgbClr val="0000FF"/>
      </a:hlink>
      <a:folHlink>
        <a:srgbClr val="FF00FF"/>
      </a:folHlink>
    </a:clrScheme>
    <a:fontScheme name="Seattle Energie">
      <a:majorFont>
        <a:latin typeface="Calibri"/>
        <a:ea typeface="Calibri"/>
        <a:cs typeface="Calibri"/>
      </a:majorFont>
      <a:minorFont>
        <a:latin typeface="Helvetica"/>
        <a:ea typeface="Helvetica"/>
        <a:cs typeface="Helvetica"/>
      </a:minorFont>
    </a:fontScheme>
    <a:fmtScheme name="Seattle Energi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4262B"/>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4262B"/>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Seattle Energie">
  <a:themeElements>
    <a:clrScheme name="Seattle Energie">
      <a:dk1>
        <a:srgbClr val="14262B"/>
      </a:dk1>
      <a:lt1>
        <a:srgbClr val="2B1B17"/>
      </a:lt1>
      <a:dk2>
        <a:srgbClr val="A7A7A7"/>
      </a:dk2>
      <a:lt2>
        <a:srgbClr val="535353"/>
      </a:lt2>
      <a:accent1>
        <a:srgbClr val="0F4C5C"/>
      </a:accent1>
      <a:accent2>
        <a:srgbClr val="E8A33D"/>
      </a:accent2>
      <a:accent3>
        <a:srgbClr val="2E9E83"/>
      </a:accent3>
      <a:accent4>
        <a:srgbClr val="5B7C99"/>
      </a:accent4>
      <a:accent5>
        <a:srgbClr val="C8553D"/>
      </a:accent5>
      <a:accent6>
        <a:srgbClr val="9AB8C2"/>
      </a:accent6>
      <a:hlink>
        <a:srgbClr val="0000FF"/>
      </a:hlink>
      <a:folHlink>
        <a:srgbClr val="FF00FF"/>
      </a:folHlink>
    </a:clrScheme>
    <a:fontScheme name="Seattle Energie">
      <a:majorFont>
        <a:latin typeface="Calibri"/>
        <a:ea typeface="Calibri"/>
        <a:cs typeface="Calibri"/>
      </a:majorFont>
      <a:minorFont>
        <a:latin typeface="Helvetica"/>
        <a:ea typeface="Helvetica"/>
        <a:cs typeface="Helvetica"/>
      </a:minorFont>
    </a:fontScheme>
    <a:fmtScheme name="Seattle Energi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4262B"/>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4262B"/>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